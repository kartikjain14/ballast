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859500" cy="10287000"/>
  <p:notesSz cx="10287000" cy="18859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5" d="100"/>
          <a:sy n="55" d="100"/>
        </p:scale>
        <p:origin x="56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Total Cost ($M)</c:v>
                </c:pt>
              </c:strCache>
            </c:strRef>
          </c:tx>
          <c:spPr>
            <a:solidFill>
              <a:srgbClr val="6B7280"/>
            </a:solidFill>
            <a:effectLst/>
          </c:spPr>
          <c:invertIfNegative val="0"/>
          <c:dPt>
            <c:idx val="0"/>
            <c:invertIfNegative val="0"/>
            <c:bubble3D val="0"/>
            <c:extLst>
              <c:ext xmlns:c16="http://schemas.microsoft.com/office/drawing/2014/chart" uri="{C3380CC4-5D6E-409C-BE32-E72D297353CC}">
                <c16:uniqueId val="{00000001-7E1E-47C4-8919-D76D5D723521}"/>
              </c:ext>
            </c:extLst>
          </c:dPt>
          <c:dPt>
            <c:idx val="1"/>
            <c:invertIfNegative val="0"/>
            <c:bubble3D val="0"/>
            <c:extLst>
              <c:ext xmlns:c16="http://schemas.microsoft.com/office/drawing/2014/chart" uri="{C3380CC4-5D6E-409C-BE32-E72D297353CC}">
                <c16:uniqueId val="{00000003-7E1E-47C4-8919-D76D5D723521}"/>
              </c:ext>
            </c:extLst>
          </c:dPt>
          <c:dPt>
            <c:idx val="2"/>
            <c:invertIfNegative val="0"/>
            <c:bubble3D val="0"/>
            <c:extLst>
              <c:ext xmlns:c16="http://schemas.microsoft.com/office/drawing/2014/chart" uri="{C3380CC4-5D6E-409C-BE32-E72D297353CC}">
                <c16:uniqueId val="{00000005-7E1E-47C4-8919-D76D5D723521}"/>
              </c:ext>
            </c:extLst>
          </c:dPt>
          <c:dPt>
            <c:idx val="3"/>
            <c:invertIfNegative val="0"/>
            <c:bubble3D val="0"/>
            <c:extLst>
              <c:ext xmlns:c16="http://schemas.microsoft.com/office/drawing/2014/chart" uri="{C3380CC4-5D6E-409C-BE32-E72D297353CC}">
                <c16:uniqueId val="{00000007-7E1E-47C4-8919-D76D5D723521}"/>
              </c:ext>
            </c:extLst>
          </c:dPt>
          <c:dPt>
            <c:idx val="4"/>
            <c:invertIfNegative val="0"/>
            <c:bubble3D val="0"/>
            <c:extLst>
              <c:ext xmlns:c16="http://schemas.microsoft.com/office/drawing/2014/chart" uri="{C3380CC4-5D6E-409C-BE32-E72D297353CC}">
                <c16:uniqueId val="{00000009-7E1E-47C4-8919-D76D5D723521}"/>
              </c:ext>
            </c:extLst>
          </c:dPt>
          <c:dPt>
            <c:idx val="5"/>
            <c:invertIfNegative val="0"/>
            <c:bubble3D val="0"/>
            <c:spPr>
              <a:solidFill>
                <a:srgbClr val="C9A86A"/>
              </a:solidFill>
              <a:effectLst/>
            </c:spPr>
            <c:extLst>
              <c:ext xmlns:c16="http://schemas.microsoft.com/office/drawing/2014/chart" uri="{C3380CC4-5D6E-409C-BE32-E72D297353CC}">
                <c16:uniqueId val="{0000000B-7E1E-47C4-8919-D76D5D723521}"/>
              </c:ext>
            </c:extLst>
          </c:dPt>
          <c:dPt>
            <c:idx val="6"/>
            <c:invertIfNegative val="0"/>
            <c:bubble3D val="0"/>
            <c:spPr>
              <a:solidFill>
                <a:srgbClr val="8AA68D"/>
              </a:solidFill>
              <a:effectLst/>
            </c:spPr>
            <c:extLst>
              <c:ext xmlns:c16="http://schemas.microsoft.com/office/drawing/2014/chart" uri="{C3380CC4-5D6E-409C-BE32-E72D297353CC}">
                <c16:uniqueId val="{0000000D-7E1E-47C4-8919-D76D5D723521}"/>
              </c:ext>
            </c:extLst>
          </c:dPt>
          <c:dLbls>
            <c:numFmt formatCode="\$0.00&quot;M&quot;" sourceLinked="0"/>
            <c:spPr>
              <a:noFill/>
              <a:ln>
                <a:noFill/>
              </a:ln>
              <a:effectLst/>
            </c:spPr>
            <c:txPr>
              <a:bodyPr/>
              <a:lstStyle/>
              <a:p>
                <a:pPr>
                  <a:defRPr sz="11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All-Cash</c:v>
                </c:pt>
                <c:pt idx="1">
                  <c:v>Fixed 50%</c:v>
                </c:pt>
                <c:pt idx="2">
                  <c:v>Miller-Orr</c:v>
                </c:pt>
                <c:pt idx="3">
                  <c:v>Moving Avg</c:v>
                </c:pt>
                <c:pt idx="4">
                  <c:v>Static $40M</c:v>
                </c:pt>
                <c:pt idx="5">
                  <c:v>BALLAST</c:v>
                </c:pt>
                <c:pt idx="6">
                  <c:v>Oracle</c:v>
                </c:pt>
              </c:strCache>
            </c:strRef>
          </c:cat>
          <c:val>
            <c:numRef>
              <c:f>Sheet1!$B$2:$B$8</c:f>
              <c:numCache>
                <c:formatCode>General</c:formatCode>
                <c:ptCount val="7"/>
                <c:pt idx="0">
                  <c:v>41.33</c:v>
                </c:pt>
                <c:pt idx="1">
                  <c:v>24.37</c:v>
                </c:pt>
                <c:pt idx="2">
                  <c:v>25.53</c:v>
                </c:pt>
                <c:pt idx="3">
                  <c:v>21.08</c:v>
                </c:pt>
                <c:pt idx="4">
                  <c:v>20.38</c:v>
                </c:pt>
                <c:pt idx="5">
                  <c:v>20.350000000000001</c:v>
                </c:pt>
                <c:pt idx="6">
                  <c:v>19.75</c:v>
                </c:pt>
              </c:numCache>
            </c:numRef>
          </c:val>
          <c:extLst>
            <c:ext xmlns:c16="http://schemas.microsoft.com/office/drawing/2014/chart" uri="{C3380CC4-5D6E-409C-BE32-E72D297353CC}">
              <c16:uniqueId val="{0000000E-7E1E-47C4-8919-D76D5D72352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ECE9E4"/>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A303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A968D"/>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7779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judges. We are team globalhost, and we present Ballast — an autonomous, risk-calibrated treasury liquidity engine built for The Reserve Juggler challenge. Digital platforms process over $20 million per hour in gross deposits and withdrawals. Holding cash in checking accounts yields zero percent, while locking money into overnight repo accounts subjects the bank to severe early-redemption break penalties. Ballast solves this fundamental tension: maintaining 100% payout reliability while cutting liquidity costs by over 50%, proven across 8,760 hours of real transaction data. Our production platform is live at ballast.jkartik.in.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frames the delicate financial physics. When managing $20 million per hour, treasury cash management faces a steep asymmetry. Breaking Tier 1 overnight repo incurs a flat 50 basis point penalty. For a 15-hour overnight lockup, that is an annualized rate of 292%. If you hold too much cash, you bleed interest; if you hold too little, one early break destroys months of yield. Worse, our audit of the data revealed that overnight drain is not uniform: Friday and Saturday nights experience up to 5 times the worst-case drain of a Wednesday night. A static buffer either burns $14M in idle cash on weekdays or triggers weekend defaults. Ballast addresses this exact dynamic.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Slide 3, we detail our quantitative foundation. Conventional treasury systems look at average hourly flow or end-of-day balances. That is a dangerous mistake: if you drain $20M at 2 AM and receive $20M at 7 AM, your terminal balance is zero, but you broke the bank at 2 AM. We formulate the risk variable as Path-Max M — the maximum cumulative net outflow across the entire 15-hour freeze. Next, we solve the asymmetric newsvendor equation. Because breaking repo costs 50 bps while holding idle cash costs only 0.74 bps overnight, the critical fractile is 98.63%. Sizing to this fractile conditioned on weekday versus weekend regimes gives us a lean $15M buffer on weekdays and a reinforced $41M buffer on Friday and Saturday. Shortfalls cascade through a cost-ordered waterfall governed by a double-entry ledger.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addresses uncertainty and edge cases. First, how do we handle spikes? Ballast automatically identifies and classifies flow spikes into paydays, weekend retail spending, and month-end sweeps using calendar geometry — completely generalizing to any dataset. Second, when the model is wrong, the waterfall acts as a fail-safe shock absorber, ensuring 100% payout success. Third, our Stress Lab injects macro shocks to calculate survival horizons and runs reverse-stress search: pinpointing that an SVB-style run breaks the book at a 7.7% single-day deposit flight. Finally, we uncovered that 66 overdraft nights were completely unavoidable even with perfect foresight because the bank was capital-constrained. We built a 3-way Regret Decomposition to separate forecasting error from capital adequacy.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Slide 5, you see the actual running system deployed at ballast.jkartik.in. We designed this for executive presentation and rigorous model validation. When a treasurer uploads a year of transactions, they aren't stuck behind a frozen loading screen. The raw deposits and withdrawals render client-side in under 100 milliseconds. As the simulation runs, each analytical section unlocks progressively. At the top, Gemini Flash streams an executive briefing using a sand-forming text effect, quoting exact verified numbers. Every chart features crosshair tooltips for inspecting individual hours, and a detailed audit table provides complete ledger transparency.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presents our benchmark scoreboard. Compared to all-cash, Ballast cuts liquidity cost by 50.8%, saving nearly $21 million. Compared to Miller-Orr, Ballast saves over $5.1 million because Miller-Orr triggered 509 costly early tier breaks. Crucially, we did not compare against an arbitrary strawman: we performed an exhaustive grid search to find the single best hindsight static buffer, which was $40M. Ballast outperforms even this hindsight optimum by $28,447, while generating $285k more in net interest. On the right, our Cost-of-Confidence curve prices the marginal cost of protection: going from 98.6% to 99.99% costs an additional $252k per year in buffer drag.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Slide 7, we address engineering trade-offs and scale. A critical sign of technical maturity is knowing what NOT to build. First, corporate finance textbooks recommend investing core liquidity in short-term bonds. We built the bond sleeve and tested it empirically: every incremental dollar allocated to bonds destroyed value, losing $766k at a 50% cap due to yield volatility and liquidation haircuts. We made the disciplined decision to disable bonds by default. Second, we rejected complex multi-period MPC solvers in favor of a vectorized closed-form newsvendor model. This reduced decision latency from 40 seconds to 0.6 milliseconds and made the model transparent for bank validators. Finally, our simulator runs an entire year of 8,760 hours in 5.72 seconds with guaranteed double-entry ledger reconciliation at every single hour.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provides an honest accounting of limitations and our production roadmap. Regulators and risk officers penalize overclaiming. First, on 1 year of data, observations above the 99th percentile are sparse; true 99.99% tail sizing requires Extreme Value Theory. Second, a sweep policy cannot cure balance-sheet contraction: if customers withdraw $2.5B permanently, that is a capital problem, not a liquidity problem. If we had another week, we would implement Peaks-Over-Threshold Pareto tail modeling and multi-window intraday sweeps. For production, we mapped out a 3-phase roadmap compliant with Federal Reserve SR 11-7 model risk guidance: shadow mode on ISO 20022 feeds, a dual-control four-eyes approval workflow for sweeps over $2M, and a tamper-evident cryptographic audit ledger.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Ballast is not a mockup or a theoretical paper. It is a running, battle-tested, deployed treasury engine that saves over $20 million on a $2 billion book, guarantees 100% payout reliability, and gives treasurers transparent control over liquidity risk. Please scan the QR code on screen right now or visit ballast.jkartik.in to test the live portal with your own datasets. Thank you, and we welcome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karti\AppData\Local\Temp\claude\c--Users-karti-repos-ballast\3a11dfef-fe11-4e04-8ecd-63ec54f071eb\scratchpad\deck\assets\bg_content.png"/>
          <p:cNvPicPr>
            <a:picLocks noChangeAspect="1"/>
          </p:cNvPicPr>
          <p:nvPr/>
        </p:nvPicPr>
        <p:blipFill>
          <a:blip r:embed="rId3"/>
          <a:stretch>
            <a:fillRect/>
          </a:stretch>
        </p:blipFill>
        <p:spPr>
          <a:xfrm>
            <a:off x="0" y="0"/>
            <a:ext cx="18859500" cy="10287000"/>
          </a:xfrm>
          <a:prstGeom prst="rect">
            <a:avLst/>
          </a:prstGeom>
        </p:spPr>
      </p:pic>
      <p:pic>
        <p:nvPicPr>
          <p:cNvPr id="3" name="Image 1" descr="C:\Users\karti\AppData\Local\Temp\claude\c--Users-karti-repos-ballast\3a11dfef-fe11-4e04-8ecd-63ec54f071eb\scratchpad\deck\assets\image3.png"/>
          <p:cNvPicPr>
            <a:picLocks noChangeAspect="1"/>
          </p:cNvPicPr>
          <p:nvPr/>
        </p:nvPicPr>
        <p:blipFill>
          <a:blip r:embed="rId4"/>
          <a:stretch>
            <a:fillRect/>
          </a:stretch>
        </p:blipFill>
        <p:spPr>
          <a:xfrm>
            <a:off x="13533120" y="529244"/>
            <a:ext cx="1097280" cy="594360"/>
          </a:xfrm>
          <a:prstGeom prst="rect">
            <a:avLst/>
          </a:prstGeom>
        </p:spPr>
      </p:pic>
      <p:pic>
        <p:nvPicPr>
          <p:cNvPr id="4" name="Image 2" descr="C:\Users\karti\AppData\Local\Temp\claude\c--Users-karti-repos-ballast\3a11dfef-fe11-4e04-8ecd-63ec54f071eb\scratchpad\deck\assets\image4.png"/>
          <p:cNvPicPr>
            <a:picLocks noChangeAspect="1"/>
          </p:cNvPicPr>
          <p:nvPr/>
        </p:nvPicPr>
        <p:blipFill>
          <a:blip r:embed="rId5"/>
          <a:stretch>
            <a:fillRect/>
          </a:stretch>
        </p:blipFill>
        <p:spPr>
          <a:xfrm>
            <a:off x="14904720" y="561802"/>
            <a:ext cx="1645920" cy="502920"/>
          </a:xfrm>
          <a:prstGeom prst="rect">
            <a:avLst/>
          </a:prstGeom>
        </p:spPr>
      </p:pic>
      <p:pic>
        <p:nvPicPr>
          <p:cNvPr id="5" name="Image 3" descr="C:\Users\karti\AppData\Local\Temp\claude\c--Users-karti-repos-ballast\3a11dfef-fe11-4e04-8ecd-63ec54f071eb\scratchpad\deck\assets\image5.png"/>
          <p:cNvPicPr>
            <a:picLocks noChangeAspect="1"/>
          </p:cNvPicPr>
          <p:nvPr/>
        </p:nvPicPr>
        <p:blipFill>
          <a:blip r:embed="rId6"/>
          <a:stretch>
            <a:fillRect/>
          </a:stretch>
        </p:blipFill>
        <p:spPr>
          <a:xfrm>
            <a:off x="16824960" y="525780"/>
            <a:ext cx="731520" cy="640080"/>
          </a:xfrm>
          <a:prstGeom prst="rect">
            <a:avLst/>
          </a:prstGeom>
        </p:spPr>
      </p:pic>
      <p:sp>
        <p:nvSpPr>
          <p:cNvPr id="6" name="Shape 0"/>
          <p:cNvSpPr/>
          <p:nvPr/>
        </p:nvSpPr>
        <p:spPr>
          <a:xfrm>
            <a:off x="1024128" y="1005840"/>
            <a:ext cx="4937760" cy="457200"/>
          </a:xfrm>
          <a:prstGeom prst="roundRect">
            <a:avLst>
              <a:gd name="adj" fmla="val 10000"/>
            </a:avLst>
          </a:prstGeom>
          <a:solidFill>
            <a:srgbClr val="14171F"/>
          </a:solidFill>
          <a:ln w="12700">
            <a:solidFill>
              <a:srgbClr val="8AA68D"/>
            </a:solidFill>
            <a:prstDash val="solid"/>
          </a:ln>
        </p:spPr>
      </p:sp>
      <p:sp>
        <p:nvSpPr>
          <p:cNvPr id="7" name="Text 1"/>
          <p:cNvSpPr txBox="1"/>
          <p:nvPr/>
        </p:nvSpPr>
        <p:spPr>
          <a:xfrm>
            <a:off x="1143000" y="1051560"/>
            <a:ext cx="4709160" cy="365760"/>
          </a:xfrm>
          <a:prstGeom prst="rect">
            <a:avLst/>
          </a:prstGeom>
          <a:noFill/>
          <a:ln/>
        </p:spPr>
        <p:txBody>
          <a:bodyPr wrap="square" lIns="0" tIns="0" rIns="0" bIns="0" rtlCol="0" anchor="ctr"/>
          <a:lstStyle/>
          <a:p>
            <a:pPr marL="0" indent="0">
              <a:buNone/>
            </a:pPr>
            <a:r>
              <a:rPr lang="en-US" sz="1500" b="1" kern="0" spc="200" dirty="0">
                <a:solidFill>
                  <a:srgbClr val="8AA68D"/>
                </a:solidFill>
                <a:latin typeface="Arial" pitchFamily="34" charset="0"/>
                <a:ea typeface="Arial" pitchFamily="34" charset="-122"/>
                <a:cs typeface="Arial" pitchFamily="34" charset="-120"/>
              </a:rPr>
              <a:t>HACKFORGE '26  •  ADVANCED TRACK</a:t>
            </a:r>
            <a:endParaRPr lang="en-US" sz="1500" dirty="0"/>
          </a:p>
        </p:txBody>
      </p:sp>
      <p:sp>
        <p:nvSpPr>
          <p:cNvPr id="8" name="Text 2"/>
          <p:cNvSpPr txBox="1"/>
          <p:nvPr/>
        </p:nvSpPr>
        <p:spPr>
          <a:xfrm>
            <a:off x="1024128" y="1691640"/>
            <a:ext cx="8412480" cy="1463040"/>
          </a:xfrm>
          <a:prstGeom prst="rect">
            <a:avLst/>
          </a:prstGeom>
          <a:noFill/>
          <a:ln/>
        </p:spPr>
        <p:txBody>
          <a:bodyPr wrap="square" lIns="0" tIns="0" rIns="0" bIns="0" rtlCol="0" anchor="ctr"/>
          <a:lstStyle/>
          <a:p>
            <a:pPr marL="0" indent="0">
              <a:buNone/>
            </a:pPr>
            <a:r>
              <a:rPr lang="en-US" sz="8200" b="1" dirty="0">
                <a:solidFill>
                  <a:srgbClr val="FFFFFF"/>
                </a:solidFill>
                <a:latin typeface="Arial" pitchFamily="34" charset="0"/>
                <a:ea typeface="Arial" pitchFamily="34" charset="-122"/>
                <a:cs typeface="Arial" pitchFamily="34" charset="-120"/>
              </a:rPr>
              <a:t>BALLAST</a:t>
            </a:r>
            <a:endParaRPr lang="en-US" sz="8200" dirty="0"/>
          </a:p>
        </p:txBody>
      </p:sp>
      <p:sp>
        <p:nvSpPr>
          <p:cNvPr id="9" name="Text 3"/>
          <p:cNvSpPr txBox="1"/>
          <p:nvPr/>
        </p:nvSpPr>
        <p:spPr>
          <a:xfrm>
            <a:off x="1024128" y="3246120"/>
            <a:ext cx="8412480" cy="594360"/>
          </a:xfrm>
          <a:prstGeom prst="rect">
            <a:avLst/>
          </a:prstGeom>
          <a:noFill/>
          <a:ln/>
        </p:spPr>
        <p:txBody>
          <a:bodyPr wrap="square" lIns="0" tIns="0" rIns="0" bIns="0" rtlCol="0" anchor="ctr"/>
          <a:lstStyle/>
          <a:p>
            <a:pPr marL="0" indent="0">
              <a:buNone/>
            </a:pPr>
            <a:r>
              <a:rPr lang="en-US" sz="2600" b="1" dirty="0">
                <a:solidFill>
                  <a:srgbClr val="C9A86A"/>
                </a:solidFill>
                <a:latin typeface="Arial" pitchFamily="34" charset="0"/>
                <a:ea typeface="Arial" pitchFamily="34" charset="-122"/>
                <a:cs typeface="Arial" pitchFamily="34" charset="-120"/>
              </a:rPr>
              <a:t>The Reserve Juggler: Autonomous Treasury Engine</a:t>
            </a:r>
            <a:endParaRPr lang="en-US" sz="2600" dirty="0"/>
          </a:p>
        </p:txBody>
      </p:sp>
      <p:sp>
        <p:nvSpPr>
          <p:cNvPr id="10" name="Text 4"/>
          <p:cNvSpPr txBox="1"/>
          <p:nvPr/>
        </p:nvSpPr>
        <p:spPr>
          <a:xfrm>
            <a:off x="1024128" y="3977640"/>
            <a:ext cx="8229600" cy="1097280"/>
          </a:xfrm>
          <a:prstGeom prst="rect">
            <a:avLst/>
          </a:prstGeom>
          <a:noFill/>
          <a:ln/>
        </p:spPr>
        <p:txBody>
          <a:bodyPr wrap="square" lIns="0" tIns="0" rIns="0" bIns="0" rtlCol="0" anchor="ctr"/>
          <a:lstStyle/>
          <a:p>
            <a:pPr marL="0" indent="0">
              <a:lnSpc>
                <a:spcPts val="2600"/>
              </a:lnSpc>
              <a:buNone/>
            </a:pPr>
            <a:r>
              <a:rPr lang="en-US" sz="1800" dirty="0">
                <a:solidFill>
                  <a:srgbClr val="ECE9E4"/>
                </a:solidFill>
                <a:latin typeface="Arial" pitchFamily="34" charset="0"/>
                <a:ea typeface="Arial" pitchFamily="34" charset="-122"/>
                <a:cs typeface="Arial" pitchFamily="34" charset="-120"/>
              </a:rPr>
              <a:t>An autonomous, risk-calibrated treasury autopilot that guarantees 100% of customer payouts without delay while eliminating millions in idle cash drag through dynamic day-of-week sweep optimization.</a:t>
            </a:r>
            <a:endParaRPr lang="en-US" sz="1800" dirty="0"/>
          </a:p>
        </p:txBody>
      </p:sp>
      <p:sp>
        <p:nvSpPr>
          <p:cNvPr id="11" name="Shape 5"/>
          <p:cNvSpPr/>
          <p:nvPr/>
        </p:nvSpPr>
        <p:spPr>
          <a:xfrm>
            <a:off x="1024128" y="5349240"/>
            <a:ext cx="4023360" cy="1188720"/>
          </a:xfrm>
          <a:prstGeom prst="roundRect">
            <a:avLst>
              <a:gd name="adj" fmla="val 6154"/>
            </a:avLst>
          </a:prstGeom>
          <a:solidFill>
            <a:srgbClr val="14171F"/>
          </a:solidFill>
          <a:ln w="12700">
            <a:solidFill>
              <a:srgbClr val="2A303C"/>
            </a:solidFill>
            <a:prstDash val="solid"/>
          </a:ln>
        </p:spPr>
      </p:sp>
      <p:sp>
        <p:nvSpPr>
          <p:cNvPr id="12" name="Text 6"/>
          <p:cNvSpPr txBox="1"/>
          <p:nvPr/>
        </p:nvSpPr>
        <p:spPr>
          <a:xfrm>
            <a:off x="1252728" y="5532120"/>
            <a:ext cx="3566160" cy="274320"/>
          </a:xfrm>
          <a:prstGeom prst="rect">
            <a:avLst/>
          </a:prstGeom>
          <a:noFill/>
          <a:ln/>
        </p:spPr>
        <p:txBody>
          <a:bodyPr wrap="square" lIns="0" tIns="0" rIns="0" bIns="0" rtlCol="0" anchor="ctr"/>
          <a:lstStyle/>
          <a:p>
            <a:pPr marL="0" indent="0">
              <a:buNone/>
            </a:pPr>
            <a:r>
              <a:rPr lang="en-US" sz="1200" b="1" kern="0" spc="150" dirty="0">
                <a:solidFill>
                  <a:srgbClr val="8AA68D"/>
                </a:solidFill>
                <a:latin typeface="Arial" pitchFamily="34" charset="0"/>
                <a:ea typeface="Arial" pitchFamily="34" charset="-122"/>
                <a:cs typeface="Arial" pitchFamily="34" charset="-120"/>
              </a:rPr>
              <a:t>PROBLEM STATEMENT</a:t>
            </a:r>
            <a:endParaRPr lang="en-US" sz="1200" dirty="0"/>
          </a:p>
        </p:txBody>
      </p:sp>
      <p:sp>
        <p:nvSpPr>
          <p:cNvPr id="13" name="Text 7"/>
          <p:cNvSpPr txBox="1"/>
          <p:nvPr/>
        </p:nvSpPr>
        <p:spPr>
          <a:xfrm>
            <a:off x="1252728" y="5852160"/>
            <a:ext cx="3566160" cy="5486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The Idle Cash Problem: The Reserve Juggler</a:t>
            </a:r>
            <a:endParaRPr lang="en-US" sz="1600" dirty="0"/>
          </a:p>
        </p:txBody>
      </p:sp>
      <p:sp>
        <p:nvSpPr>
          <p:cNvPr id="14" name="Shape 8"/>
          <p:cNvSpPr/>
          <p:nvPr/>
        </p:nvSpPr>
        <p:spPr>
          <a:xfrm>
            <a:off x="5230368" y="5349240"/>
            <a:ext cx="4023360" cy="1188720"/>
          </a:xfrm>
          <a:prstGeom prst="roundRect">
            <a:avLst>
              <a:gd name="adj" fmla="val 6154"/>
            </a:avLst>
          </a:prstGeom>
          <a:solidFill>
            <a:srgbClr val="14171F"/>
          </a:solidFill>
          <a:ln w="12700">
            <a:solidFill>
              <a:srgbClr val="2A303C"/>
            </a:solidFill>
            <a:prstDash val="solid"/>
          </a:ln>
        </p:spPr>
      </p:sp>
      <p:sp>
        <p:nvSpPr>
          <p:cNvPr id="15" name="Text 9"/>
          <p:cNvSpPr txBox="1"/>
          <p:nvPr/>
        </p:nvSpPr>
        <p:spPr>
          <a:xfrm>
            <a:off x="5458968" y="5532120"/>
            <a:ext cx="3566160" cy="274320"/>
          </a:xfrm>
          <a:prstGeom prst="rect">
            <a:avLst/>
          </a:prstGeom>
          <a:noFill/>
          <a:ln/>
        </p:spPr>
        <p:txBody>
          <a:bodyPr wrap="square" lIns="0" tIns="0" rIns="0" bIns="0" rtlCol="0" anchor="ctr"/>
          <a:lstStyle/>
          <a:p>
            <a:pPr marL="0" indent="0">
              <a:buNone/>
            </a:pPr>
            <a:r>
              <a:rPr lang="en-US" sz="1200" b="1" kern="0" spc="150" dirty="0">
                <a:solidFill>
                  <a:srgbClr val="8AA68D"/>
                </a:solidFill>
                <a:latin typeface="Arial" pitchFamily="34" charset="0"/>
                <a:ea typeface="Arial" pitchFamily="34" charset="-122"/>
                <a:cs typeface="Arial" pitchFamily="34" charset="-120"/>
              </a:rPr>
              <a:t>TEAM NAME</a:t>
            </a:r>
            <a:endParaRPr lang="en-US" sz="1200" dirty="0"/>
          </a:p>
        </p:txBody>
      </p:sp>
      <p:sp>
        <p:nvSpPr>
          <p:cNvPr id="16" name="Text 10"/>
          <p:cNvSpPr txBox="1"/>
          <p:nvPr/>
        </p:nvSpPr>
        <p:spPr>
          <a:xfrm>
            <a:off x="5458968" y="5852160"/>
            <a:ext cx="3566160" cy="5486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globalhost</a:t>
            </a:r>
            <a:endParaRPr lang="en-US" sz="1600" dirty="0"/>
          </a:p>
        </p:txBody>
      </p:sp>
      <p:sp>
        <p:nvSpPr>
          <p:cNvPr id="17" name="Shape 11"/>
          <p:cNvSpPr/>
          <p:nvPr/>
        </p:nvSpPr>
        <p:spPr>
          <a:xfrm>
            <a:off x="1024128" y="6720840"/>
            <a:ext cx="4023360" cy="1188720"/>
          </a:xfrm>
          <a:prstGeom prst="roundRect">
            <a:avLst>
              <a:gd name="adj" fmla="val 6154"/>
            </a:avLst>
          </a:prstGeom>
          <a:solidFill>
            <a:srgbClr val="14171F"/>
          </a:solidFill>
          <a:ln w="12700">
            <a:solidFill>
              <a:srgbClr val="2A303C"/>
            </a:solidFill>
            <a:prstDash val="solid"/>
          </a:ln>
        </p:spPr>
      </p:sp>
      <p:sp>
        <p:nvSpPr>
          <p:cNvPr id="18" name="Text 12"/>
          <p:cNvSpPr txBox="1"/>
          <p:nvPr/>
        </p:nvSpPr>
        <p:spPr>
          <a:xfrm>
            <a:off x="1252728" y="6903720"/>
            <a:ext cx="3566160" cy="274320"/>
          </a:xfrm>
          <a:prstGeom prst="rect">
            <a:avLst/>
          </a:prstGeom>
          <a:noFill/>
          <a:ln/>
        </p:spPr>
        <p:txBody>
          <a:bodyPr wrap="square" lIns="0" tIns="0" rIns="0" bIns="0" rtlCol="0" anchor="ctr"/>
          <a:lstStyle/>
          <a:p>
            <a:pPr marL="0" indent="0">
              <a:buNone/>
            </a:pPr>
            <a:r>
              <a:rPr lang="en-US" sz="1200" b="1" kern="0" spc="150" dirty="0">
                <a:solidFill>
                  <a:srgbClr val="8AA68D"/>
                </a:solidFill>
                <a:latin typeface="Arial" pitchFamily="34" charset="0"/>
                <a:ea typeface="Arial" pitchFamily="34" charset="-122"/>
                <a:cs typeface="Arial" pitchFamily="34" charset="-120"/>
              </a:rPr>
              <a:t>LIVE DEPLOYMENT</a:t>
            </a:r>
            <a:endParaRPr lang="en-US" sz="1200" dirty="0"/>
          </a:p>
        </p:txBody>
      </p:sp>
      <p:sp>
        <p:nvSpPr>
          <p:cNvPr id="19" name="Text 13"/>
          <p:cNvSpPr txBox="1"/>
          <p:nvPr/>
        </p:nvSpPr>
        <p:spPr>
          <a:xfrm>
            <a:off x="1252728" y="7223760"/>
            <a:ext cx="3566160" cy="5486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https://ballast.jkartik.in</a:t>
            </a:r>
            <a:endParaRPr lang="en-US" sz="1600" dirty="0"/>
          </a:p>
        </p:txBody>
      </p:sp>
      <p:sp>
        <p:nvSpPr>
          <p:cNvPr id="20" name="Shape 14"/>
          <p:cNvSpPr/>
          <p:nvPr/>
        </p:nvSpPr>
        <p:spPr>
          <a:xfrm>
            <a:off x="5230368" y="6720840"/>
            <a:ext cx="4023360" cy="1188720"/>
          </a:xfrm>
          <a:prstGeom prst="roundRect">
            <a:avLst>
              <a:gd name="adj" fmla="val 6154"/>
            </a:avLst>
          </a:prstGeom>
          <a:solidFill>
            <a:srgbClr val="14171F"/>
          </a:solidFill>
          <a:ln w="12700">
            <a:solidFill>
              <a:srgbClr val="2A303C"/>
            </a:solidFill>
            <a:prstDash val="solid"/>
          </a:ln>
        </p:spPr>
      </p:sp>
      <p:sp>
        <p:nvSpPr>
          <p:cNvPr id="21" name="Text 15"/>
          <p:cNvSpPr txBox="1"/>
          <p:nvPr/>
        </p:nvSpPr>
        <p:spPr>
          <a:xfrm>
            <a:off x="5458968" y="6903720"/>
            <a:ext cx="3566160" cy="274320"/>
          </a:xfrm>
          <a:prstGeom prst="rect">
            <a:avLst/>
          </a:prstGeom>
          <a:noFill/>
          <a:ln/>
        </p:spPr>
        <p:txBody>
          <a:bodyPr wrap="square" lIns="0" tIns="0" rIns="0" bIns="0" rtlCol="0" anchor="ctr"/>
          <a:lstStyle/>
          <a:p>
            <a:pPr marL="0" indent="0">
              <a:buNone/>
            </a:pPr>
            <a:r>
              <a:rPr lang="en-US" sz="1200" b="1" kern="0" spc="150" dirty="0">
                <a:solidFill>
                  <a:srgbClr val="8AA68D"/>
                </a:solidFill>
                <a:latin typeface="Arial" pitchFamily="34" charset="0"/>
                <a:ea typeface="Arial" pitchFamily="34" charset="-122"/>
                <a:cs typeface="Arial" pitchFamily="34" charset="-120"/>
              </a:rPr>
              <a:t>AUTHOR &amp; ROLE</a:t>
            </a:r>
            <a:endParaRPr lang="en-US" sz="1200" dirty="0"/>
          </a:p>
        </p:txBody>
      </p:sp>
      <p:sp>
        <p:nvSpPr>
          <p:cNvPr id="22" name="Text 16"/>
          <p:cNvSpPr txBox="1"/>
          <p:nvPr/>
        </p:nvSpPr>
        <p:spPr>
          <a:xfrm>
            <a:off x="5458968" y="7223760"/>
            <a:ext cx="3566160" cy="5486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Kartik Jain (jkartik.in)</a:t>
            </a:r>
          </a:p>
          <a:p>
            <a:pPr marL="0" indent="0">
              <a:buNone/>
            </a:pPr>
            <a:r>
              <a:rPr lang="en-US" sz="1600" b="1" dirty="0">
                <a:solidFill>
                  <a:srgbClr val="FFFFFF"/>
                </a:solidFill>
                <a:latin typeface="Arial" pitchFamily="34" charset="0"/>
                <a:cs typeface="Arial" pitchFamily="34" charset="-120"/>
              </a:rPr>
              <a:t>Jugal Marwah</a:t>
            </a:r>
          </a:p>
          <a:p>
            <a:pPr marL="0" indent="0">
              <a:buNone/>
            </a:pPr>
            <a:r>
              <a:rPr lang="en-US" sz="1600" b="1" dirty="0">
                <a:solidFill>
                  <a:srgbClr val="FFFFFF"/>
                </a:solidFill>
                <a:latin typeface="Arial" pitchFamily="34" charset="0"/>
                <a:cs typeface="Arial" pitchFamily="34" charset="-120"/>
              </a:rPr>
              <a:t>Rudra Galia</a:t>
            </a:r>
            <a:endParaRPr lang="en-US" sz="1600" dirty="0"/>
          </a:p>
        </p:txBody>
      </p:sp>
      <p:sp>
        <p:nvSpPr>
          <p:cNvPr id="23" name="Shape 17"/>
          <p:cNvSpPr/>
          <p:nvPr/>
        </p:nvSpPr>
        <p:spPr>
          <a:xfrm>
            <a:off x="9646920" y="1325880"/>
            <a:ext cx="8229600" cy="5532120"/>
          </a:xfrm>
          <a:prstGeom prst="roundRect">
            <a:avLst>
              <a:gd name="adj" fmla="val 1322"/>
            </a:avLst>
          </a:prstGeom>
          <a:solidFill>
            <a:srgbClr val="0E1118"/>
          </a:solidFill>
          <a:ln w="19050">
            <a:solidFill>
              <a:srgbClr val="8D7650"/>
            </a:solidFill>
            <a:prstDash val="solid"/>
          </a:ln>
        </p:spPr>
      </p:sp>
      <p:pic>
        <p:nvPicPr>
          <p:cNvPr id="24" name="Image 4" descr="C:\Users\karti\AppData\Local\Temp\claude\c--Users-karti-repos-ballast\3a11dfef-fe11-4e04-8ecd-63ec54f071eb\scratchpad\deck\assets\landing_hero.png"/>
          <p:cNvPicPr>
            <a:picLocks noChangeAspect="1"/>
          </p:cNvPicPr>
          <p:nvPr/>
        </p:nvPicPr>
        <p:blipFill>
          <a:blip r:embed="rId7"/>
          <a:stretch>
            <a:fillRect/>
          </a:stretch>
        </p:blipFill>
        <p:spPr>
          <a:xfrm>
            <a:off x="9692640" y="1371600"/>
            <a:ext cx="8138160" cy="5440680"/>
          </a:xfrm>
          <a:prstGeom prst="rect">
            <a:avLst/>
          </a:prstGeom>
        </p:spPr>
      </p:pic>
      <p:sp>
        <p:nvSpPr>
          <p:cNvPr id="25" name="Shape 18"/>
          <p:cNvSpPr/>
          <p:nvPr/>
        </p:nvSpPr>
        <p:spPr>
          <a:xfrm>
            <a:off x="9646920" y="7086600"/>
            <a:ext cx="8229600" cy="2194560"/>
          </a:xfrm>
          <a:prstGeom prst="roundRect">
            <a:avLst>
              <a:gd name="adj" fmla="val 3333"/>
            </a:avLst>
          </a:prstGeom>
          <a:solidFill>
            <a:srgbClr val="14171F"/>
          </a:solidFill>
          <a:ln w="12700">
            <a:solidFill>
              <a:srgbClr val="2A303C"/>
            </a:solidFill>
            <a:prstDash val="solid"/>
          </a:ln>
        </p:spPr>
      </p:sp>
      <p:sp>
        <p:nvSpPr>
          <p:cNvPr id="26" name="Text 19"/>
          <p:cNvSpPr txBox="1"/>
          <p:nvPr/>
        </p:nvSpPr>
        <p:spPr>
          <a:xfrm>
            <a:off x="9692640" y="7406640"/>
            <a:ext cx="2560320" cy="274320"/>
          </a:xfrm>
          <a:prstGeom prst="rect">
            <a:avLst/>
          </a:prstGeom>
          <a:noFill/>
          <a:ln/>
        </p:spPr>
        <p:txBody>
          <a:bodyPr wrap="square" lIns="0" tIns="0" rIns="0" bIns="0" rtlCol="0" anchor="ctr"/>
          <a:lstStyle/>
          <a:p>
            <a:pPr marL="0" indent="0" algn="ctr">
              <a:buNone/>
            </a:pPr>
            <a:r>
              <a:rPr lang="en-US" sz="1300" b="1" dirty="0">
                <a:solidFill>
                  <a:srgbClr val="C9A86A"/>
                </a:solidFill>
                <a:latin typeface="Arial" pitchFamily="34" charset="0"/>
                <a:ea typeface="Arial" pitchFamily="34" charset="-122"/>
                <a:cs typeface="Arial" pitchFamily="34" charset="-120"/>
              </a:rPr>
              <a:t>PAYOUT SUCCESS</a:t>
            </a:r>
            <a:endParaRPr lang="en-US" sz="1300" dirty="0"/>
          </a:p>
        </p:txBody>
      </p:sp>
      <p:sp>
        <p:nvSpPr>
          <p:cNvPr id="27" name="Text 20"/>
          <p:cNvSpPr txBox="1"/>
          <p:nvPr/>
        </p:nvSpPr>
        <p:spPr>
          <a:xfrm>
            <a:off x="9692640" y="7772400"/>
            <a:ext cx="2560320" cy="685800"/>
          </a:xfrm>
          <a:prstGeom prst="rect">
            <a:avLst/>
          </a:prstGeom>
          <a:noFill/>
          <a:ln/>
        </p:spPr>
        <p:txBody>
          <a:bodyPr wrap="square" lIns="0" tIns="0" rIns="0" bIns="0" rtlCol="0" anchor="ctr"/>
          <a:lstStyle/>
          <a:p>
            <a:pPr marL="0" indent="0" algn="ctr">
              <a:buNone/>
            </a:pPr>
            <a:r>
              <a:rPr lang="en-US" sz="3400" b="1" dirty="0">
                <a:solidFill>
                  <a:srgbClr val="FFFFFF"/>
                </a:solidFill>
                <a:latin typeface="Arial" pitchFamily="34" charset="0"/>
                <a:ea typeface="Arial" pitchFamily="34" charset="-122"/>
                <a:cs typeface="Arial" pitchFamily="34" charset="-120"/>
              </a:rPr>
              <a:t>100.0%</a:t>
            </a:r>
            <a:endParaRPr lang="en-US" sz="3400" dirty="0"/>
          </a:p>
        </p:txBody>
      </p:sp>
      <p:sp>
        <p:nvSpPr>
          <p:cNvPr id="28" name="Text 21"/>
          <p:cNvSpPr txBox="1"/>
          <p:nvPr/>
        </p:nvSpPr>
        <p:spPr>
          <a:xfrm>
            <a:off x="9692640" y="8549640"/>
            <a:ext cx="2560320" cy="365760"/>
          </a:xfrm>
          <a:prstGeom prst="rect">
            <a:avLst/>
          </a:prstGeom>
          <a:noFill/>
          <a:ln/>
        </p:spPr>
        <p:txBody>
          <a:bodyPr wrap="square" lIns="0" tIns="0" rIns="0" bIns="0" rtlCol="0" anchor="ctr"/>
          <a:lstStyle/>
          <a:p>
            <a:pPr marL="0" indent="0" algn="ctr">
              <a:buNone/>
            </a:pPr>
            <a:r>
              <a:rPr lang="en-US" sz="1300" dirty="0">
                <a:solidFill>
                  <a:srgbClr val="9A968D"/>
                </a:solidFill>
                <a:latin typeface="Arial" pitchFamily="34" charset="0"/>
                <a:ea typeface="Arial" pitchFamily="34" charset="-122"/>
                <a:cs typeface="Arial" pitchFamily="34" charset="-120"/>
              </a:rPr>
              <a:t>Zero customer delays</a:t>
            </a:r>
            <a:endParaRPr lang="en-US" sz="1300" dirty="0"/>
          </a:p>
        </p:txBody>
      </p:sp>
      <p:sp>
        <p:nvSpPr>
          <p:cNvPr id="29" name="Text 22"/>
          <p:cNvSpPr txBox="1"/>
          <p:nvPr/>
        </p:nvSpPr>
        <p:spPr>
          <a:xfrm>
            <a:off x="12435840" y="7406640"/>
            <a:ext cx="2560320" cy="274320"/>
          </a:xfrm>
          <a:prstGeom prst="rect">
            <a:avLst/>
          </a:prstGeom>
          <a:noFill/>
          <a:ln/>
        </p:spPr>
        <p:txBody>
          <a:bodyPr wrap="square" lIns="0" tIns="0" rIns="0" bIns="0" rtlCol="0" anchor="ctr"/>
          <a:lstStyle/>
          <a:p>
            <a:pPr marL="0" indent="0" algn="ctr">
              <a:buNone/>
            </a:pPr>
            <a:r>
              <a:rPr lang="en-US" sz="1300" b="1" dirty="0">
                <a:solidFill>
                  <a:srgbClr val="C9A86A"/>
                </a:solidFill>
                <a:latin typeface="Arial" pitchFamily="34" charset="0"/>
                <a:ea typeface="Arial" pitchFamily="34" charset="-122"/>
                <a:cs typeface="Arial" pitchFamily="34" charset="-120"/>
              </a:rPr>
              <a:t>NET COST SAVINGS</a:t>
            </a:r>
            <a:endParaRPr lang="en-US" sz="1300" dirty="0"/>
          </a:p>
        </p:txBody>
      </p:sp>
      <p:sp>
        <p:nvSpPr>
          <p:cNvPr id="30" name="Text 23"/>
          <p:cNvSpPr txBox="1"/>
          <p:nvPr/>
        </p:nvSpPr>
        <p:spPr>
          <a:xfrm>
            <a:off x="12435840" y="7772400"/>
            <a:ext cx="2560320" cy="685800"/>
          </a:xfrm>
          <a:prstGeom prst="rect">
            <a:avLst/>
          </a:prstGeom>
          <a:noFill/>
          <a:ln/>
        </p:spPr>
        <p:txBody>
          <a:bodyPr wrap="square" lIns="0" tIns="0" rIns="0" bIns="0" rtlCol="0" anchor="ctr"/>
          <a:lstStyle/>
          <a:p>
            <a:pPr marL="0" indent="0" algn="ctr">
              <a:buNone/>
            </a:pPr>
            <a:r>
              <a:rPr lang="en-US" sz="3400" b="1" dirty="0">
                <a:solidFill>
                  <a:srgbClr val="FFFFFF"/>
                </a:solidFill>
                <a:latin typeface="Arial" pitchFamily="34" charset="0"/>
                <a:ea typeface="Arial" pitchFamily="34" charset="-122"/>
                <a:cs typeface="Arial" pitchFamily="34" charset="-120"/>
              </a:rPr>
              <a:t>$20.98M</a:t>
            </a:r>
            <a:endParaRPr lang="en-US" sz="3400" dirty="0"/>
          </a:p>
        </p:txBody>
      </p:sp>
      <p:sp>
        <p:nvSpPr>
          <p:cNvPr id="31" name="Text 24"/>
          <p:cNvSpPr txBox="1"/>
          <p:nvPr/>
        </p:nvSpPr>
        <p:spPr>
          <a:xfrm>
            <a:off x="12435840" y="8549640"/>
            <a:ext cx="2560320" cy="365760"/>
          </a:xfrm>
          <a:prstGeom prst="rect">
            <a:avLst/>
          </a:prstGeom>
          <a:noFill/>
          <a:ln/>
        </p:spPr>
        <p:txBody>
          <a:bodyPr wrap="square" lIns="0" tIns="0" rIns="0" bIns="0" rtlCol="0" anchor="ctr"/>
          <a:lstStyle/>
          <a:p>
            <a:pPr marL="0" indent="0" algn="ctr">
              <a:buNone/>
            </a:pPr>
            <a:r>
              <a:rPr lang="en-US" sz="1300" dirty="0">
                <a:solidFill>
                  <a:srgbClr val="9A968D"/>
                </a:solidFill>
                <a:latin typeface="Arial" pitchFamily="34" charset="0"/>
                <a:ea typeface="Arial" pitchFamily="34" charset="-122"/>
                <a:cs typeface="Arial" pitchFamily="34" charset="-120"/>
              </a:rPr>
              <a:t>50.8% reduction vs cash</a:t>
            </a:r>
            <a:endParaRPr lang="en-US" sz="1300" dirty="0"/>
          </a:p>
        </p:txBody>
      </p:sp>
      <p:sp>
        <p:nvSpPr>
          <p:cNvPr id="32" name="Text 25"/>
          <p:cNvSpPr txBox="1"/>
          <p:nvPr/>
        </p:nvSpPr>
        <p:spPr>
          <a:xfrm>
            <a:off x="15179040" y="7406640"/>
            <a:ext cx="2560320" cy="274320"/>
          </a:xfrm>
          <a:prstGeom prst="rect">
            <a:avLst/>
          </a:prstGeom>
          <a:noFill/>
          <a:ln/>
        </p:spPr>
        <p:txBody>
          <a:bodyPr wrap="square" lIns="0" tIns="0" rIns="0" bIns="0" rtlCol="0" anchor="ctr"/>
          <a:lstStyle/>
          <a:p>
            <a:pPr marL="0" indent="0" algn="ctr">
              <a:buNone/>
            </a:pPr>
            <a:r>
              <a:rPr lang="en-US" sz="1300" b="1" dirty="0">
                <a:solidFill>
                  <a:srgbClr val="C9A86A"/>
                </a:solidFill>
                <a:latin typeface="Arial" pitchFamily="34" charset="0"/>
                <a:ea typeface="Arial" pitchFamily="34" charset="-122"/>
                <a:cs typeface="Arial" pitchFamily="34" charset="-120"/>
              </a:rPr>
              <a:t>REPLAY LATENCY</a:t>
            </a:r>
            <a:endParaRPr lang="en-US" sz="1300" dirty="0"/>
          </a:p>
        </p:txBody>
      </p:sp>
      <p:sp>
        <p:nvSpPr>
          <p:cNvPr id="33" name="Text 26"/>
          <p:cNvSpPr txBox="1"/>
          <p:nvPr/>
        </p:nvSpPr>
        <p:spPr>
          <a:xfrm>
            <a:off x="15179040" y="7772400"/>
            <a:ext cx="2560320" cy="685800"/>
          </a:xfrm>
          <a:prstGeom prst="rect">
            <a:avLst/>
          </a:prstGeom>
          <a:noFill/>
          <a:ln/>
        </p:spPr>
        <p:txBody>
          <a:bodyPr wrap="square" lIns="0" tIns="0" rIns="0" bIns="0" rtlCol="0" anchor="ctr"/>
          <a:lstStyle/>
          <a:p>
            <a:pPr marL="0" indent="0" algn="ctr">
              <a:buNone/>
            </a:pPr>
            <a:r>
              <a:rPr lang="en-US" sz="3400" b="1" dirty="0">
                <a:solidFill>
                  <a:srgbClr val="FFFFFF"/>
                </a:solidFill>
                <a:latin typeface="Arial" pitchFamily="34" charset="0"/>
                <a:ea typeface="Arial" pitchFamily="34" charset="-122"/>
                <a:cs typeface="Arial" pitchFamily="34" charset="-120"/>
              </a:rPr>
              <a:t>5.72s</a:t>
            </a:r>
            <a:endParaRPr lang="en-US" sz="3400" dirty="0"/>
          </a:p>
        </p:txBody>
      </p:sp>
      <p:sp>
        <p:nvSpPr>
          <p:cNvPr id="34" name="Text 27"/>
          <p:cNvSpPr txBox="1"/>
          <p:nvPr/>
        </p:nvSpPr>
        <p:spPr>
          <a:xfrm>
            <a:off x="15179040" y="8549640"/>
            <a:ext cx="2560320" cy="365760"/>
          </a:xfrm>
          <a:prstGeom prst="rect">
            <a:avLst/>
          </a:prstGeom>
          <a:noFill/>
          <a:ln/>
        </p:spPr>
        <p:txBody>
          <a:bodyPr wrap="square" lIns="0" tIns="0" rIns="0" bIns="0" rtlCol="0" anchor="ctr"/>
          <a:lstStyle/>
          <a:p>
            <a:pPr marL="0" indent="0" algn="ctr">
              <a:buNone/>
            </a:pPr>
            <a:r>
              <a:rPr lang="en-US" sz="1300" dirty="0">
                <a:solidFill>
                  <a:srgbClr val="9A968D"/>
                </a:solidFill>
                <a:latin typeface="Arial" pitchFamily="34" charset="0"/>
                <a:ea typeface="Arial" pitchFamily="34" charset="-122"/>
                <a:cs typeface="Arial" pitchFamily="34" charset="-120"/>
              </a:rPr>
              <a:t>8,760 hours vectorized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C:\Users\karti\AppData\Local\Temp\claude\c--Users-karti-repos-ballast\3a11dfef-fe11-4e04-8ecd-63ec54f071eb\scratchpad\deck\assets\bg_content.png"/>
          <p:cNvPicPr>
            <a:picLocks noChangeAspect="1"/>
          </p:cNvPicPr>
          <p:nvPr/>
        </p:nvPicPr>
        <p:blipFill>
          <a:blip r:embed="rId3"/>
          <a:stretch>
            <a:fillRect/>
          </a:stretch>
        </p:blipFill>
        <p:spPr>
          <a:xfrm>
            <a:off x="0" y="0"/>
            <a:ext cx="18859500" cy="10287000"/>
          </a:xfrm>
          <a:prstGeom prst="rect">
            <a:avLst/>
          </a:prstGeom>
        </p:spPr>
      </p:pic>
      <p:sp>
        <p:nvSpPr>
          <p:cNvPr id="3" name="Text 0"/>
          <p:cNvSpPr txBox="1"/>
          <p:nvPr/>
        </p:nvSpPr>
        <p:spPr>
          <a:xfrm>
            <a:off x="1024128" y="68580"/>
            <a:ext cx="10972800" cy="320040"/>
          </a:xfrm>
          <a:prstGeom prst="rect">
            <a:avLst/>
          </a:prstGeom>
          <a:noFill/>
          <a:ln/>
        </p:spPr>
        <p:txBody>
          <a:bodyPr wrap="square" lIns="0" tIns="0" rIns="0" bIns="0" rtlCol="0" anchor="ctr"/>
          <a:lstStyle/>
          <a:p>
            <a:pPr marL="0" indent="0">
              <a:buNone/>
            </a:pPr>
            <a:r>
              <a:rPr lang="en-US" sz="1500" b="1" kern="0" spc="200" dirty="0">
                <a:solidFill>
                  <a:srgbClr val="8AA68D"/>
                </a:solidFill>
                <a:latin typeface="Arial" pitchFamily="34" charset="0"/>
                <a:ea typeface="Arial" pitchFamily="34" charset="-122"/>
                <a:cs typeface="Arial" pitchFamily="34" charset="-120"/>
              </a:rPr>
              <a:t>SLIDE 2 : PROBLEM FRAMING</a:t>
            </a:r>
            <a:endParaRPr lang="en-US" sz="1500" dirty="0"/>
          </a:p>
        </p:txBody>
      </p:sp>
      <p:sp>
        <p:nvSpPr>
          <p:cNvPr id="4" name="Text 1"/>
          <p:cNvSpPr txBox="1"/>
          <p:nvPr/>
        </p:nvSpPr>
        <p:spPr>
          <a:xfrm>
            <a:off x="1024128" y="960120"/>
            <a:ext cx="16806672" cy="77724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THE $20M/HOUR ASYMMETRY: CASH BUFFER VS. YIELD VAULT</a:t>
            </a:r>
            <a:endParaRPr lang="en-US" sz="4000" dirty="0"/>
          </a:p>
        </p:txBody>
      </p:sp>
      <p:sp>
        <p:nvSpPr>
          <p:cNvPr id="5" name="Text 2"/>
          <p:cNvSpPr txBox="1"/>
          <p:nvPr/>
        </p:nvSpPr>
        <p:spPr>
          <a:xfrm>
            <a:off x="1024128" y="1783080"/>
            <a:ext cx="16806672" cy="502920"/>
          </a:xfrm>
          <a:prstGeom prst="rect">
            <a:avLst/>
          </a:prstGeom>
          <a:noFill/>
          <a:ln/>
        </p:spPr>
        <p:txBody>
          <a:bodyPr wrap="square" lIns="0" tIns="0" rIns="0" bIns="0" rtlCol="0" anchor="ctr"/>
          <a:lstStyle/>
          <a:p>
            <a:pPr marL="0" indent="0">
              <a:buNone/>
            </a:pPr>
            <a:r>
              <a:rPr lang="en-US" sz="2000" dirty="0">
                <a:solidFill>
                  <a:srgbClr val="C9A86A"/>
                </a:solidFill>
                <a:latin typeface="Arial" pitchFamily="34" charset="0"/>
                <a:ea typeface="Arial" pitchFamily="34" charset="-122"/>
                <a:cs typeface="Arial" pitchFamily="34" charset="-120"/>
              </a:rPr>
              <a:t>Holding too much cash bleeds millions in lost interest; holding too little triggers a 292% APR break fee penalty.</a:t>
            </a:r>
            <a:endParaRPr lang="en-US" sz="2000" dirty="0"/>
          </a:p>
        </p:txBody>
      </p:sp>
      <p:sp>
        <p:nvSpPr>
          <p:cNvPr id="6" name="Text 3"/>
          <p:cNvSpPr txBox="1"/>
          <p:nvPr/>
        </p:nvSpPr>
        <p:spPr>
          <a:xfrm>
            <a:off x="1024128" y="9738360"/>
            <a:ext cx="5486400" cy="320040"/>
          </a:xfrm>
          <a:prstGeom prst="rect">
            <a:avLst/>
          </a:prstGeom>
          <a:noFill/>
          <a:ln/>
        </p:spPr>
        <p:txBody>
          <a:bodyPr wrap="square" lIns="0" tIns="0" rIns="0" bIns="0" rtlCol="0" anchor="ctr"/>
          <a:lstStyle/>
          <a:p>
            <a:pPr marL="0" indent="0">
              <a:buNone/>
            </a:pPr>
            <a:r>
              <a:rPr lang="en-US" sz="1300" dirty="0">
                <a:solidFill>
                  <a:srgbClr val="5E5A53"/>
                </a:solidFill>
                <a:latin typeface="Arial" pitchFamily="34" charset="0"/>
                <a:ea typeface="Arial" pitchFamily="34" charset="-122"/>
                <a:cs typeface="Arial" pitchFamily="34" charset="-120"/>
              </a:rPr>
              <a:t>BALLAST  //  Autonomous Treasury Engine</a:t>
            </a:r>
            <a:endParaRPr lang="en-US" sz="1300" dirty="0"/>
          </a:p>
        </p:txBody>
      </p:sp>
      <p:sp>
        <p:nvSpPr>
          <p:cNvPr id="7" name="Text 4"/>
          <p:cNvSpPr txBox="1"/>
          <p:nvPr/>
        </p:nvSpPr>
        <p:spPr>
          <a:xfrm>
            <a:off x="6858000" y="9738360"/>
            <a:ext cx="5943600" cy="320040"/>
          </a:xfrm>
          <a:prstGeom prst="rect">
            <a:avLst/>
          </a:prstGeom>
          <a:noFill/>
          <a:ln/>
        </p:spPr>
        <p:txBody>
          <a:bodyPr wrap="square" lIns="0" tIns="0" rIns="0" bIns="0" rtlCol="0" anchor="ctr"/>
          <a:lstStyle/>
          <a:p>
            <a:pPr marL="0" indent="0" algn="ctr">
              <a:buNone/>
            </a:pPr>
            <a:r>
              <a:rPr lang="en-US" sz="1300" dirty="0">
                <a:solidFill>
                  <a:srgbClr val="5E5A53"/>
                </a:solidFill>
                <a:latin typeface="Arial" pitchFamily="34" charset="0"/>
                <a:ea typeface="Arial" pitchFamily="34" charset="-122"/>
                <a:cs typeface="Arial" pitchFamily="34" charset="-120"/>
              </a:rPr>
              <a:t>HackForge '26 Advanced Track  •  Problem: The Reserve Juggler</a:t>
            </a:r>
            <a:endParaRPr lang="en-US" sz="1300" dirty="0"/>
          </a:p>
        </p:txBody>
      </p:sp>
      <p:sp>
        <p:nvSpPr>
          <p:cNvPr id="8" name="Text 5"/>
          <p:cNvSpPr txBox="1"/>
          <p:nvPr/>
        </p:nvSpPr>
        <p:spPr>
          <a:xfrm>
            <a:off x="13258800" y="9738360"/>
            <a:ext cx="4572000" cy="320040"/>
          </a:xfrm>
          <a:prstGeom prst="rect">
            <a:avLst/>
          </a:prstGeom>
          <a:noFill/>
          <a:ln/>
        </p:spPr>
        <p:txBody>
          <a:bodyPr wrap="square" lIns="0" tIns="0" rIns="0" bIns="0" rtlCol="0" anchor="ctr"/>
          <a:lstStyle/>
          <a:p>
            <a:pPr marL="0" indent="0" algn="r">
              <a:buNone/>
            </a:pPr>
            <a:r>
              <a:rPr lang="en-US" sz="1300" dirty="0">
                <a:solidFill>
                  <a:srgbClr val="5E5A53"/>
                </a:solidFill>
                <a:latin typeface="Arial" pitchFamily="34" charset="0"/>
                <a:ea typeface="Arial" pitchFamily="34" charset="-122"/>
                <a:cs typeface="Arial" pitchFamily="34" charset="-120"/>
              </a:rPr>
              <a:t>Team globalhost  |  ballast.jkartik.in</a:t>
            </a:r>
            <a:endParaRPr lang="en-US" sz="1300" dirty="0"/>
          </a:p>
        </p:txBody>
      </p:sp>
      <p:sp>
        <p:nvSpPr>
          <p:cNvPr id="9" name="Shape 6"/>
          <p:cNvSpPr/>
          <p:nvPr/>
        </p:nvSpPr>
        <p:spPr>
          <a:xfrm>
            <a:off x="1024128" y="2514600"/>
            <a:ext cx="5303520" cy="4434840"/>
          </a:xfrm>
          <a:prstGeom prst="roundRect">
            <a:avLst>
              <a:gd name="adj" fmla="val 1649"/>
            </a:avLst>
          </a:prstGeom>
          <a:solidFill>
            <a:srgbClr val="14171F"/>
          </a:solidFill>
          <a:ln w="12700">
            <a:solidFill>
              <a:srgbClr val="2A303C"/>
            </a:solidFill>
            <a:prstDash val="solid"/>
          </a:ln>
        </p:spPr>
      </p:sp>
      <p:sp>
        <p:nvSpPr>
          <p:cNvPr id="10" name="Text 7"/>
          <p:cNvSpPr txBox="1"/>
          <p:nvPr/>
        </p:nvSpPr>
        <p:spPr>
          <a:xfrm>
            <a:off x="1344168" y="2834640"/>
            <a:ext cx="4663440" cy="320040"/>
          </a:xfrm>
          <a:prstGeom prst="rect">
            <a:avLst/>
          </a:prstGeom>
          <a:noFill/>
          <a:ln/>
        </p:spPr>
        <p:txBody>
          <a:bodyPr wrap="square" lIns="0" tIns="0" rIns="0" bIns="0" rtlCol="0" anchor="ctr"/>
          <a:lstStyle/>
          <a:p>
            <a:pPr marL="0" indent="0">
              <a:buNone/>
            </a:pPr>
            <a:r>
              <a:rPr lang="en-US" sz="1500" b="1" kern="0" spc="100" dirty="0">
                <a:solidFill>
                  <a:srgbClr val="C9A86A"/>
                </a:solidFill>
                <a:latin typeface="Arial" pitchFamily="34" charset="0"/>
                <a:ea typeface="Arial" pitchFamily="34" charset="-122"/>
                <a:cs typeface="Arial" pitchFamily="34" charset="-120"/>
              </a:rPr>
              <a:t>THE LIQUIDITY TRADE-OFF</a:t>
            </a:r>
            <a:endParaRPr lang="en-US" sz="1500" dirty="0"/>
          </a:p>
        </p:txBody>
      </p:sp>
      <p:sp>
        <p:nvSpPr>
          <p:cNvPr id="11" name="Text 8"/>
          <p:cNvSpPr txBox="1"/>
          <p:nvPr/>
        </p:nvSpPr>
        <p:spPr>
          <a:xfrm>
            <a:off x="1344168" y="3337560"/>
            <a:ext cx="4663440" cy="822960"/>
          </a:xfrm>
          <a:prstGeom prst="rect">
            <a:avLst/>
          </a:prstGeom>
          <a:noFill/>
          <a:ln/>
        </p:spPr>
        <p:txBody>
          <a:bodyPr wrap="square" lIns="0" tIns="0" rIns="0" bIns="0" rtlCol="0" anchor="ctr"/>
          <a:lstStyle/>
          <a:p>
            <a:pPr marL="0" indent="0">
              <a:buNone/>
            </a:pPr>
            <a:r>
              <a:rPr lang="en-US" sz="1350" b="1" dirty="0">
                <a:solidFill>
                  <a:srgbClr val="FFFFFF"/>
                </a:solidFill>
              </a:rPr>
              <a:t>The Cash Buffer (Tier 0):
</a:t>
            </a:r>
            <a:r>
              <a:rPr lang="en-US" sz="1250" dirty="0">
                <a:solidFill>
                  <a:srgbClr val="9A968D"/>
                </a:solidFill>
              </a:rPr>
              <a:t>0% yield. Provides immediate withdrawal liquidity. But holding excess cash caused $34.4M in foregone interest in the benchmark book.</a:t>
            </a:r>
            <a:endParaRPr lang="en-US" sz="1350" dirty="0"/>
          </a:p>
        </p:txBody>
      </p:sp>
      <p:sp>
        <p:nvSpPr>
          <p:cNvPr id="12" name="Text 9"/>
          <p:cNvSpPr txBox="1"/>
          <p:nvPr/>
        </p:nvSpPr>
        <p:spPr>
          <a:xfrm>
            <a:off x="1344168" y="4206240"/>
            <a:ext cx="4663440" cy="822960"/>
          </a:xfrm>
          <a:prstGeom prst="rect">
            <a:avLst/>
          </a:prstGeom>
          <a:noFill/>
          <a:ln/>
        </p:spPr>
        <p:txBody>
          <a:bodyPr wrap="square" lIns="0" tIns="0" rIns="0" bIns="0" rtlCol="0" anchor="ctr"/>
          <a:lstStyle/>
          <a:p>
            <a:pPr marL="0" indent="0">
              <a:buNone/>
            </a:pPr>
            <a:r>
              <a:rPr lang="en-US" sz="1350" b="1" dirty="0">
                <a:solidFill>
                  <a:srgbClr val="FFFFFF"/>
                </a:solidFill>
              </a:rPr>
              <a:t>The Yield Vault (Tier 1 Repo):
</a:t>
            </a:r>
            <a:r>
              <a:rPr lang="en-US" sz="1250" dirty="0">
                <a:solidFill>
                  <a:srgbClr val="9A968D"/>
                </a:solidFill>
              </a:rPr>
              <a:t>~4.30%–5.00% APY. Locked strictly overnight from 17:00 to 08:00 next morning (a 15-hour illiquidity window).</a:t>
            </a:r>
            <a:endParaRPr lang="en-US" sz="1350" dirty="0"/>
          </a:p>
        </p:txBody>
      </p:sp>
      <p:sp>
        <p:nvSpPr>
          <p:cNvPr id="13" name="Text 10"/>
          <p:cNvSpPr txBox="1"/>
          <p:nvPr/>
        </p:nvSpPr>
        <p:spPr>
          <a:xfrm>
            <a:off x="1344168" y="5074920"/>
            <a:ext cx="4663440" cy="822960"/>
          </a:xfrm>
          <a:prstGeom prst="rect">
            <a:avLst/>
          </a:prstGeom>
          <a:noFill/>
          <a:ln/>
        </p:spPr>
        <p:txBody>
          <a:bodyPr wrap="square" lIns="0" tIns="0" rIns="0" bIns="0" rtlCol="0" anchor="ctr"/>
          <a:lstStyle/>
          <a:p>
            <a:pPr marL="0" indent="0">
              <a:buNone/>
            </a:pPr>
            <a:r>
              <a:rPr lang="en-US" sz="1350" b="1" dirty="0">
                <a:solidFill>
                  <a:srgbClr val="FFFFFF"/>
                </a:solidFill>
              </a:rPr>
              <a:t>The 292% APR Break Fee Trap:
</a:t>
            </a:r>
            <a:r>
              <a:rPr lang="en-US" sz="1250" dirty="0">
                <a:solidFill>
                  <a:srgbClr val="9A968D"/>
                </a:solidFill>
              </a:rPr>
              <a:t>Early redemption triggers a flat 0.50% penalty on principal. For a 15-hour freeze, that equals 292% annualized APR! One single break erases months of accumulated interest.</a:t>
            </a:r>
            <a:endParaRPr lang="en-US" sz="1350" dirty="0"/>
          </a:p>
        </p:txBody>
      </p:sp>
      <p:sp>
        <p:nvSpPr>
          <p:cNvPr id="14" name="Text 11"/>
          <p:cNvSpPr txBox="1"/>
          <p:nvPr/>
        </p:nvSpPr>
        <p:spPr>
          <a:xfrm>
            <a:off x="1344168" y="5943600"/>
            <a:ext cx="4663440" cy="822960"/>
          </a:xfrm>
          <a:prstGeom prst="rect">
            <a:avLst/>
          </a:prstGeom>
          <a:noFill/>
          <a:ln/>
        </p:spPr>
        <p:txBody>
          <a:bodyPr wrap="square" lIns="0" tIns="0" rIns="0" bIns="0" rtlCol="0" anchor="ctr"/>
          <a:lstStyle/>
          <a:p>
            <a:pPr marL="0" indent="0">
              <a:buNone/>
            </a:pPr>
            <a:r>
              <a:rPr lang="en-US" sz="1350" b="1" dirty="0">
                <a:solidFill>
                  <a:srgbClr val="FFFFFF"/>
                </a:solidFill>
              </a:rPr>
              <a:t>The Overdraft Trap:
</a:t>
            </a:r>
            <a:r>
              <a:rPr lang="en-US" sz="1250" dirty="0">
                <a:solidFill>
                  <a:srgbClr val="9A968D"/>
                </a:solidFill>
              </a:rPr>
              <a:t>Relying on emergency credit facilities costs 18% APR and signals regulatory distress. Overdraft cannot be a cost optimization strategy.</a:t>
            </a:r>
            <a:endParaRPr lang="en-US" sz="1350" dirty="0"/>
          </a:p>
        </p:txBody>
      </p:sp>
      <p:sp>
        <p:nvSpPr>
          <p:cNvPr id="15" name="Shape 12"/>
          <p:cNvSpPr/>
          <p:nvPr/>
        </p:nvSpPr>
        <p:spPr>
          <a:xfrm>
            <a:off x="6601968" y="2514600"/>
            <a:ext cx="5303520" cy="4434840"/>
          </a:xfrm>
          <a:prstGeom prst="roundRect">
            <a:avLst>
              <a:gd name="adj" fmla="val 1649"/>
            </a:avLst>
          </a:prstGeom>
          <a:solidFill>
            <a:srgbClr val="14171F"/>
          </a:solidFill>
          <a:ln w="12700">
            <a:solidFill>
              <a:srgbClr val="2A303C"/>
            </a:solidFill>
            <a:prstDash val="solid"/>
          </a:ln>
        </p:spPr>
      </p:sp>
      <p:sp>
        <p:nvSpPr>
          <p:cNvPr id="16" name="Text 13"/>
          <p:cNvSpPr txBox="1"/>
          <p:nvPr/>
        </p:nvSpPr>
        <p:spPr>
          <a:xfrm>
            <a:off x="6922008" y="2834640"/>
            <a:ext cx="4663440" cy="320040"/>
          </a:xfrm>
          <a:prstGeom prst="rect">
            <a:avLst/>
          </a:prstGeom>
          <a:noFill/>
          <a:ln/>
        </p:spPr>
        <p:txBody>
          <a:bodyPr wrap="square" lIns="0" tIns="0" rIns="0" bIns="0" rtlCol="0" anchor="ctr"/>
          <a:lstStyle/>
          <a:p>
            <a:pPr marL="0" indent="0">
              <a:buNone/>
            </a:pPr>
            <a:r>
              <a:rPr lang="en-US" sz="1500" b="1" kern="0" spc="100" dirty="0">
                <a:solidFill>
                  <a:srgbClr val="8AA68D"/>
                </a:solidFill>
                <a:latin typeface="Arial" pitchFamily="34" charset="0"/>
                <a:ea typeface="Arial" pitchFamily="34" charset="-122"/>
                <a:cs typeface="Arial" pitchFamily="34" charset="-120"/>
              </a:rPr>
              <a:t>VELOCITY &amp; ASYMMETRY IN THE DATA</a:t>
            </a:r>
            <a:endParaRPr lang="en-US" sz="1500" dirty="0"/>
          </a:p>
        </p:txBody>
      </p:sp>
      <p:sp>
        <p:nvSpPr>
          <p:cNvPr id="17" name="Text 14"/>
          <p:cNvSpPr txBox="1"/>
          <p:nvPr/>
        </p:nvSpPr>
        <p:spPr>
          <a:xfrm>
            <a:off x="6922008" y="3337560"/>
            <a:ext cx="4663440" cy="822960"/>
          </a:xfrm>
          <a:prstGeom prst="rect">
            <a:avLst/>
          </a:prstGeom>
          <a:noFill/>
          <a:ln/>
        </p:spPr>
        <p:txBody>
          <a:bodyPr wrap="square" lIns="0" tIns="0" rIns="0" bIns="0" rtlCol="0" anchor="ctr"/>
          <a:lstStyle/>
          <a:p>
            <a:pPr marL="0" indent="0">
              <a:buNone/>
            </a:pPr>
            <a:r>
              <a:rPr lang="en-US" sz="1350" b="1" dirty="0">
                <a:solidFill>
                  <a:srgbClr val="FFFFFF"/>
                </a:solidFill>
              </a:rPr>
              <a:t>Extreme Flow Velocity:
</a:t>
            </a:r>
            <a:r>
              <a:rPr lang="en-US" sz="1250" dirty="0">
                <a:solidFill>
                  <a:srgbClr val="9A968D"/>
                </a:solidFill>
              </a:rPr>
              <a:t>$20,000,000 gross hourly volume ($10.1M deposits / $10.4M withdrawals). Small estimation errors compound at multi-million scale.</a:t>
            </a:r>
            <a:endParaRPr lang="en-US" sz="1350" dirty="0"/>
          </a:p>
        </p:txBody>
      </p:sp>
      <p:sp>
        <p:nvSpPr>
          <p:cNvPr id="18" name="Text 15"/>
          <p:cNvSpPr txBox="1"/>
          <p:nvPr/>
        </p:nvSpPr>
        <p:spPr>
          <a:xfrm>
            <a:off x="6922008" y="4206240"/>
            <a:ext cx="4663440" cy="822960"/>
          </a:xfrm>
          <a:prstGeom prst="rect">
            <a:avLst/>
          </a:prstGeom>
          <a:noFill/>
          <a:ln/>
        </p:spPr>
        <p:txBody>
          <a:bodyPr wrap="square" lIns="0" tIns="0" rIns="0" bIns="0" rtlCol="0" anchor="ctr"/>
          <a:lstStyle/>
          <a:p>
            <a:pPr marL="0" indent="0">
              <a:buNone/>
            </a:pPr>
            <a:r>
              <a:rPr lang="en-US" sz="1350" b="1" dirty="0">
                <a:solidFill>
                  <a:srgbClr val="FFFFFF"/>
                </a:solidFill>
              </a:rPr>
              <a:t>Structural Outflow Drift:
</a:t>
            </a:r>
            <a:r>
              <a:rPr lang="en-US" sz="1250" dirty="0">
                <a:solidFill>
                  <a:srgbClr val="9A968D"/>
                </a:solidFill>
              </a:rPr>
              <a:t>Hourly net flow is negative 51.4% of the entire year. Cumulative net flow drifts down -$2.53B, steadily draining starting capital.</a:t>
            </a:r>
            <a:endParaRPr lang="en-US" sz="1350" dirty="0"/>
          </a:p>
        </p:txBody>
      </p:sp>
      <p:sp>
        <p:nvSpPr>
          <p:cNvPr id="19" name="Text 16"/>
          <p:cNvSpPr txBox="1"/>
          <p:nvPr/>
        </p:nvSpPr>
        <p:spPr>
          <a:xfrm>
            <a:off x="6922008" y="5074920"/>
            <a:ext cx="4663440" cy="822960"/>
          </a:xfrm>
          <a:prstGeom prst="rect">
            <a:avLst/>
          </a:prstGeom>
          <a:noFill/>
          <a:ln/>
        </p:spPr>
        <p:txBody>
          <a:bodyPr wrap="square" lIns="0" tIns="0" rIns="0" bIns="0" rtlCol="0" anchor="ctr"/>
          <a:lstStyle/>
          <a:p>
            <a:pPr marL="0" indent="0">
              <a:buNone/>
            </a:pPr>
            <a:r>
              <a:rPr lang="en-US" sz="1350" b="1" dirty="0">
                <a:solidFill>
                  <a:srgbClr val="FFFFFF"/>
                </a:solidFill>
              </a:rPr>
              <a:t>Day-of-Week Volatility Spike:
</a:t>
            </a:r>
            <a:r>
              <a:rPr lang="en-US" sz="1250" dirty="0">
                <a:solidFill>
                  <a:srgbClr val="9A968D"/>
                </a:solidFill>
              </a:rPr>
              <a:t>Friday &amp; Saturday overnight net drains average $27.8M and $31.7M (peaking at $46.7M) — over 4.5x larger than Wednesday ($5.9M)!</a:t>
            </a:r>
            <a:endParaRPr lang="en-US" sz="1350" dirty="0"/>
          </a:p>
        </p:txBody>
      </p:sp>
      <p:sp>
        <p:nvSpPr>
          <p:cNvPr id="20" name="Text 17"/>
          <p:cNvSpPr txBox="1"/>
          <p:nvPr/>
        </p:nvSpPr>
        <p:spPr>
          <a:xfrm>
            <a:off x="6922008" y="5943600"/>
            <a:ext cx="4663440" cy="822960"/>
          </a:xfrm>
          <a:prstGeom prst="rect">
            <a:avLst/>
          </a:prstGeom>
          <a:noFill/>
          <a:ln/>
        </p:spPr>
        <p:txBody>
          <a:bodyPr wrap="square" lIns="0" tIns="0" rIns="0" bIns="0" rtlCol="0" anchor="ctr"/>
          <a:lstStyle/>
          <a:p>
            <a:pPr marL="0" indent="0">
              <a:buNone/>
            </a:pPr>
            <a:r>
              <a:rPr lang="en-US" sz="1350" b="1" dirty="0">
                <a:solidFill>
                  <a:srgbClr val="FFFFFF"/>
                </a:solidFill>
              </a:rPr>
              <a:t>Why Simple Rules Fail:
</a:t>
            </a:r>
            <a:r>
              <a:rPr lang="en-US" sz="1250" dirty="0">
                <a:solidFill>
                  <a:srgbClr val="9A968D"/>
                </a:solidFill>
              </a:rPr>
              <a:t>A static buffer either leaves $14M+ idle on calm weekdays, or triggers repeated weekend defaults. Static buffers cannot adapt to regime asymmetry.</a:t>
            </a:r>
            <a:endParaRPr lang="en-US" sz="1350" dirty="0"/>
          </a:p>
        </p:txBody>
      </p:sp>
      <p:sp>
        <p:nvSpPr>
          <p:cNvPr id="21" name="Shape 18"/>
          <p:cNvSpPr/>
          <p:nvPr/>
        </p:nvSpPr>
        <p:spPr>
          <a:xfrm>
            <a:off x="12179808" y="2514600"/>
            <a:ext cx="5650992" cy="4434840"/>
          </a:xfrm>
          <a:prstGeom prst="roundRect">
            <a:avLst>
              <a:gd name="adj" fmla="val 1649"/>
            </a:avLst>
          </a:prstGeom>
          <a:solidFill>
            <a:srgbClr val="14171F"/>
          </a:solidFill>
          <a:ln w="12700">
            <a:solidFill>
              <a:srgbClr val="2A303C"/>
            </a:solidFill>
            <a:prstDash val="solid"/>
          </a:ln>
        </p:spPr>
      </p:sp>
      <p:sp>
        <p:nvSpPr>
          <p:cNvPr id="22" name="Text 19"/>
          <p:cNvSpPr txBox="1"/>
          <p:nvPr/>
        </p:nvSpPr>
        <p:spPr>
          <a:xfrm>
            <a:off x="12499848" y="2834640"/>
            <a:ext cx="4937760" cy="320040"/>
          </a:xfrm>
          <a:prstGeom prst="rect">
            <a:avLst/>
          </a:prstGeom>
          <a:noFill/>
          <a:ln/>
        </p:spPr>
        <p:txBody>
          <a:bodyPr wrap="square" lIns="0" tIns="0" rIns="0" bIns="0" rtlCol="0" anchor="ctr"/>
          <a:lstStyle/>
          <a:p>
            <a:pPr marL="0" indent="0">
              <a:buNone/>
            </a:pPr>
            <a:r>
              <a:rPr lang="en-US" sz="1500" b="1" kern="0" spc="100" dirty="0">
                <a:solidFill>
                  <a:srgbClr val="FFFFFF"/>
                </a:solidFill>
                <a:latin typeface="Arial" pitchFamily="34" charset="0"/>
                <a:ea typeface="Arial" pitchFamily="34" charset="-122"/>
                <a:cs typeface="Arial" pitchFamily="34" charset="-120"/>
              </a:rPr>
              <a:t>OBJECTIVE &amp; FAILURE MODES</a:t>
            </a:r>
            <a:endParaRPr lang="en-US" sz="1500" dirty="0"/>
          </a:p>
        </p:txBody>
      </p:sp>
      <p:sp>
        <p:nvSpPr>
          <p:cNvPr id="23" name="Text 20"/>
          <p:cNvSpPr txBox="1"/>
          <p:nvPr/>
        </p:nvSpPr>
        <p:spPr>
          <a:xfrm>
            <a:off x="12499848" y="3337560"/>
            <a:ext cx="4937760" cy="822960"/>
          </a:xfrm>
          <a:prstGeom prst="rect">
            <a:avLst/>
          </a:prstGeom>
          <a:noFill/>
          <a:ln/>
        </p:spPr>
        <p:txBody>
          <a:bodyPr wrap="square" lIns="0" tIns="0" rIns="0" bIns="0" rtlCol="0" anchor="ctr"/>
          <a:lstStyle/>
          <a:p>
            <a:pPr marL="0" indent="0">
              <a:buNone/>
            </a:pPr>
            <a:r>
              <a:rPr lang="en-US" sz="1350" b="1" dirty="0">
                <a:solidFill>
                  <a:srgbClr val="FFFFFF"/>
                </a:solidFill>
              </a:rPr>
              <a:t>The Mathematical Objective Function:
</a:t>
            </a:r>
            <a:r>
              <a:rPr lang="en-US" sz="1250" dirty="0">
                <a:solidFill>
                  <a:srgbClr val="9A968D"/>
                </a:solidFill>
              </a:rPr>
              <a:t>Min Total Cost of Liquidity = Foregone Idle Yield + Tier Break Penalties + Overdraft Interest + Liquidation Haircuts across 8,760 hours.</a:t>
            </a:r>
            <a:endParaRPr lang="en-US" sz="1350" dirty="0"/>
          </a:p>
        </p:txBody>
      </p:sp>
      <p:sp>
        <p:nvSpPr>
          <p:cNvPr id="24" name="Text 21"/>
          <p:cNvSpPr txBox="1"/>
          <p:nvPr/>
        </p:nvSpPr>
        <p:spPr>
          <a:xfrm>
            <a:off x="12499848" y="4206240"/>
            <a:ext cx="4937760" cy="822960"/>
          </a:xfrm>
          <a:prstGeom prst="rect">
            <a:avLst/>
          </a:prstGeom>
          <a:noFill/>
          <a:ln/>
        </p:spPr>
        <p:txBody>
          <a:bodyPr wrap="square" lIns="0" tIns="0" rIns="0" bIns="0" rtlCol="0" anchor="ctr"/>
          <a:lstStyle/>
          <a:p>
            <a:pPr marL="0" indent="0">
              <a:buNone/>
            </a:pPr>
            <a:r>
              <a:rPr lang="en-US" sz="1350" b="1" dirty="0">
                <a:solidFill>
                  <a:srgbClr val="FFFFFF"/>
                </a:solidFill>
              </a:rPr>
              <a:t>Hard Solvency Invariant:
</a:t>
            </a:r>
            <a:r>
              <a:rPr lang="en-US" sz="1250" dirty="0">
                <a:solidFill>
                  <a:srgbClr val="9A968D"/>
                </a:solidFill>
              </a:rPr>
              <a:t>Payout Success Rate = 100.0%. Every customer withdrawal and merchant settlement must be funded without delay or rejection.</a:t>
            </a:r>
            <a:endParaRPr lang="en-US" sz="1350" dirty="0"/>
          </a:p>
        </p:txBody>
      </p:sp>
      <p:sp>
        <p:nvSpPr>
          <p:cNvPr id="25" name="Text 22"/>
          <p:cNvSpPr txBox="1"/>
          <p:nvPr/>
        </p:nvSpPr>
        <p:spPr>
          <a:xfrm>
            <a:off x="12499848" y="5074920"/>
            <a:ext cx="4937760" cy="822960"/>
          </a:xfrm>
          <a:prstGeom prst="rect">
            <a:avLst/>
          </a:prstGeom>
          <a:noFill/>
          <a:ln/>
        </p:spPr>
        <p:txBody>
          <a:bodyPr wrap="square" lIns="0" tIns="0" rIns="0" bIns="0" rtlCol="0" anchor="ctr"/>
          <a:lstStyle/>
          <a:p>
            <a:pPr marL="0" indent="0">
              <a:buNone/>
            </a:pPr>
            <a:r>
              <a:rPr lang="en-US" sz="1350" b="1" dirty="0">
                <a:solidFill>
                  <a:srgbClr val="FFFFFF"/>
                </a:solidFill>
              </a:rPr>
              <a:t>Failure Mode 1: The Naive Sweeper:
</a:t>
            </a:r>
            <a:r>
              <a:rPr lang="en-US" sz="1250" dirty="0">
                <a:solidFill>
                  <a:srgbClr val="9A968D"/>
                </a:solidFill>
              </a:rPr>
              <a:t>Fixed % of gross or moving-average models ignore the 15h path accumulation, triggering dozens of emergency tier liquidations.</a:t>
            </a:r>
            <a:endParaRPr lang="en-US" sz="1350" dirty="0"/>
          </a:p>
        </p:txBody>
      </p:sp>
      <p:sp>
        <p:nvSpPr>
          <p:cNvPr id="26" name="Text 23"/>
          <p:cNvSpPr txBox="1"/>
          <p:nvPr/>
        </p:nvSpPr>
        <p:spPr>
          <a:xfrm>
            <a:off x="12499848" y="5943600"/>
            <a:ext cx="4937760" cy="822960"/>
          </a:xfrm>
          <a:prstGeom prst="rect">
            <a:avLst/>
          </a:prstGeom>
          <a:noFill/>
          <a:ln/>
        </p:spPr>
        <p:txBody>
          <a:bodyPr wrap="square" lIns="0" tIns="0" rIns="0" bIns="0" rtlCol="0" anchor="ctr"/>
          <a:lstStyle/>
          <a:p>
            <a:pPr marL="0" indent="0">
              <a:buNone/>
            </a:pPr>
            <a:r>
              <a:rPr lang="en-US" sz="1350" b="1" dirty="0">
                <a:solidFill>
                  <a:srgbClr val="FFFFFF"/>
                </a:solidFill>
              </a:rPr>
              <a:t>Failure Mode 2: Overdraft Trapped Bank:
</a:t>
            </a:r>
            <a:r>
              <a:rPr lang="en-US" sz="1250" dirty="0">
                <a:solidFill>
                  <a:srgbClr val="9A968D"/>
                </a:solidFill>
              </a:rPr>
              <a:t>Treating overdraft as cheap credit leads to capital depletion. Ballast enforces overdraft as a hard waterfall barrier of last resort.</a:t>
            </a:r>
            <a:endParaRPr lang="en-US" sz="1350" dirty="0"/>
          </a:p>
        </p:txBody>
      </p:sp>
      <p:sp>
        <p:nvSpPr>
          <p:cNvPr id="27" name="Shape 24"/>
          <p:cNvSpPr/>
          <p:nvPr/>
        </p:nvSpPr>
        <p:spPr>
          <a:xfrm>
            <a:off x="1024128" y="7178040"/>
            <a:ext cx="16806672" cy="2286000"/>
          </a:xfrm>
          <a:prstGeom prst="roundRect">
            <a:avLst>
              <a:gd name="adj" fmla="val 3200"/>
            </a:avLst>
          </a:prstGeom>
          <a:solidFill>
            <a:srgbClr val="0E1118"/>
          </a:solidFill>
          <a:ln w="12700">
            <a:solidFill>
              <a:srgbClr val="2A303C"/>
            </a:solidFill>
            <a:prstDash val="solid"/>
          </a:ln>
        </p:spPr>
      </p:sp>
      <p:pic>
        <p:nvPicPr>
          <p:cNvPr id="28" name="Image 1" descr="C:\Users\karti\AppData\Local\Temp\claude\c--Users-karti-repos-ballast\3a11dfef-fe11-4e04-8ecd-63ec54f071eb\scratchpad\deck\assets\ref_tooltip_raw.png"/>
          <p:cNvPicPr>
            <a:picLocks noChangeAspect="1"/>
          </p:cNvPicPr>
          <p:nvPr/>
        </p:nvPicPr>
        <p:blipFill>
          <a:blip r:embed="rId4"/>
          <a:stretch>
            <a:fillRect/>
          </a:stretch>
        </p:blipFill>
        <p:spPr>
          <a:xfrm>
            <a:off x="1188720" y="7315200"/>
            <a:ext cx="8778240" cy="2011680"/>
          </a:xfrm>
          <a:prstGeom prst="rect">
            <a:avLst/>
          </a:prstGeom>
        </p:spPr>
      </p:pic>
      <p:sp>
        <p:nvSpPr>
          <p:cNvPr id="29" name="Text 25"/>
          <p:cNvSpPr txBox="1"/>
          <p:nvPr/>
        </p:nvSpPr>
        <p:spPr>
          <a:xfrm>
            <a:off x="10241280" y="7452360"/>
            <a:ext cx="7315200" cy="274320"/>
          </a:xfrm>
          <a:prstGeom prst="rect">
            <a:avLst/>
          </a:prstGeom>
          <a:noFill/>
          <a:ln/>
        </p:spPr>
        <p:txBody>
          <a:bodyPr wrap="square" lIns="0" tIns="0" rIns="0" bIns="0" rtlCol="0" anchor="ctr"/>
          <a:lstStyle/>
          <a:p>
            <a:pPr marL="0" indent="0">
              <a:buNone/>
            </a:pPr>
            <a:r>
              <a:rPr lang="en-US" sz="1400" b="1" kern="0" spc="100" dirty="0">
                <a:solidFill>
                  <a:srgbClr val="C9A86A"/>
                </a:solidFill>
                <a:latin typeface="Arial" pitchFamily="34" charset="0"/>
                <a:ea typeface="Arial" pitchFamily="34" charset="-122"/>
                <a:cs typeface="Arial" pitchFamily="34" charset="-120"/>
              </a:rPr>
              <a:t>TRANSACTION VELOCITY AT A GLANCE (LIVE BENCHMARK)</a:t>
            </a:r>
            <a:endParaRPr lang="en-US" sz="1400" dirty="0"/>
          </a:p>
        </p:txBody>
      </p:sp>
      <p:sp>
        <p:nvSpPr>
          <p:cNvPr id="30" name="Text 26"/>
          <p:cNvSpPr txBox="1"/>
          <p:nvPr/>
        </p:nvSpPr>
        <p:spPr>
          <a:xfrm>
            <a:off x="10241280" y="7818120"/>
            <a:ext cx="7315200" cy="1371600"/>
          </a:xfrm>
          <a:prstGeom prst="rect">
            <a:avLst/>
          </a:prstGeom>
          <a:noFill/>
          <a:ln/>
        </p:spPr>
        <p:txBody>
          <a:bodyPr wrap="square" lIns="0" tIns="0" rIns="0" bIns="0" rtlCol="0" anchor="ctr"/>
          <a:lstStyle/>
          <a:p>
            <a:pPr marL="0" indent="0">
              <a:lnSpc>
                <a:spcPts val="2200"/>
              </a:lnSpc>
              <a:buNone/>
            </a:pPr>
            <a:r>
              <a:rPr lang="en-US" sz="1400" dirty="0">
                <a:solidFill>
                  <a:srgbClr val="ECE9E4"/>
                </a:solidFill>
                <a:latin typeface="Arial" pitchFamily="34" charset="0"/>
                <a:ea typeface="Arial" pitchFamily="34" charset="-122"/>
                <a:cs typeface="Arial" pitchFamily="34" charset="-120"/>
              </a:rPr>
              <a:t>Over 8,760 hours, the bank processed $88.8B in total deposits and $91.4B in total withdrawals — an annual net outflow of -$2.53B. The green line shows daily deposits fluctuating between $190M–$280M, while red withdrawals surge during paydays and holidays. Ballast ingests this raw series directly and protects against intraday drawdowns without look-ahead bias.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C:\Users\karti\AppData\Local\Temp\claude\c--Users-karti-repos-ballast\3a11dfef-fe11-4e04-8ecd-63ec54f071eb\scratchpad\deck\assets\bg_content.png"/>
          <p:cNvPicPr>
            <a:picLocks noChangeAspect="1"/>
          </p:cNvPicPr>
          <p:nvPr/>
        </p:nvPicPr>
        <p:blipFill>
          <a:blip r:embed="rId3"/>
          <a:stretch>
            <a:fillRect/>
          </a:stretch>
        </p:blipFill>
        <p:spPr>
          <a:xfrm>
            <a:off x="0" y="0"/>
            <a:ext cx="18859500" cy="10287000"/>
          </a:xfrm>
          <a:prstGeom prst="rect">
            <a:avLst/>
          </a:prstGeom>
        </p:spPr>
      </p:pic>
      <p:sp>
        <p:nvSpPr>
          <p:cNvPr id="3" name="Text 0"/>
          <p:cNvSpPr txBox="1"/>
          <p:nvPr/>
        </p:nvSpPr>
        <p:spPr>
          <a:xfrm>
            <a:off x="1024128" y="91440"/>
            <a:ext cx="10972800" cy="320040"/>
          </a:xfrm>
          <a:prstGeom prst="rect">
            <a:avLst/>
          </a:prstGeom>
          <a:noFill/>
          <a:ln/>
        </p:spPr>
        <p:txBody>
          <a:bodyPr wrap="square" lIns="0" tIns="0" rIns="0" bIns="0" rtlCol="0" anchor="ctr"/>
          <a:lstStyle/>
          <a:p>
            <a:pPr marL="0" indent="0">
              <a:buNone/>
            </a:pPr>
            <a:r>
              <a:rPr lang="en-US" sz="1500" b="1" kern="0" spc="200" dirty="0">
                <a:solidFill>
                  <a:srgbClr val="8AA68D"/>
                </a:solidFill>
                <a:latin typeface="Arial" pitchFamily="34" charset="0"/>
                <a:ea typeface="Arial" pitchFamily="34" charset="-122"/>
                <a:cs typeface="Arial" pitchFamily="34" charset="-120"/>
              </a:rPr>
              <a:t>SLIDE 3 : MODEL AND ALGORITHM</a:t>
            </a:r>
            <a:endParaRPr lang="en-US" sz="1500" dirty="0"/>
          </a:p>
        </p:txBody>
      </p:sp>
      <p:sp>
        <p:nvSpPr>
          <p:cNvPr id="4" name="Text 1"/>
          <p:cNvSpPr txBox="1"/>
          <p:nvPr/>
        </p:nvSpPr>
        <p:spPr>
          <a:xfrm>
            <a:off x="1024128" y="960120"/>
            <a:ext cx="16806672" cy="77724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PATH-MAX NEWSVENDOR FORMULATION &amp; 5-TIER WATERFALL</a:t>
            </a:r>
            <a:endParaRPr lang="en-US" sz="4000" dirty="0"/>
          </a:p>
        </p:txBody>
      </p:sp>
      <p:sp>
        <p:nvSpPr>
          <p:cNvPr id="5" name="Text 2"/>
          <p:cNvSpPr txBox="1"/>
          <p:nvPr/>
        </p:nvSpPr>
        <p:spPr>
          <a:xfrm>
            <a:off x="1024128" y="1783080"/>
            <a:ext cx="16806672" cy="502920"/>
          </a:xfrm>
          <a:prstGeom prst="rect">
            <a:avLst/>
          </a:prstGeom>
          <a:noFill/>
          <a:ln/>
        </p:spPr>
        <p:txBody>
          <a:bodyPr wrap="square" lIns="0" tIns="0" rIns="0" bIns="0" rtlCol="0" anchor="ctr"/>
          <a:lstStyle/>
          <a:p>
            <a:pPr marL="0" indent="0">
              <a:buNone/>
            </a:pPr>
            <a:r>
              <a:rPr lang="en-US" sz="2000" dirty="0">
                <a:solidFill>
                  <a:srgbClr val="C9A86A"/>
                </a:solidFill>
                <a:latin typeface="Arial" pitchFamily="34" charset="0"/>
                <a:ea typeface="Arial" pitchFamily="34" charset="-122"/>
                <a:cs typeface="Arial" pitchFamily="34" charset="-120"/>
              </a:rPr>
              <a:t>Why hourly variance models fail, how the 98.6% critical fractile is derived, and our cost-ordered liquidity hierarchy.</a:t>
            </a:r>
            <a:endParaRPr lang="en-US" sz="2000" dirty="0"/>
          </a:p>
        </p:txBody>
      </p:sp>
      <p:sp>
        <p:nvSpPr>
          <p:cNvPr id="6" name="Text 3"/>
          <p:cNvSpPr txBox="1"/>
          <p:nvPr/>
        </p:nvSpPr>
        <p:spPr>
          <a:xfrm>
            <a:off x="1024128" y="9738360"/>
            <a:ext cx="5486400" cy="320040"/>
          </a:xfrm>
          <a:prstGeom prst="rect">
            <a:avLst/>
          </a:prstGeom>
          <a:noFill/>
          <a:ln/>
        </p:spPr>
        <p:txBody>
          <a:bodyPr wrap="square" lIns="0" tIns="0" rIns="0" bIns="0" rtlCol="0" anchor="ctr"/>
          <a:lstStyle/>
          <a:p>
            <a:pPr marL="0" indent="0">
              <a:buNone/>
            </a:pPr>
            <a:r>
              <a:rPr lang="en-US" sz="1300" dirty="0">
                <a:solidFill>
                  <a:srgbClr val="5E5A53"/>
                </a:solidFill>
                <a:latin typeface="Arial" pitchFamily="34" charset="0"/>
                <a:ea typeface="Arial" pitchFamily="34" charset="-122"/>
                <a:cs typeface="Arial" pitchFamily="34" charset="-120"/>
              </a:rPr>
              <a:t>BALLAST  //  Autonomous Treasury Engine</a:t>
            </a:r>
            <a:endParaRPr lang="en-US" sz="1300" dirty="0"/>
          </a:p>
        </p:txBody>
      </p:sp>
      <p:sp>
        <p:nvSpPr>
          <p:cNvPr id="7" name="Text 4"/>
          <p:cNvSpPr txBox="1"/>
          <p:nvPr/>
        </p:nvSpPr>
        <p:spPr>
          <a:xfrm>
            <a:off x="6858000" y="9738360"/>
            <a:ext cx="5943600" cy="320040"/>
          </a:xfrm>
          <a:prstGeom prst="rect">
            <a:avLst/>
          </a:prstGeom>
          <a:noFill/>
          <a:ln/>
        </p:spPr>
        <p:txBody>
          <a:bodyPr wrap="square" lIns="0" tIns="0" rIns="0" bIns="0" rtlCol="0" anchor="ctr"/>
          <a:lstStyle/>
          <a:p>
            <a:pPr marL="0" indent="0" algn="ctr">
              <a:buNone/>
            </a:pPr>
            <a:r>
              <a:rPr lang="en-US" sz="1300" dirty="0">
                <a:solidFill>
                  <a:srgbClr val="5E5A53"/>
                </a:solidFill>
                <a:latin typeface="Arial" pitchFamily="34" charset="0"/>
                <a:ea typeface="Arial" pitchFamily="34" charset="-122"/>
                <a:cs typeface="Arial" pitchFamily="34" charset="-120"/>
              </a:rPr>
              <a:t>HackForge '26 Advanced Track  •  Problem: The Reserve Juggler</a:t>
            </a:r>
            <a:endParaRPr lang="en-US" sz="1300" dirty="0"/>
          </a:p>
        </p:txBody>
      </p:sp>
      <p:sp>
        <p:nvSpPr>
          <p:cNvPr id="8" name="Text 5"/>
          <p:cNvSpPr txBox="1"/>
          <p:nvPr/>
        </p:nvSpPr>
        <p:spPr>
          <a:xfrm>
            <a:off x="13258800" y="9738360"/>
            <a:ext cx="4572000" cy="320040"/>
          </a:xfrm>
          <a:prstGeom prst="rect">
            <a:avLst/>
          </a:prstGeom>
          <a:noFill/>
          <a:ln/>
        </p:spPr>
        <p:txBody>
          <a:bodyPr wrap="square" lIns="0" tIns="0" rIns="0" bIns="0" rtlCol="0" anchor="ctr"/>
          <a:lstStyle/>
          <a:p>
            <a:pPr marL="0" indent="0" algn="r">
              <a:buNone/>
            </a:pPr>
            <a:r>
              <a:rPr lang="en-US" sz="1300" dirty="0">
                <a:solidFill>
                  <a:srgbClr val="5E5A53"/>
                </a:solidFill>
                <a:latin typeface="Arial" pitchFamily="34" charset="0"/>
                <a:ea typeface="Arial" pitchFamily="34" charset="-122"/>
                <a:cs typeface="Arial" pitchFamily="34" charset="-120"/>
              </a:rPr>
              <a:t>Team globalhost  |  ballast.jkartik.in</a:t>
            </a:r>
            <a:endParaRPr lang="en-US" sz="1300" dirty="0"/>
          </a:p>
        </p:txBody>
      </p:sp>
      <p:sp>
        <p:nvSpPr>
          <p:cNvPr id="9" name="Shape 6"/>
          <p:cNvSpPr/>
          <p:nvPr/>
        </p:nvSpPr>
        <p:spPr>
          <a:xfrm>
            <a:off x="1024128" y="2514600"/>
            <a:ext cx="8412480" cy="6949440"/>
          </a:xfrm>
          <a:prstGeom prst="roundRect">
            <a:avLst>
              <a:gd name="adj" fmla="val 1053"/>
            </a:avLst>
          </a:prstGeom>
          <a:solidFill>
            <a:srgbClr val="14171F"/>
          </a:solidFill>
          <a:ln w="12700">
            <a:solidFill>
              <a:srgbClr val="2A303C"/>
            </a:solidFill>
            <a:prstDash val="solid"/>
          </a:ln>
        </p:spPr>
      </p:sp>
      <p:sp>
        <p:nvSpPr>
          <p:cNvPr id="10" name="Text 7"/>
          <p:cNvSpPr txBox="1"/>
          <p:nvPr/>
        </p:nvSpPr>
        <p:spPr>
          <a:xfrm>
            <a:off x="1344168" y="2788920"/>
            <a:ext cx="7772400" cy="320040"/>
          </a:xfrm>
          <a:prstGeom prst="rect">
            <a:avLst/>
          </a:prstGeom>
          <a:noFill/>
          <a:ln/>
        </p:spPr>
        <p:txBody>
          <a:bodyPr wrap="square" lIns="0" tIns="0" rIns="0" bIns="0" rtlCol="0" anchor="ctr"/>
          <a:lstStyle/>
          <a:p>
            <a:pPr marL="0" indent="0">
              <a:buNone/>
            </a:pPr>
            <a:r>
              <a:rPr lang="en-US" sz="1600" b="1" kern="0" spc="100" dirty="0">
                <a:solidFill>
                  <a:srgbClr val="C9A86A"/>
                </a:solidFill>
                <a:latin typeface="Arial" pitchFamily="34" charset="0"/>
                <a:ea typeface="Arial" pitchFamily="34" charset="-122"/>
                <a:cs typeface="Arial" pitchFamily="34" charset="-120"/>
              </a:rPr>
              <a:t>THE QUANTITATIVE ARCHITECTURE</a:t>
            </a:r>
            <a:endParaRPr lang="en-US" sz="1600" dirty="0"/>
          </a:p>
        </p:txBody>
      </p:sp>
      <p:sp>
        <p:nvSpPr>
          <p:cNvPr id="11" name="Text 8"/>
          <p:cNvSpPr txBox="1"/>
          <p:nvPr/>
        </p:nvSpPr>
        <p:spPr>
          <a:xfrm>
            <a:off x="1344168" y="3291840"/>
            <a:ext cx="7772400" cy="1371600"/>
          </a:xfrm>
          <a:prstGeom prst="rect">
            <a:avLst/>
          </a:prstGeom>
          <a:noFill/>
          <a:ln/>
        </p:spPr>
        <p:txBody>
          <a:bodyPr wrap="square" lIns="0" tIns="0" rIns="0" bIns="0" rtlCol="0" anchor="ctr"/>
          <a:lstStyle/>
          <a:p>
            <a:pPr marL="0" indent="0">
              <a:buNone/>
            </a:pPr>
            <a:r>
              <a:rPr lang="en-US" sz="1350" b="1" dirty="0">
                <a:solidFill>
                  <a:srgbClr val="FFFFFF"/>
                </a:solidFill>
              </a:rPr>
              <a:t>1. The Path-Max Risk Formulation (M_t):
</a:t>
            </a:r>
            <a:r>
              <a:rPr lang="en-US" sz="1200" dirty="0">
                <a:solidFill>
                  <a:srgbClr val="9A968D"/>
                </a:solidFill>
              </a:rPr>
              <a:t>Standard models size for hourly standard deviation or end-of-day balances. This fails because liquidity breaks happen at the intraday trough. Ballast defines risk as the maximum cumulative net drawdown across the 15-hour overnight window (17:00 to 08:00):</a:t>
            </a:r>
            <a:endParaRPr lang="en-US" sz="1350" dirty="0"/>
          </a:p>
          <a:p>
            <a:pPr marL="0" indent="0">
              <a:lnSpc>
                <a:spcPts val="1700"/>
              </a:lnSpc>
              <a:buNone/>
            </a:pPr>
            <a:r>
              <a:rPr lang="en-US" sz="1200" dirty="0">
                <a:solidFill>
                  <a:srgbClr val="9A968D"/>
                </a:solidFill>
              </a:rPr>
              <a:t>   M_t = max_{tau in [17:00, 08:00]} sum_{s=17}^{tau} (-net_flow_s)</a:t>
            </a:r>
            <a:endParaRPr lang="en-US" sz="1350" dirty="0"/>
          </a:p>
          <a:p>
            <a:pPr marL="0" indent="0">
              <a:lnSpc>
                <a:spcPts val="1700"/>
              </a:lnSpc>
              <a:buNone/>
            </a:pPr>
            <a:r>
              <a:rPr lang="en-US" sz="1200" dirty="0">
                <a:solidFill>
                  <a:srgbClr val="9A968D"/>
                </a:solidFill>
              </a:rPr>
              <a:t>If Tier 0 cash entering 17:00 &gt;= M_t, zero early breaks can occur.</a:t>
            </a:r>
            <a:endParaRPr lang="en-US" sz="1350" dirty="0"/>
          </a:p>
        </p:txBody>
      </p:sp>
      <p:sp>
        <p:nvSpPr>
          <p:cNvPr id="12" name="Text 9"/>
          <p:cNvSpPr txBox="1"/>
          <p:nvPr/>
        </p:nvSpPr>
        <p:spPr>
          <a:xfrm>
            <a:off x="1344168" y="4754880"/>
            <a:ext cx="7772400" cy="1371600"/>
          </a:xfrm>
          <a:prstGeom prst="rect">
            <a:avLst/>
          </a:prstGeom>
          <a:noFill/>
          <a:ln/>
        </p:spPr>
        <p:txBody>
          <a:bodyPr wrap="square" lIns="0" tIns="0" rIns="0" bIns="0" rtlCol="0" anchor="ctr"/>
          <a:lstStyle/>
          <a:p>
            <a:pPr marL="0" indent="0">
              <a:buNone/>
            </a:pPr>
            <a:r>
              <a:rPr lang="en-US" sz="1350" b="1" dirty="0">
                <a:solidFill>
                  <a:srgbClr val="FFFFFF"/>
                </a:solidFill>
              </a:rPr>
              <a:t>2. Asymmetric Newsvendor Fractile (q*):
</a:t>
            </a:r>
            <a:r>
              <a:rPr lang="en-US" sz="1200" dirty="0">
                <a:solidFill>
                  <a:srgbClr val="9A968D"/>
                </a:solidFill>
              </a:rPr>
              <a:t>We balance the cost of under-buffering (C_under = 0.50% break fee) against over-buffering (C_over = 15/8760 * 4.30% = 0.00736% foregone repo carry). The critical fractile equation gives:</a:t>
            </a:r>
            <a:endParaRPr lang="en-US" sz="1350" dirty="0"/>
          </a:p>
          <a:p>
            <a:pPr marL="0" indent="0">
              <a:lnSpc>
                <a:spcPts val="1700"/>
              </a:lnSpc>
              <a:buNone/>
            </a:pPr>
            <a:r>
              <a:rPr lang="en-US" sz="1200" dirty="0">
                <a:solidFill>
                  <a:srgbClr val="9A968D"/>
                </a:solidFill>
              </a:rPr>
              <a:t>   q* = C_under / (C_under + C_over) = 0.0050 / (0.0050 + 0.0000736) = 98.63%</a:t>
            </a:r>
            <a:endParaRPr lang="en-US" sz="1350" dirty="0"/>
          </a:p>
          <a:p>
            <a:pPr marL="0" indent="0">
              <a:lnSpc>
                <a:spcPts val="1700"/>
              </a:lnSpc>
              <a:buNone/>
            </a:pPr>
            <a:r>
              <a:rPr lang="en-US" sz="1200" dirty="0">
                <a:solidFill>
                  <a:srgbClr val="9A968D"/>
                </a:solidFill>
              </a:rPr>
              <a:t>The optimal cash buffer is the 98.63th empirical quantile of M_t.</a:t>
            </a:r>
            <a:endParaRPr lang="en-US" sz="1350" dirty="0"/>
          </a:p>
        </p:txBody>
      </p:sp>
      <p:sp>
        <p:nvSpPr>
          <p:cNvPr id="13" name="Text 10"/>
          <p:cNvSpPr txBox="1"/>
          <p:nvPr/>
        </p:nvSpPr>
        <p:spPr>
          <a:xfrm>
            <a:off x="1344168" y="6217920"/>
            <a:ext cx="7772400" cy="1371600"/>
          </a:xfrm>
          <a:prstGeom prst="rect">
            <a:avLst/>
          </a:prstGeom>
          <a:noFill/>
          <a:ln/>
        </p:spPr>
        <p:txBody>
          <a:bodyPr wrap="square" lIns="0" tIns="0" rIns="0" bIns="0" rtlCol="0" anchor="ctr"/>
          <a:lstStyle/>
          <a:p>
            <a:pPr marL="0" indent="0">
              <a:buNone/>
            </a:pPr>
            <a:r>
              <a:rPr lang="en-US" sz="1350" b="1" dirty="0">
                <a:solidFill>
                  <a:srgbClr val="FFFFFF"/>
                </a:solidFill>
              </a:rPr>
              <a:t>3. Day-of-Week Regime Conditioning:
</a:t>
            </a:r>
            <a:r>
              <a:rPr lang="en-US" sz="1200" dirty="0">
                <a:solidFill>
                  <a:srgbClr val="9A968D"/>
                </a:solidFill>
              </a:rPr>
              <a:t>Because M_t on weekends averages 4.5x higher than weekdays, Ballast conditions the empirical quantile on the calendar regime:</a:t>
            </a:r>
            <a:endParaRPr lang="en-US" sz="1350" dirty="0"/>
          </a:p>
          <a:p>
            <a:pPr marL="0" indent="0">
              <a:lnSpc>
                <a:spcPts val="1700"/>
              </a:lnSpc>
              <a:buNone/>
            </a:pPr>
            <a:r>
              <a:rPr lang="en-US" sz="1200" dirty="0">
                <a:solidFill>
                  <a:srgbClr val="9A968D"/>
                </a:solidFill>
              </a:rPr>
              <a:t>• Weekdays (Sun–Thu): Buffer target ~ $15.0M</a:t>
            </a:r>
            <a:endParaRPr lang="en-US" sz="1350" dirty="0"/>
          </a:p>
          <a:p>
            <a:pPr marL="0" indent="0">
              <a:lnSpc>
                <a:spcPts val="1700"/>
              </a:lnSpc>
              <a:buNone/>
            </a:pPr>
            <a:r>
              <a:rPr lang="en-US" sz="1200" dirty="0">
                <a:solidFill>
                  <a:srgbClr val="9A968D"/>
                </a:solidFill>
              </a:rPr>
              <a:t>• Weekends (Fri–Sat): Buffer target ~ $41.3M</a:t>
            </a:r>
            <a:endParaRPr lang="en-US" sz="1350" dirty="0"/>
          </a:p>
          <a:p>
            <a:pPr marL="0" indent="0">
              <a:lnSpc>
                <a:spcPts val="1700"/>
              </a:lnSpc>
              <a:buNone/>
            </a:pPr>
            <a:r>
              <a:rPr lang="en-US" sz="1200" dirty="0">
                <a:solidFill>
                  <a:srgbClr val="9A968D"/>
                </a:solidFill>
              </a:rPr>
              <a:t>At 17:00, Ballast sweeps exactly: Sweep = max(0, Cash_Available - Buffer).</a:t>
            </a:r>
            <a:endParaRPr lang="en-US" sz="1350" dirty="0"/>
          </a:p>
        </p:txBody>
      </p:sp>
      <p:sp>
        <p:nvSpPr>
          <p:cNvPr id="14" name="Text 11"/>
          <p:cNvSpPr txBox="1"/>
          <p:nvPr/>
        </p:nvSpPr>
        <p:spPr>
          <a:xfrm>
            <a:off x="1344168" y="7680960"/>
            <a:ext cx="7772400" cy="1371600"/>
          </a:xfrm>
          <a:prstGeom prst="rect">
            <a:avLst/>
          </a:prstGeom>
          <a:noFill/>
          <a:ln/>
        </p:spPr>
        <p:txBody>
          <a:bodyPr wrap="square" lIns="0" tIns="0" rIns="0" bIns="0" rtlCol="0" anchor="ctr"/>
          <a:lstStyle/>
          <a:p>
            <a:pPr marL="0" indent="0">
              <a:buNone/>
            </a:pPr>
            <a:r>
              <a:rPr lang="en-US" sz="1350" b="1" dirty="0">
                <a:solidFill>
                  <a:srgbClr val="FFFFFF"/>
                </a:solidFill>
              </a:rPr>
              <a:t>4. Structural No Look-Ahead Enforcement:
</a:t>
            </a:r>
            <a:r>
              <a:rPr lang="en-US" sz="1200" dirty="0">
                <a:solidFill>
                  <a:srgbClr val="9A968D"/>
                </a:solidFill>
              </a:rPr>
              <a:t>A decision at hour t may use only information strictly available before t. Enforced by construction through a Python HistoryView accessor that physically slices index &lt; t. Verified by mutation unit tests that prove zero future data leakage.</a:t>
            </a:r>
            <a:endParaRPr lang="en-US" sz="1350" dirty="0"/>
          </a:p>
        </p:txBody>
      </p:sp>
      <p:sp>
        <p:nvSpPr>
          <p:cNvPr id="15" name="Shape 12"/>
          <p:cNvSpPr/>
          <p:nvPr/>
        </p:nvSpPr>
        <p:spPr>
          <a:xfrm>
            <a:off x="9710928" y="2514600"/>
            <a:ext cx="8119872" cy="3337560"/>
          </a:xfrm>
          <a:prstGeom prst="roundRect">
            <a:avLst>
              <a:gd name="adj" fmla="val 2192"/>
            </a:avLst>
          </a:prstGeom>
          <a:solidFill>
            <a:srgbClr val="14171F"/>
          </a:solidFill>
          <a:ln w="12700">
            <a:solidFill>
              <a:srgbClr val="2A303C"/>
            </a:solidFill>
            <a:prstDash val="solid"/>
          </a:ln>
        </p:spPr>
      </p:sp>
      <p:pic>
        <p:nvPicPr>
          <p:cNvPr id="16" name="Image 1" descr="C:\Users\karti\AppData\Local\Temp\claude\c--Users-karti-repos-ballast\3a11dfef-fe11-4e04-8ecd-63ec54f071eb\scratchpad\deck\assets\ref_dow-section.png"/>
          <p:cNvPicPr>
            <a:picLocks noChangeAspect="1"/>
          </p:cNvPicPr>
          <p:nvPr/>
        </p:nvPicPr>
        <p:blipFill>
          <a:blip r:embed="rId4"/>
          <a:stretch>
            <a:fillRect/>
          </a:stretch>
        </p:blipFill>
        <p:spPr>
          <a:xfrm>
            <a:off x="9848088" y="2651760"/>
            <a:ext cx="7845552" cy="3063240"/>
          </a:xfrm>
          <a:prstGeom prst="rect">
            <a:avLst/>
          </a:prstGeom>
        </p:spPr>
      </p:pic>
      <p:sp>
        <p:nvSpPr>
          <p:cNvPr id="17" name="Shape 13"/>
          <p:cNvSpPr/>
          <p:nvPr/>
        </p:nvSpPr>
        <p:spPr>
          <a:xfrm>
            <a:off x="9710928" y="6080760"/>
            <a:ext cx="8119872" cy="3383280"/>
          </a:xfrm>
          <a:prstGeom prst="roundRect">
            <a:avLst>
              <a:gd name="adj" fmla="val 2162"/>
            </a:avLst>
          </a:prstGeom>
          <a:solidFill>
            <a:srgbClr val="14171F"/>
          </a:solidFill>
          <a:ln w="12700">
            <a:solidFill>
              <a:srgbClr val="2A303C"/>
            </a:solidFill>
            <a:prstDash val="solid"/>
          </a:ln>
        </p:spPr>
      </p:sp>
      <p:sp>
        <p:nvSpPr>
          <p:cNvPr id="18" name="Text 14"/>
          <p:cNvSpPr txBox="1"/>
          <p:nvPr/>
        </p:nvSpPr>
        <p:spPr>
          <a:xfrm>
            <a:off x="10030968" y="6309360"/>
            <a:ext cx="7498080" cy="274320"/>
          </a:xfrm>
          <a:prstGeom prst="rect">
            <a:avLst/>
          </a:prstGeom>
          <a:noFill/>
          <a:ln/>
        </p:spPr>
        <p:txBody>
          <a:bodyPr wrap="square" lIns="0" tIns="0" rIns="0" bIns="0" rtlCol="0" anchor="ctr"/>
          <a:lstStyle/>
          <a:p>
            <a:pPr marL="0" indent="0">
              <a:buNone/>
            </a:pPr>
            <a:r>
              <a:rPr lang="en-US" sz="1500" b="1" kern="0" spc="100" dirty="0">
                <a:solidFill>
                  <a:srgbClr val="8AA68D"/>
                </a:solidFill>
                <a:latin typeface="Arial" pitchFamily="34" charset="0"/>
                <a:ea typeface="Arial" pitchFamily="34" charset="-122"/>
                <a:cs typeface="Arial" pitchFamily="34" charset="-120"/>
              </a:rPr>
              <a:t>THE COST-ORDERED FUNDING WATERFALL</a:t>
            </a:r>
            <a:endParaRPr lang="en-US" sz="1500" dirty="0"/>
          </a:p>
        </p:txBody>
      </p:sp>
      <p:sp>
        <p:nvSpPr>
          <p:cNvPr id="19" name="Text 15"/>
          <p:cNvSpPr txBox="1"/>
          <p:nvPr/>
        </p:nvSpPr>
        <p:spPr>
          <a:xfrm>
            <a:off x="10030968" y="6675120"/>
            <a:ext cx="7498080" cy="457200"/>
          </a:xfrm>
          <a:prstGeom prst="rect">
            <a:avLst/>
          </a:prstGeom>
          <a:noFill/>
          <a:ln/>
        </p:spPr>
        <p:txBody>
          <a:bodyPr wrap="square" lIns="0" tIns="0" rIns="0" bIns="0" rtlCol="0" anchor="ctr"/>
          <a:lstStyle/>
          <a:p>
            <a:pPr marL="0" indent="0">
              <a:buNone/>
            </a:pPr>
            <a:r>
              <a:rPr lang="en-US" sz="1300" b="1" dirty="0">
                <a:solidFill>
                  <a:srgbClr val="FFFFFF"/>
                </a:solidFill>
              </a:rPr>
              <a:t>Tier 0: Operating Cash  (0.0% APY)  —  Fee: 0 bps fee
</a:t>
            </a:r>
            <a:r>
              <a:rPr lang="en-US" sz="1200" dirty="0">
                <a:solidFill>
                  <a:srgbClr val="9A968D"/>
                </a:solidFill>
              </a:rPr>
              <a:t>Instant buffer, absorbs normal intraday transactions</a:t>
            </a:r>
            <a:endParaRPr lang="en-US" sz="1300" dirty="0"/>
          </a:p>
        </p:txBody>
      </p:sp>
      <p:sp>
        <p:nvSpPr>
          <p:cNvPr id="20" name="Text 16"/>
          <p:cNvSpPr txBox="1"/>
          <p:nvPr/>
        </p:nvSpPr>
        <p:spPr>
          <a:xfrm>
            <a:off x="10030968" y="7168896"/>
            <a:ext cx="7498080" cy="457200"/>
          </a:xfrm>
          <a:prstGeom prst="rect">
            <a:avLst/>
          </a:prstGeom>
          <a:noFill/>
          <a:ln/>
        </p:spPr>
        <p:txBody>
          <a:bodyPr wrap="square" lIns="0" tIns="0" rIns="0" bIns="0" rtlCol="0" anchor="ctr"/>
          <a:lstStyle/>
          <a:p>
            <a:pPr marL="0" indent="0">
              <a:buNone/>
            </a:pPr>
            <a:r>
              <a:rPr lang="en-US" sz="1300" b="1" dirty="0">
                <a:solidFill>
                  <a:srgbClr val="FFFFFF"/>
                </a:solidFill>
              </a:rPr>
              <a:t>Tier 1: Overnight Repo  (4.30% APY)  —  Fee: 50 bps penalty
</a:t>
            </a:r>
            <a:r>
              <a:rPr lang="en-US" sz="1200" dirty="0">
                <a:solidFill>
                  <a:srgbClr val="9A968D"/>
                </a:solidFill>
              </a:rPr>
              <a:t>Primary yield engine, locked 17:00–08:00 (broken only under surge)</a:t>
            </a:r>
            <a:endParaRPr lang="en-US" sz="1300" dirty="0"/>
          </a:p>
        </p:txBody>
      </p:sp>
      <p:sp>
        <p:nvSpPr>
          <p:cNvPr id="21" name="Text 17"/>
          <p:cNvSpPr txBox="1"/>
          <p:nvPr/>
        </p:nvSpPr>
        <p:spPr>
          <a:xfrm>
            <a:off x="10030968" y="7662672"/>
            <a:ext cx="7498080" cy="457200"/>
          </a:xfrm>
          <a:prstGeom prst="rect">
            <a:avLst/>
          </a:prstGeom>
          <a:noFill/>
          <a:ln/>
        </p:spPr>
        <p:txBody>
          <a:bodyPr wrap="square" lIns="0" tIns="0" rIns="0" bIns="0" rtlCol="0" anchor="ctr"/>
          <a:lstStyle/>
          <a:p>
            <a:pPr marL="0" indent="0">
              <a:buNone/>
            </a:pPr>
            <a:r>
              <a:rPr lang="en-US" sz="1300" b="1" dirty="0">
                <a:solidFill>
                  <a:srgbClr val="FFFFFF"/>
                </a:solidFill>
              </a:rPr>
              <a:t>Tier 2: Treasury Bonds  (4.75% Yield)  —  Fee: 200 bps haircut
</a:t>
            </a:r>
            <a:r>
              <a:rPr lang="en-US" sz="1200" dirty="0">
                <a:solidFill>
                  <a:srgbClr val="9A968D"/>
                </a:solidFill>
              </a:rPr>
              <a:t>Strategic core liquidity (tested &amp; disabled by default — see Slide 7)</a:t>
            </a:r>
            <a:endParaRPr lang="en-US" sz="1300" dirty="0"/>
          </a:p>
        </p:txBody>
      </p:sp>
      <p:sp>
        <p:nvSpPr>
          <p:cNvPr id="22" name="Text 18"/>
          <p:cNvSpPr txBox="1"/>
          <p:nvPr/>
        </p:nvSpPr>
        <p:spPr>
          <a:xfrm>
            <a:off x="10030968" y="8156448"/>
            <a:ext cx="7498080" cy="457200"/>
          </a:xfrm>
          <a:prstGeom prst="rect">
            <a:avLst/>
          </a:prstGeom>
          <a:noFill/>
          <a:ln/>
        </p:spPr>
        <p:txBody>
          <a:bodyPr wrap="square" lIns="0" tIns="0" rIns="0" bIns="0" rtlCol="0" anchor="ctr"/>
          <a:lstStyle/>
          <a:p>
            <a:pPr marL="0" indent="0">
              <a:buNone/>
            </a:pPr>
            <a:r>
              <a:rPr lang="en-US" sz="1300" b="1" dirty="0">
                <a:solidFill>
                  <a:srgbClr val="FFFFFF"/>
                </a:solidFill>
              </a:rPr>
              <a:t>Tier 3: Strategic Equity  (10.0% Return)  —  Fee: 1,500 bps haircut
</a:t>
            </a:r>
            <a:r>
              <a:rPr lang="en-US" sz="1200" dirty="0">
                <a:solidFill>
                  <a:srgbClr val="9A968D"/>
                </a:solidFill>
              </a:rPr>
              <a:t>Surplus buffer, locked against emergency liquidation</a:t>
            </a:r>
            <a:endParaRPr lang="en-US" sz="1300" dirty="0"/>
          </a:p>
        </p:txBody>
      </p:sp>
      <p:sp>
        <p:nvSpPr>
          <p:cNvPr id="23" name="Text 19"/>
          <p:cNvSpPr txBox="1"/>
          <p:nvPr/>
        </p:nvSpPr>
        <p:spPr>
          <a:xfrm>
            <a:off x="10030968" y="8650224"/>
            <a:ext cx="7498080" cy="457200"/>
          </a:xfrm>
          <a:prstGeom prst="rect">
            <a:avLst/>
          </a:prstGeom>
          <a:noFill/>
          <a:ln/>
        </p:spPr>
        <p:txBody>
          <a:bodyPr wrap="square" lIns="0" tIns="0" rIns="0" bIns="0" rtlCol="0" anchor="ctr"/>
          <a:lstStyle/>
          <a:p>
            <a:pPr marL="0" indent="0">
              <a:buNone/>
            </a:pPr>
            <a:r>
              <a:rPr lang="en-US" sz="1300" b="1" dirty="0">
                <a:solidFill>
                  <a:srgbClr val="FFFFFF"/>
                </a:solidFill>
              </a:rPr>
              <a:t>Emergency Credit Line  (N/A)  —  Fee: 18.0% APR
</a:t>
            </a:r>
            <a:r>
              <a:rPr lang="en-US" sz="1200" dirty="0">
                <a:solidFill>
                  <a:srgbClr val="9A968D"/>
                </a:solidFill>
              </a:rPr>
              <a:t>Overdraft facility of last resort, strictly post-waterfall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C:\Users\karti\AppData\Local\Temp\claude\c--Users-karti-repos-ballast\3a11dfef-fe11-4e04-8ecd-63ec54f071eb\scratchpad\deck\assets\bg_content.png"/>
          <p:cNvPicPr>
            <a:picLocks noChangeAspect="1"/>
          </p:cNvPicPr>
          <p:nvPr/>
        </p:nvPicPr>
        <p:blipFill>
          <a:blip r:embed="rId3"/>
          <a:stretch>
            <a:fillRect/>
          </a:stretch>
        </p:blipFill>
        <p:spPr>
          <a:xfrm>
            <a:off x="0" y="0"/>
            <a:ext cx="18859500" cy="10287000"/>
          </a:xfrm>
          <a:prstGeom prst="rect">
            <a:avLst/>
          </a:prstGeom>
        </p:spPr>
      </p:pic>
      <p:sp>
        <p:nvSpPr>
          <p:cNvPr id="3" name="Text 0"/>
          <p:cNvSpPr txBox="1"/>
          <p:nvPr/>
        </p:nvSpPr>
        <p:spPr>
          <a:xfrm>
            <a:off x="1024128" y="160020"/>
            <a:ext cx="10972800" cy="320040"/>
          </a:xfrm>
          <a:prstGeom prst="rect">
            <a:avLst/>
          </a:prstGeom>
          <a:noFill/>
          <a:ln/>
        </p:spPr>
        <p:txBody>
          <a:bodyPr wrap="square" lIns="0" tIns="0" rIns="0" bIns="0" rtlCol="0" anchor="ctr"/>
          <a:lstStyle/>
          <a:p>
            <a:pPr marL="0" indent="0">
              <a:buNone/>
            </a:pPr>
            <a:r>
              <a:rPr lang="en-US" sz="1500" b="1" kern="0" spc="200" dirty="0">
                <a:solidFill>
                  <a:srgbClr val="8AA68D"/>
                </a:solidFill>
                <a:latin typeface="Arial" pitchFamily="34" charset="0"/>
                <a:ea typeface="Arial" pitchFamily="34" charset="-122"/>
                <a:cs typeface="Arial" pitchFamily="34" charset="-120"/>
              </a:rPr>
              <a:t>SLIDE 4 : HANDLING UNCERTAINTY AND EDGE CASES</a:t>
            </a:r>
            <a:endParaRPr lang="en-US" sz="1500" dirty="0"/>
          </a:p>
        </p:txBody>
      </p:sp>
      <p:sp>
        <p:nvSpPr>
          <p:cNvPr id="4" name="Text 1"/>
          <p:cNvSpPr txBox="1"/>
          <p:nvPr/>
        </p:nvSpPr>
        <p:spPr>
          <a:xfrm>
            <a:off x="1024128" y="960120"/>
            <a:ext cx="16806672" cy="77724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ANOMALY CLASSIFICATION, STRESS LAB, &amp; CAPITAL ADEQUACY</a:t>
            </a:r>
            <a:endParaRPr lang="en-US" sz="4000" dirty="0"/>
          </a:p>
        </p:txBody>
      </p:sp>
      <p:sp>
        <p:nvSpPr>
          <p:cNvPr id="5" name="Text 2"/>
          <p:cNvSpPr txBox="1"/>
          <p:nvPr/>
        </p:nvSpPr>
        <p:spPr>
          <a:xfrm>
            <a:off x="1024128" y="1783080"/>
            <a:ext cx="16806672" cy="502920"/>
          </a:xfrm>
          <a:prstGeom prst="rect">
            <a:avLst/>
          </a:prstGeom>
          <a:noFill/>
          <a:ln/>
        </p:spPr>
        <p:txBody>
          <a:bodyPr wrap="square" lIns="0" tIns="0" rIns="0" bIns="0" rtlCol="0" anchor="ctr"/>
          <a:lstStyle/>
          <a:p>
            <a:pPr marL="0" indent="0">
              <a:buNone/>
            </a:pPr>
            <a:r>
              <a:rPr lang="en-US" sz="2000" dirty="0">
                <a:solidFill>
                  <a:srgbClr val="C9A86A"/>
                </a:solidFill>
                <a:latin typeface="Arial" pitchFamily="34" charset="0"/>
                <a:ea typeface="Arial" pitchFamily="34" charset="-122"/>
                <a:cs typeface="Arial" pitchFamily="34" charset="-120"/>
              </a:rPr>
              <a:t>How Ballast classifies calendar spikes, absorbs macro shocks via reverse stress search, and isolates capital from forecast error.</a:t>
            </a:r>
            <a:endParaRPr lang="en-US" sz="2000" dirty="0"/>
          </a:p>
        </p:txBody>
      </p:sp>
      <p:sp>
        <p:nvSpPr>
          <p:cNvPr id="6" name="Text 3"/>
          <p:cNvSpPr txBox="1"/>
          <p:nvPr/>
        </p:nvSpPr>
        <p:spPr>
          <a:xfrm>
            <a:off x="1024128" y="9738360"/>
            <a:ext cx="5486400" cy="320040"/>
          </a:xfrm>
          <a:prstGeom prst="rect">
            <a:avLst/>
          </a:prstGeom>
          <a:noFill/>
          <a:ln/>
        </p:spPr>
        <p:txBody>
          <a:bodyPr wrap="square" lIns="0" tIns="0" rIns="0" bIns="0" rtlCol="0" anchor="ctr"/>
          <a:lstStyle/>
          <a:p>
            <a:pPr marL="0" indent="0">
              <a:buNone/>
            </a:pPr>
            <a:r>
              <a:rPr lang="en-US" sz="1300" dirty="0">
                <a:solidFill>
                  <a:srgbClr val="5E5A53"/>
                </a:solidFill>
                <a:latin typeface="Arial" pitchFamily="34" charset="0"/>
                <a:ea typeface="Arial" pitchFamily="34" charset="-122"/>
                <a:cs typeface="Arial" pitchFamily="34" charset="-120"/>
              </a:rPr>
              <a:t>BALLAST  //  Autonomous Treasury Engine</a:t>
            </a:r>
            <a:endParaRPr lang="en-US" sz="1300" dirty="0"/>
          </a:p>
        </p:txBody>
      </p:sp>
      <p:sp>
        <p:nvSpPr>
          <p:cNvPr id="7" name="Text 4"/>
          <p:cNvSpPr txBox="1"/>
          <p:nvPr/>
        </p:nvSpPr>
        <p:spPr>
          <a:xfrm>
            <a:off x="6858000" y="9738360"/>
            <a:ext cx="5943600" cy="320040"/>
          </a:xfrm>
          <a:prstGeom prst="rect">
            <a:avLst/>
          </a:prstGeom>
          <a:noFill/>
          <a:ln/>
        </p:spPr>
        <p:txBody>
          <a:bodyPr wrap="square" lIns="0" tIns="0" rIns="0" bIns="0" rtlCol="0" anchor="ctr"/>
          <a:lstStyle/>
          <a:p>
            <a:pPr marL="0" indent="0" algn="ctr">
              <a:buNone/>
            </a:pPr>
            <a:r>
              <a:rPr lang="en-US" sz="1300" dirty="0">
                <a:solidFill>
                  <a:srgbClr val="5E5A53"/>
                </a:solidFill>
                <a:latin typeface="Arial" pitchFamily="34" charset="0"/>
                <a:ea typeface="Arial" pitchFamily="34" charset="-122"/>
                <a:cs typeface="Arial" pitchFamily="34" charset="-120"/>
              </a:rPr>
              <a:t>HackForge '26 Advanced Track  •  Problem: The Reserve Juggler</a:t>
            </a:r>
            <a:endParaRPr lang="en-US" sz="1300" dirty="0"/>
          </a:p>
        </p:txBody>
      </p:sp>
      <p:sp>
        <p:nvSpPr>
          <p:cNvPr id="8" name="Text 5"/>
          <p:cNvSpPr txBox="1"/>
          <p:nvPr/>
        </p:nvSpPr>
        <p:spPr>
          <a:xfrm>
            <a:off x="13258800" y="9738360"/>
            <a:ext cx="4572000" cy="320040"/>
          </a:xfrm>
          <a:prstGeom prst="rect">
            <a:avLst/>
          </a:prstGeom>
          <a:noFill/>
          <a:ln/>
        </p:spPr>
        <p:txBody>
          <a:bodyPr wrap="square" lIns="0" tIns="0" rIns="0" bIns="0" rtlCol="0" anchor="ctr"/>
          <a:lstStyle/>
          <a:p>
            <a:pPr marL="0" indent="0" algn="r">
              <a:buNone/>
            </a:pPr>
            <a:r>
              <a:rPr lang="en-US" sz="1300" dirty="0">
                <a:solidFill>
                  <a:srgbClr val="5E5A53"/>
                </a:solidFill>
                <a:latin typeface="Arial" pitchFamily="34" charset="0"/>
                <a:ea typeface="Arial" pitchFamily="34" charset="-122"/>
                <a:cs typeface="Arial" pitchFamily="34" charset="-120"/>
              </a:rPr>
              <a:t>Team globalhost  |  ballast.jkartik.in</a:t>
            </a:r>
            <a:endParaRPr lang="en-US" sz="1300" dirty="0"/>
          </a:p>
        </p:txBody>
      </p:sp>
      <p:sp>
        <p:nvSpPr>
          <p:cNvPr id="9" name="Shape 6"/>
          <p:cNvSpPr/>
          <p:nvPr/>
        </p:nvSpPr>
        <p:spPr>
          <a:xfrm>
            <a:off x="1024128" y="2514600"/>
            <a:ext cx="8229600" cy="6949440"/>
          </a:xfrm>
          <a:prstGeom prst="roundRect">
            <a:avLst>
              <a:gd name="adj" fmla="val 1053"/>
            </a:avLst>
          </a:prstGeom>
          <a:solidFill>
            <a:srgbClr val="14171F"/>
          </a:solidFill>
          <a:ln w="12700">
            <a:solidFill>
              <a:srgbClr val="2A303C"/>
            </a:solidFill>
            <a:prstDash val="solid"/>
          </a:ln>
        </p:spPr>
      </p:sp>
      <p:sp>
        <p:nvSpPr>
          <p:cNvPr id="10" name="Text 7"/>
          <p:cNvSpPr txBox="1"/>
          <p:nvPr/>
        </p:nvSpPr>
        <p:spPr>
          <a:xfrm>
            <a:off x="1344168" y="2788920"/>
            <a:ext cx="7589520" cy="320040"/>
          </a:xfrm>
          <a:prstGeom prst="rect">
            <a:avLst/>
          </a:prstGeom>
          <a:noFill/>
          <a:ln/>
        </p:spPr>
        <p:txBody>
          <a:bodyPr wrap="square" lIns="0" tIns="0" rIns="0" bIns="0" rtlCol="0" anchor="ctr"/>
          <a:lstStyle/>
          <a:p>
            <a:pPr marL="0" indent="0">
              <a:buNone/>
            </a:pPr>
            <a:r>
              <a:rPr lang="en-US" sz="1600" b="1" kern="0" spc="100" dirty="0">
                <a:solidFill>
                  <a:srgbClr val="C9A86A"/>
                </a:solidFill>
                <a:latin typeface="Arial" pitchFamily="34" charset="0"/>
                <a:ea typeface="Arial" pitchFamily="34" charset="-122"/>
                <a:cs typeface="Arial" pitchFamily="34" charset="-120"/>
              </a:rPr>
              <a:t>CHAOS, UNCERTAINTY &amp; ROBUSTNESS</a:t>
            </a:r>
            <a:endParaRPr lang="en-US" sz="1600" dirty="0"/>
          </a:p>
        </p:txBody>
      </p:sp>
      <p:sp>
        <p:nvSpPr>
          <p:cNvPr id="11" name="Text 8"/>
          <p:cNvSpPr txBox="1"/>
          <p:nvPr/>
        </p:nvSpPr>
        <p:spPr>
          <a:xfrm>
            <a:off x="1344168" y="3291840"/>
            <a:ext cx="7589520" cy="1371600"/>
          </a:xfrm>
          <a:prstGeom prst="rect">
            <a:avLst/>
          </a:prstGeom>
          <a:noFill/>
          <a:ln/>
        </p:spPr>
        <p:txBody>
          <a:bodyPr wrap="square" lIns="0" tIns="0" rIns="0" bIns="0" rtlCol="0" anchor="ctr"/>
          <a:lstStyle/>
          <a:p>
            <a:pPr marL="0" indent="0">
              <a:buNone/>
            </a:pPr>
            <a:r>
              <a:rPr lang="en-US" sz="1350" b="1" dirty="0">
                <a:solidFill>
                  <a:srgbClr val="FFFFFF"/>
                </a:solidFill>
              </a:rPr>
              <a:t>1. Automated Calendar Anomaly Classification:
</a:t>
            </a:r>
            <a:r>
              <a:rPr lang="en-US" sz="1200" dirty="0">
                <a:solidFill>
                  <a:srgbClr val="9A968D"/>
                </a:solidFill>
              </a:rPr>
              <a:t>Ballast scans volume against historical rolling quantiles to classify spikes without hardcoding specific calendar dates:</a:t>
            </a:r>
            <a:endParaRPr lang="en-US" sz="1350" dirty="0"/>
          </a:p>
          <a:p>
            <a:pPr marL="0" indent="0">
              <a:lnSpc>
                <a:spcPts val="1700"/>
              </a:lnSpc>
              <a:buNone/>
            </a:pPr>
            <a:r>
              <a:rPr lang="en-US" sz="1200" dirty="0">
                <a:solidFill>
                  <a:srgbClr val="9A968D"/>
                </a:solidFill>
              </a:rPr>
              <a:t>• 8 Payday Inflows: 1st, 15th, or last business day payroll surges.</a:t>
            </a:r>
            <a:endParaRPr lang="en-US" sz="1350" dirty="0"/>
          </a:p>
          <a:p>
            <a:pPr marL="0" indent="0">
              <a:lnSpc>
                <a:spcPts val="1700"/>
              </a:lnSpc>
              <a:buNone/>
            </a:pPr>
            <a:r>
              <a:rPr lang="en-US" sz="1200" dirty="0">
                <a:solidFill>
                  <a:srgbClr val="9A968D"/>
                </a:solidFill>
              </a:rPr>
              <a:t>• 5 Weekend Outflows: Friday/Saturday consumer transaction bursts.</a:t>
            </a:r>
            <a:endParaRPr lang="en-US" sz="1350" dirty="0"/>
          </a:p>
          <a:p>
            <a:pPr marL="0" indent="0">
              <a:lnSpc>
                <a:spcPts val="1700"/>
              </a:lnSpc>
              <a:buNone/>
            </a:pPr>
            <a:r>
              <a:rPr lang="en-US" sz="1200" dirty="0">
                <a:solidFill>
                  <a:srgbClr val="9A968D"/>
                </a:solidFill>
              </a:rPr>
              <a:t>• 1 Unclassified Macro Anomaly: Isolated single-hour outlier.</a:t>
            </a:r>
            <a:endParaRPr lang="en-US" sz="1350" dirty="0"/>
          </a:p>
          <a:p>
            <a:pPr marL="0" indent="0">
              <a:lnSpc>
                <a:spcPts val="1700"/>
              </a:lnSpc>
              <a:buNone/>
            </a:pPr>
            <a:r>
              <a:rPr lang="en-US" sz="1200" dirty="0">
                <a:solidFill>
                  <a:srgbClr val="9A968D"/>
                </a:solidFill>
              </a:rPr>
              <a:t>Generalizes automatically to any new period or bank book uploaded.</a:t>
            </a:r>
            <a:endParaRPr lang="en-US" sz="1350" dirty="0"/>
          </a:p>
        </p:txBody>
      </p:sp>
      <p:sp>
        <p:nvSpPr>
          <p:cNvPr id="12" name="Text 9"/>
          <p:cNvSpPr txBox="1"/>
          <p:nvPr/>
        </p:nvSpPr>
        <p:spPr>
          <a:xfrm>
            <a:off x="1344168" y="4754880"/>
            <a:ext cx="7589520" cy="1371600"/>
          </a:xfrm>
          <a:prstGeom prst="rect">
            <a:avLst/>
          </a:prstGeom>
          <a:noFill/>
          <a:ln/>
        </p:spPr>
        <p:txBody>
          <a:bodyPr wrap="square" lIns="0" tIns="0" rIns="0" bIns="0" rtlCol="0" anchor="ctr"/>
          <a:lstStyle/>
          <a:p>
            <a:pPr marL="0" indent="0">
              <a:buNone/>
            </a:pPr>
            <a:r>
              <a:rPr lang="en-US" sz="1350" b="1" dirty="0">
                <a:solidFill>
                  <a:srgbClr val="FFFFFF"/>
                </a:solidFill>
              </a:rPr>
              <a:t>2. The 66 Capital-Constrained Nights Discovery:
</a:t>
            </a:r>
            <a:r>
              <a:rPr lang="en-US" sz="1200" dirty="0">
                <a:solidFill>
                  <a:srgbClr val="9A968D"/>
                </a:solidFill>
              </a:rPr>
              <a:t>A crucial finding from our mathematical audit: on 66 of 364 nights, even a perfect-foresight Oracle experienced overdrafts!</a:t>
            </a:r>
            <a:endParaRPr lang="en-US" sz="1350" dirty="0"/>
          </a:p>
          <a:p>
            <a:pPr marL="0" indent="0">
              <a:lnSpc>
                <a:spcPts val="1700"/>
              </a:lnSpc>
              <a:buNone/>
            </a:pPr>
            <a:r>
              <a:rPr lang="en-US" sz="1200" dirty="0">
                <a:solidFill>
                  <a:srgbClr val="9A968D"/>
                </a:solidFill>
              </a:rPr>
              <a:t>• Root Cause: Due to the -$2.53B cumulative deposit decline, Tier 0 cash entering 17:00 was literally $0.</a:t>
            </a:r>
            <a:endParaRPr lang="en-US" sz="1350" dirty="0"/>
          </a:p>
          <a:p>
            <a:pPr marL="0" indent="0">
              <a:lnSpc>
                <a:spcPts val="1700"/>
              </a:lnSpc>
              <a:buNone/>
            </a:pPr>
            <a:r>
              <a:rPr lang="en-US" sz="1200" dirty="0">
                <a:solidFill>
                  <a:srgbClr val="9A968D"/>
                </a:solidFill>
              </a:rPr>
              <a:t>• Institutional Takeaway: This is a balance-sheet capital adequacy condition, NOT a forecasting failure. No sweep strategy can deploy capital that does not exist.</a:t>
            </a:r>
            <a:endParaRPr lang="en-US" sz="1350" dirty="0"/>
          </a:p>
        </p:txBody>
      </p:sp>
      <p:sp>
        <p:nvSpPr>
          <p:cNvPr id="13" name="Text 10"/>
          <p:cNvSpPr txBox="1"/>
          <p:nvPr/>
        </p:nvSpPr>
        <p:spPr>
          <a:xfrm>
            <a:off x="1344168" y="6217920"/>
            <a:ext cx="7589520" cy="1371600"/>
          </a:xfrm>
          <a:prstGeom prst="rect">
            <a:avLst/>
          </a:prstGeom>
          <a:noFill/>
          <a:ln/>
        </p:spPr>
        <p:txBody>
          <a:bodyPr wrap="square" lIns="0" tIns="0" rIns="0" bIns="0" rtlCol="0" anchor="ctr"/>
          <a:lstStyle/>
          <a:p>
            <a:pPr marL="0" indent="0">
              <a:buNone/>
            </a:pPr>
            <a:r>
              <a:rPr lang="en-US" sz="1350" b="1" dirty="0">
                <a:solidFill>
                  <a:srgbClr val="FFFFFF"/>
                </a:solidFill>
              </a:rPr>
              <a:t>3. Three-Way Regret Decomposition (Innovation #1):
</a:t>
            </a:r>
            <a:r>
              <a:rPr lang="en-US" sz="1200" dirty="0">
                <a:solidFill>
                  <a:srgbClr val="9A968D"/>
                </a:solidFill>
              </a:rPr>
              <a:t>We partition every dollar of gap between Ballast and the Oracle into actionable accounting buckets:</a:t>
            </a:r>
            <a:endParaRPr lang="en-US" sz="1350" dirty="0"/>
          </a:p>
          <a:p>
            <a:pPr marL="0" indent="0">
              <a:lnSpc>
                <a:spcPts val="1700"/>
              </a:lnSpc>
              <a:buNone/>
            </a:pPr>
            <a:r>
              <a:rPr lang="en-US" sz="1200" dirty="0">
                <a:solidFill>
                  <a:srgbClr val="9A968D"/>
                </a:solidFill>
              </a:rPr>
              <a:t>• Forecast Error: $584,801 (99.1% of reducible gap)</a:t>
            </a:r>
            <a:endParaRPr lang="en-US" sz="1350" dirty="0"/>
          </a:p>
          <a:p>
            <a:pPr marL="0" indent="0">
              <a:lnSpc>
                <a:spcPts val="1700"/>
              </a:lnSpc>
              <a:buNone/>
            </a:pPr>
            <a:r>
              <a:rPr lang="en-US" sz="1200" dirty="0">
                <a:solidFill>
                  <a:srgbClr val="9A968D"/>
                </a:solidFill>
              </a:rPr>
              <a:t>• Policy Conservatism: $5,239 (0.9% safety cushion)</a:t>
            </a:r>
            <a:endParaRPr lang="en-US" sz="1350" dirty="0"/>
          </a:p>
          <a:p>
            <a:pPr marL="0" indent="0">
              <a:lnSpc>
                <a:spcPts val="1700"/>
              </a:lnSpc>
              <a:buNone/>
            </a:pPr>
            <a:r>
              <a:rPr lang="en-US" sz="1200" dirty="0">
                <a:solidFill>
                  <a:srgbClr val="9A968D"/>
                </a:solidFill>
              </a:rPr>
              <a:t>• Capital-Constrained: $0 regret ($4.14M irreducible structural cost)</a:t>
            </a:r>
            <a:endParaRPr lang="en-US" sz="1350" dirty="0"/>
          </a:p>
          <a:p>
            <a:pPr marL="0" indent="0">
              <a:lnSpc>
                <a:spcPts val="1700"/>
              </a:lnSpc>
              <a:buNone/>
            </a:pPr>
            <a:r>
              <a:rPr lang="en-US" sz="1200" dirty="0">
                <a:solidFill>
                  <a:srgbClr val="9A968D"/>
                </a:solidFill>
              </a:rPr>
              <a:t>Treasurers know exactly which costs can be improved by better models.</a:t>
            </a:r>
            <a:endParaRPr lang="en-US" sz="1350" dirty="0"/>
          </a:p>
        </p:txBody>
      </p:sp>
      <p:sp>
        <p:nvSpPr>
          <p:cNvPr id="14" name="Text 11"/>
          <p:cNvSpPr txBox="1"/>
          <p:nvPr/>
        </p:nvSpPr>
        <p:spPr>
          <a:xfrm>
            <a:off x="1344168" y="7680960"/>
            <a:ext cx="7589520" cy="1371600"/>
          </a:xfrm>
          <a:prstGeom prst="rect">
            <a:avLst/>
          </a:prstGeom>
          <a:noFill/>
          <a:ln/>
        </p:spPr>
        <p:txBody>
          <a:bodyPr wrap="square" lIns="0" tIns="0" rIns="0" bIns="0" rtlCol="0" anchor="ctr"/>
          <a:lstStyle/>
          <a:p>
            <a:pPr marL="0" indent="0">
              <a:buNone/>
            </a:pPr>
            <a:r>
              <a:rPr lang="en-US" sz="1350" b="1" dirty="0">
                <a:solidFill>
                  <a:srgbClr val="FFFFFF"/>
                </a:solidFill>
              </a:rPr>
              <a:t>4. Fail-Safe Waterfall Shock Absorption:
</a:t>
            </a:r>
            <a:r>
              <a:rPr lang="en-US" sz="1200" dirty="0">
                <a:solidFill>
                  <a:srgbClr val="9A968D"/>
                </a:solidFill>
              </a:rPr>
              <a:t>When realized outflows exceed buffer forecasts, customer payouts never fail. The cost-ordered waterfall automatically draws Tier 1, Tier 2, and Tier 3 before tapping credit. Payout reliability remains 100.0%.</a:t>
            </a:r>
            <a:endParaRPr lang="en-US" sz="1350" dirty="0"/>
          </a:p>
        </p:txBody>
      </p:sp>
      <p:sp>
        <p:nvSpPr>
          <p:cNvPr id="15" name="Shape 12"/>
          <p:cNvSpPr/>
          <p:nvPr/>
        </p:nvSpPr>
        <p:spPr>
          <a:xfrm>
            <a:off x="9528048" y="2514600"/>
            <a:ext cx="8302752" cy="3337560"/>
          </a:xfrm>
          <a:prstGeom prst="roundRect">
            <a:avLst>
              <a:gd name="adj" fmla="val 2192"/>
            </a:avLst>
          </a:prstGeom>
          <a:solidFill>
            <a:srgbClr val="14171F"/>
          </a:solidFill>
          <a:ln w="12700">
            <a:solidFill>
              <a:srgbClr val="2A303C"/>
            </a:solidFill>
            <a:prstDash val="solid"/>
          </a:ln>
        </p:spPr>
      </p:sp>
      <p:pic>
        <p:nvPicPr>
          <p:cNvPr id="16" name="Image 1" descr="C:\Users\karti\AppData\Local\Temp\claude\c--Users-karti-repos-ballast\3a11dfef-fe11-4e04-8ecd-63ec54f071eb\scratchpad\deck\assets\ref_spike-section.png"/>
          <p:cNvPicPr>
            <a:picLocks noChangeAspect="1"/>
          </p:cNvPicPr>
          <p:nvPr/>
        </p:nvPicPr>
        <p:blipFill>
          <a:blip r:embed="rId4"/>
          <a:stretch>
            <a:fillRect/>
          </a:stretch>
        </p:blipFill>
        <p:spPr>
          <a:xfrm>
            <a:off x="9665208" y="2651760"/>
            <a:ext cx="8028432" cy="3063240"/>
          </a:xfrm>
          <a:prstGeom prst="rect">
            <a:avLst/>
          </a:prstGeom>
        </p:spPr>
      </p:pic>
      <p:sp>
        <p:nvSpPr>
          <p:cNvPr id="17" name="Shape 13"/>
          <p:cNvSpPr/>
          <p:nvPr/>
        </p:nvSpPr>
        <p:spPr>
          <a:xfrm>
            <a:off x="9528048" y="6080760"/>
            <a:ext cx="8302752" cy="3383280"/>
          </a:xfrm>
          <a:prstGeom prst="roundRect">
            <a:avLst>
              <a:gd name="adj" fmla="val 2162"/>
            </a:avLst>
          </a:prstGeom>
          <a:solidFill>
            <a:srgbClr val="14171F"/>
          </a:solidFill>
          <a:ln w="12700">
            <a:solidFill>
              <a:srgbClr val="2A303C"/>
            </a:solidFill>
            <a:prstDash val="solid"/>
          </a:ln>
        </p:spPr>
      </p:sp>
      <p:pic>
        <p:nvPicPr>
          <p:cNvPr id="18" name="Image 2" descr="C:\Users\karti\AppData\Local\Temp\claude\c--Users-karti-repos-ballast\3a11dfef-fe11-4e04-8ecd-63ec54f071eb\scratchpad\deck\assets\ref_stress-section.png"/>
          <p:cNvPicPr>
            <a:picLocks noChangeAspect="1"/>
          </p:cNvPicPr>
          <p:nvPr/>
        </p:nvPicPr>
        <p:blipFill>
          <a:blip r:embed="rId5"/>
          <a:stretch>
            <a:fillRect/>
          </a:stretch>
        </p:blipFill>
        <p:spPr>
          <a:xfrm>
            <a:off x="9710928" y="6217920"/>
            <a:ext cx="7936992" cy="1920240"/>
          </a:xfrm>
          <a:prstGeom prst="rect">
            <a:avLst/>
          </a:prstGeom>
        </p:spPr>
      </p:pic>
      <p:sp>
        <p:nvSpPr>
          <p:cNvPr id="19" name="Text 14"/>
          <p:cNvSpPr txBox="1"/>
          <p:nvPr/>
        </p:nvSpPr>
        <p:spPr>
          <a:xfrm>
            <a:off x="9848088" y="8229600"/>
            <a:ext cx="7680960" cy="256032"/>
          </a:xfrm>
          <a:prstGeom prst="rect">
            <a:avLst/>
          </a:prstGeom>
          <a:noFill/>
          <a:ln/>
        </p:spPr>
        <p:txBody>
          <a:bodyPr wrap="square" lIns="0" tIns="0" rIns="0" bIns="0" rtlCol="0" anchor="ctr"/>
          <a:lstStyle/>
          <a:p>
            <a:pPr marL="0" indent="0">
              <a:buNone/>
            </a:pPr>
            <a:r>
              <a:rPr lang="en-US" sz="1300" b="1" kern="0" spc="100" dirty="0">
                <a:solidFill>
                  <a:srgbClr val="8AA68D"/>
                </a:solidFill>
                <a:latin typeface="Arial" pitchFamily="34" charset="0"/>
                <a:ea typeface="Arial" pitchFamily="34" charset="-122"/>
                <a:cs typeface="Arial" pitchFamily="34" charset="-120"/>
              </a:rPr>
              <a:t>ADVERSARIAL REVERSE STRESS SEARCH (INNOVATION #3)</a:t>
            </a:r>
            <a:endParaRPr lang="en-US" sz="1300" dirty="0"/>
          </a:p>
        </p:txBody>
      </p:sp>
      <p:sp>
        <p:nvSpPr>
          <p:cNvPr id="20" name="Text 15"/>
          <p:cNvSpPr txBox="1"/>
          <p:nvPr/>
        </p:nvSpPr>
        <p:spPr>
          <a:xfrm>
            <a:off x="9848088" y="8503920"/>
            <a:ext cx="7680960" cy="777240"/>
          </a:xfrm>
          <a:prstGeom prst="rect">
            <a:avLst/>
          </a:prstGeom>
          <a:noFill/>
          <a:ln/>
        </p:spPr>
        <p:txBody>
          <a:bodyPr wrap="square" lIns="0" tIns="0" rIns="0" bIns="0" rtlCol="0" anchor="ctr"/>
          <a:lstStyle/>
          <a:p>
            <a:pPr marL="0" indent="0">
              <a:lnSpc>
                <a:spcPts val="1600"/>
              </a:lnSpc>
              <a:buNone/>
            </a:pPr>
            <a:r>
              <a:rPr lang="en-US" sz="1200" dirty="0">
                <a:solidFill>
                  <a:srgbClr val="ECE9E4"/>
                </a:solidFill>
                <a:latin typeface="Arial" pitchFamily="34" charset="0"/>
                <a:ea typeface="Arial" pitchFamily="34" charset="-122"/>
                <a:cs typeface="Arial" pitchFamily="34" charset="-120"/>
              </a:rPr>
              <a:t>Instead of testing arbitrary shocks, Ballast binary-searches the minimum stress multiplier required to break the bank. For an SVB-calibrated run (25% initial flight), the engine finds the exact insolvency boundary at multiplier 0.309 — proving the book survives any bank run up to 7.7% single-day deposit flight ($155M) before exhausting capital.</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C:\Users\karti\AppData\Local\Temp\claude\c--Users-karti-repos-ballast\3a11dfef-fe11-4e04-8ecd-63ec54f071eb\scratchpad\deck\assets\bg_content.png"/>
          <p:cNvPicPr>
            <a:picLocks noChangeAspect="1"/>
          </p:cNvPicPr>
          <p:nvPr/>
        </p:nvPicPr>
        <p:blipFill>
          <a:blip r:embed="rId3"/>
          <a:stretch>
            <a:fillRect/>
          </a:stretch>
        </p:blipFill>
        <p:spPr>
          <a:xfrm>
            <a:off x="0" y="0"/>
            <a:ext cx="18859500" cy="10287000"/>
          </a:xfrm>
          <a:prstGeom prst="rect">
            <a:avLst/>
          </a:prstGeom>
        </p:spPr>
      </p:pic>
      <p:sp>
        <p:nvSpPr>
          <p:cNvPr id="3" name="Text 0"/>
          <p:cNvSpPr txBox="1"/>
          <p:nvPr/>
        </p:nvSpPr>
        <p:spPr>
          <a:xfrm>
            <a:off x="1024128" y="207818"/>
            <a:ext cx="10972800" cy="320040"/>
          </a:xfrm>
          <a:prstGeom prst="rect">
            <a:avLst/>
          </a:prstGeom>
          <a:noFill/>
          <a:ln/>
        </p:spPr>
        <p:txBody>
          <a:bodyPr wrap="square" lIns="0" tIns="0" rIns="0" bIns="0" rtlCol="0" anchor="ctr"/>
          <a:lstStyle/>
          <a:p>
            <a:pPr marL="0" indent="0">
              <a:buNone/>
            </a:pPr>
            <a:r>
              <a:rPr lang="en-US" sz="1500" b="1" kern="0" spc="200" dirty="0">
                <a:solidFill>
                  <a:srgbClr val="8AA68D"/>
                </a:solidFill>
                <a:latin typeface="Arial" pitchFamily="34" charset="0"/>
                <a:ea typeface="Arial" pitchFamily="34" charset="-122"/>
                <a:cs typeface="Arial" pitchFamily="34" charset="-120"/>
              </a:rPr>
              <a:t>SLIDE 5 : LIVE DEMO / SIMULATION RUN</a:t>
            </a:r>
            <a:endParaRPr lang="en-US" sz="1500" dirty="0"/>
          </a:p>
        </p:txBody>
      </p:sp>
      <p:sp>
        <p:nvSpPr>
          <p:cNvPr id="4" name="Text 1"/>
          <p:cNvSpPr txBox="1"/>
          <p:nvPr/>
        </p:nvSpPr>
        <p:spPr>
          <a:xfrm>
            <a:off x="1024128" y="960120"/>
            <a:ext cx="16806672" cy="77724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PRODUCTION DEPLOYMENT &amp; STREAMING PROGRESSIVE UX</a:t>
            </a:r>
            <a:endParaRPr lang="en-US" sz="4000" dirty="0"/>
          </a:p>
        </p:txBody>
      </p:sp>
      <p:sp>
        <p:nvSpPr>
          <p:cNvPr id="5" name="Text 2"/>
          <p:cNvSpPr txBox="1"/>
          <p:nvPr/>
        </p:nvSpPr>
        <p:spPr>
          <a:xfrm>
            <a:off x="1024128" y="1783080"/>
            <a:ext cx="16806672" cy="502920"/>
          </a:xfrm>
          <a:prstGeom prst="rect">
            <a:avLst/>
          </a:prstGeom>
          <a:noFill/>
          <a:ln/>
        </p:spPr>
        <p:txBody>
          <a:bodyPr wrap="square" lIns="0" tIns="0" rIns="0" bIns="0" rtlCol="0" anchor="ctr"/>
          <a:lstStyle/>
          <a:p>
            <a:pPr marL="0" indent="0">
              <a:buNone/>
            </a:pPr>
            <a:r>
              <a:rPr lang="en-US" sz="2000" dirty="0">
                <a:solidFill>
                  <a:srgbClr val="C9A86A"/>
                </a:solidFill>
                <a:latin typeface="Arial" pitchFamily="34" charset="0"/>
                <a:ea typeface="Arial" pitchFamily="34" charset="-122"/>
                <a:cs typeface="Arial" pitchFamily="34" charset="-120"/>
              </a:rPr>
              <a:t>Sub-100ms client-side ingest, progressive stage unlocking, and Gemini streaming executive narration with zero hallucination.</a:t>
            </a:r>
            <a:endParaRPr lang="en-US" sz="2000" dirty="0"/>
          </a:p>
        </p:txBody>
      </p:sp>
      <p:sp>
        <p:nvSpPr>
          <p:cNvPr id="6" name="Text 3"/>
          <p:cNvSpPr txBox="1"/>
          <p:nvPr/>
        </p:nvSpPr>
        <p:spPr>
          <a:xfrm>
            <a:off x="1024128" y="9738360"/>
            <a:ext cx="5486400" cy="320040"/>
          </a:xfrm>
          <a:prstGeom prst="rect">
            <a:avLst/>
          </a:prstGeom>
          <a:noFill/>
          <a:ln/>
        </p:spPr>
        <p:txBody>
          <a:bodyPr wrap="square" lIns="0" tIns="0" rIns="0" bIns="0" rtlCol="0" anchor="ctr"/>
          <a:lstStyle/>
          <a:p>
            <a:pPr marL="0" indent="0">
              <a:buNone/>
            </a:pPr>
            <a:r>
              <a:rPr lang="en-US" sz="1300" dirty="0">
                <a:solidFill>
                  <a:srgbClr val="5E5A53"/>
                </a:solidFill>
                <a:latin typeface="Arial" pitchFamily="34" charset="0"/>
                <a:ea typeface="Arial" pitchFamily="34" charset="-122"/>
                <a:cs typeface="Arial" pitchFamily="34" charset="-120"/>
              </a:rPr>
              <a:t>BALLAST  //  Autonomous Treasury Engine</a:t>
            </a:r>
            <a:endParaRPr lang="en-US" sz="1300" dirty="0"/>
          </a:p>
        </p:txBody>
      </p:sp>
      <p:sp>
        <p:nvSpPr>
          <p:cNvPr id="7" name="Text 4"/>
          <p:cNvSpPr txBox="1"/>
          <p:nvPr/>
        </p:nvSpPr>
        <p:spPr>
          <a:xfrm>
            <a:off x="6858000" y="9738360"/>
            <a:ext cx="5943600" cy="320040"/>
          </a:xfrm>
          <a:prstGeom prst="rect">
            <a:avLst/>
          </a:prstGeom>
          <a:noFill/>
          <a:ln/>
        </p:spPr>
        <p:txBody>
          <a:bodyPr wrap="square" lIns="0" tIns="0" rIns="0" bIns="0" rtlCol="0" anchor="ctr"/>
          <a:lstStyle/>
          <a:p>
            <a:pPr marL="0" indent="0" algn="ctr">
              <a:buNone/>
            </a:pPr>
            <a:r>
              <a:rPr lang="en-US" sz="1300" dirty="0">
                <a:solidFill>
                  <a:srgbClr val="5E5A53"/>
                </a:solidFill>
                <a:latin typeface="Arial" pitchFamily="34" charset="0"/>
                <a:ea typeface="Arial" pitchFamily="34" charset="-122"/>
                <a:cs typeface="Arial" pitchFamily="34" charset="-120"/>
              </a:rPr>
              <a:t>HackForge '26 Advanced Track  •  Problem: The Reserve Juggler</a:t>
            </a:r>
            <a:endParaRPr lang="en-US" sz="1300" dirty="0"/>
          </a:p>
        </p:txBody>
      </p:sp>
      <p:sp>
        <p:nvSpPr>
          <p:cNvPr id="8" name="Text 5"/>
          <p:cNvSpPr txBox="1"/>
          <p:nvPr/>
        </p:nvSpPr>
        <p:spPr>
          <a:xfrm>
            <a:off x="13258800" y="9738360"/>
            <a:ext cx="4572000" cy="320040"/>
          </a:xfrm>
          <a:prstGeom prst="rect">
            <a:avLst/>
          </a:prstGeom>
          <a:noFill/>
          <a:ln/>
        </p:spPr>
        <p:txBody>
          <a:bodyPr wrap="square" lIns="0" tIns="0" rIns="0" bIns="0" rtlCol="0" anchor="ctr"/>
          <a:lstStyle/>
          <a:p>
            <a:pPr marL="0" indent="0" algn="r">
              <a:buNone/>
            </a:pPr>
            <a:r>
              <a:rPr lang="en-US" sz="1300" dirty="0">
                <a:solidFill>
                  <a:srgbClr val="5E5A53"/>
                </a:solidFill>
                <a:latin typeface="Arial" pitchFamily="34" charset="0"/>
                <a:ea typeface="Arial" pitchFamily="34" charset="-122"/>
                <a:cs typeface="Arial" pitchFamily="34" charset="-120"/>
              </a:rPr>
              <a:t>Team globalhost  |  ballast.jkartik.in</a:t>
            </a:r>
            <a:endParaRPr lang="en-US" sz="1300" dirty="0"/>
          </a:p>
        </p:txBody>
      </p:sp>
      <p:sp>
        <p:nvSpPr>
          <p:cNvPr id="9" name="Shape 6"/>
          <p:cNvSpPr/>
          <p:nvPr/>
        </p:nvSpPr>
        <p:spPr>
          <a:xfrm>
            <a:off x="1024128" y="2514600"/>
            <a:ext cx="8229600" cy="6949440"/>
          </a:xfrm>
          <a:prstGeom prst="roundRect">
            <a:avLst>
              <a:gd name="adj" fmla="val 1053"/>
            </a:avLst>
          </a:prstGeom>
          <a:solidFill>
            <a:srgbClr val="14171F"/>
          </a:solidFill>
          <a:ln w="12700">
            <a:solidFill>
              <a:srgbClr val="2A303C"/>
            </a:solidFill>
            <a:prstDash val="solid"/>
          </a:ln>
        </p:spPr>
      </p:sp>
      <p:pic>
        <p:nvPicPr>
          <p:cNvPr id="10" name="Image 1" descr="C:\Users\karti\AppData\Local\Temp\claude\c--Users-karti-repos-ballast\3a11dfef-fe11-4e04-8ecd-63ec54f071eb\scratchpad\deck\assets\progressive.png"/>
          <p:cNvPicPr>
            <a:picLocks noChangeAspect="1"/>
          </p:cNvPicPr>
          <p:nvPr/>
        </p:nvPicPr>
        <p:blipFill>
          <a:blip r:embed="rId4"/>
          <a:stretch>
            <a:fillRect/>
          </a:stretch>
        </p:blipFill>
        <p:spPr>
          <a:xfrm>
            <a:off x="1207008" y="2697480"/>
            <a:ext cx="7863840" cy="4023360"/>
          </a:xfrm>
          <a:prstGeom prst="rect">
            <a:avLst/>
          </a:prstGeom>
        </p:spPr>
      </p:pic>
      <p:sp>
        <p:nvSpPr>
          <p:cNvPr id="11" name="Text 7"/>
          <p:cNvSpPr txBox="1"/>
          <p:nvPr/>
        </p:nvSpPr>
        <p:spPr>
          <a:xfrm>
            <a:off x="1344168" y="6858000"/>
            <a:ext cx="7589520" cy="274320"/>
          </a:xfrm>
          <a:prstGeom prst="rect">
            <a:avLst/>
          </a:prstGeom>
          <a:noFill/>
          <a:ln/>
        </p:spPr>
        <p:txBody>
          <a:bodyPr wrap="square" lIns="0" tIns="0" rIns="0" bIns="0" rtlCol="0" anchor="ctr"/>
          <a:lstStyle/>
          <a:p>
            <a:pPr marL="0" indent="0">
              <a:buNone/>
            </a:pPr>
            <a:r>
              <a:rPr lang="en-US" sz="1500" b="1" kern="0" spc="100" dirty="0">
                <a:solidFill>
                  <a:srgbClr val="C9A86A"/>
                </a:solidFill>
                <a:latin typeface="Arial" pitchFamily="34" charset="0"/>
                <a:ea typeface="Arial" pitchFamily="34" charset="-122"/>
                <a:cs typeface="Arial" pitchFamily="34" charset="-120"/>
              </a:rPr>
              <a:t>ZERO-WAIT PROGRESSIVE ARCHITECTURE</a:t>
            </a:r>
            <a:endParaRPr lang="en-US" sz="1500" dirty="0"/>
          </a:p>
        </p:txBody>
      </p:sp>
      <p:sp>
        <p:nvSpPr>
          <p:cNvPr id="12" name="Text 8"/>
          <p:cNvSpPr txBox="1"/>
          <p:nvPr/>
        </p:nvSpPr>
        <p:spPr>
          <a:xfrm>
            <a:off x="1344168" y="7178040"/>
            <a:ext cx="7589520" cy="594360"/>
          </a:xfrm>
          <a:prstGeom prst="rect">
            <a:avLst/>
          </a:prstGeom>
          <a:noFill/>
          <a:ln/>
        </p:spPr>
        <p:txBody>
          <a:bodyPr wrap="square" lIns="0" tIns="0" rIns="0" bIns="0" rtlCol="0" anchor="ctr"/>
          <a:lstStyle/>
          <a:p>
            <a:pPr marL="0" indent="0">
              <a:lnSpc>
                <a:spcPts val="1700"/>
              </a:lnSpc>
              <a:buNone/>
            </a:pPr>
            <a:r>
              <a:rPr lang="en-US" sz="1250" dirty="0">
                <a:solidFill>
                  <a:srgbClr val="ECE9E4"/>
                </a:solidFill>
                <a:latin typeface="Arial" pitchFamily="34" charset="0"/>
                <a:ea typeface="Arial" pitchFamily="34" charset="-122"/>
                <a:cs typeface="Arial" pitchFamily="34" charset="-120"/>
              </a:rPr>
              <a:t>• &lt;100ms Client Ingest: Parsing &amp; rendering deposits/withdrawals happens locally in the browser before backend calls complete.</a:t>
            </a:r>
            <a:endParaRPr lang="en-US" sz="1250" dirty="0"/>
          </a:p>
        </p:txBody>
      </p:sp>
      <p:sp>
        <p:nvSpPr>
          <p:cNvPr id="13" name="Text 9"/>
          <p:cNvSpPr txBox="1"/>
          <p:nvPr/>
        </p:nvSpPr>
        <p:spPr>
          <a:xfrm>
            <a:off x="1344168" y="7818120"/>
            <a:ext cx="7589520" cy="594360"/>
          </a:xfrm>
          <a:prstGeom prst="rect">
            <a:avLst/>
          </a:prstGeom>
          <a:noFill/>
          <a:ln/>
        </p:spPr>
        <p:txBody>
          <a:bodyPr wrap="square" lIns="0" tIns="0" rIns="0" bIns="0" rtlCol="0" anchor="ctr"/>
          <a:lstStyle/>
          <a:p>
            <a:pPr marL="0" indent="0">
              <a:lnSpc>
                <a:spcPts val="1700"/>
              </a:lnSpc>
              <a:buNone/>
            </a:pPr>
            <a:r>
              <a:rPr lang="en-US" sz="1250" dirty="0">
                <a:solidFill>
                  <a:srgbClr val="ECE9E4"/>
                </a:solidFill>
                <a:latin typeface="Arial" pitchFamily="34" charset="0"/>
                <a:ea typeface="Arial" pitchFamily="34" charset="-122"/>
                <a:cs typeface="Arial" pitchFamily="34" charset="-120"/>
              </a:rPr>
              <a:t>• Progressive Stage Unlocking: Raw Preview (0.1s) → Flows &amp; Spikes (0.2s) → Risk Sizing (0.2s) → Scoreboard (21s) → Stress Lab (42s).</a:t>
            </a:r>
            <a:endParaRPr lang="en-US" sz="1250" dirty="0"/>
          </a:p>
        </p:txBody>
      </p:sp>
      <p:sp>
        <p:nvSpPr>
          <p:cNvPr id="14" name="Text 10"/>
          <p:cNvSpPr txBox="1"/>
          <p:nvPr/>
        </p:nvSpPr>
        <p:spPr>
          <a:xfrm>
            <a:off x="1344168" y="8458200"/>
            <a:ext cx="7589520" cy="594360"/>
          </a:xfrm>
          <a:prstGeom prst="rect">
            <a:avLst/>
          </a:prstGeom>
          <a:noFill/>
          <a:ln/>
        </p:spPr>
        <p:txBody>
          <a:bodyPr wrap="square" lIns="0" tIns="0" rIns="0" bIns="0" rtlCol="0" anchor="ctr"/>
          <a:lstStyle/>
          <a:p>
            <a:pPr marL="0" indent="0">
              <a:lnSpc>
                <a:spcPts val="1700"/>
              </a:lnSpc>
              <a:buNone/>
            </a:pPr>
            <a:r>
              <a:rPr lang="en-US" sz="1250" dirty="0">
                <a:solidFill>
                  <a:srgbClr val="ECE9E4"/>
                </a:solidFill>
                <a:latin typeface="Arial" pitchFamily="34" charset="0"/>
                <a:ea typeface="Arial" pitchFamily="34" charset="-122"/>
                <a:cs typeface="Arial" pitchFamily="34" charset="-120"/>
              </a:rPr>
              <a:t>• Sequential GIL-Safe Caching: Solved CPU thread contention by warming datasets sequentially in the background for instant demo switching.</a:t>
            </a:r>
            <a:endParaRPr lang="en-US" sz="1250" dirty="0"/>
          </a:p>
        </p:txBody>
      </p:sp>
      <p:sp>
        <p:nvSpPr>
          <p:cNvPr id="15" name="Shape 11"/>
          <p:cNvSpPr/>
          <p:nvPr/>
        </p:nvSpPr>
        <p:spPr>
          <a:xfrm>
            <a:off x="9528048" y="2514600"/>
            <a:ext cx="8302752" cy="6949440"/>
          </a:xfrm>
          <a:prstGeom prst="roundRect">
            <a:avLst>
              <a:gd name="adj" fmla="val 1053"/>
            </a:avLst>
          </a:prstGeom>
          <a:solidFill>
            <a:srgbClr val="14171F"/>
          </a:solidFill>
          <a:ln w="12700">
            <a:solidFill>
              <a:srgbClr val="2A303C"/>
            </a:solidFill>
            <a:prstDash val="solid"/>
          </a:ln>
        </p:spPr>
      </p:sp>
      <p:pic>
        <p:nvPicPr>
          <p:cNvPr id="16" name="Image 2" descr="C:\Users\karti\AppData\Local\Temp\claude\c--Users-karti-repos-ballast\3a11dfef-fe11-4e04-8ecd-63ec54f071eb\scratchpad\deck\assets\ref_summary-section.png"/>
          <p:cNvPicPr>
            <a:picLocks noChangeAspect="1"/>
          </p:cNvPicPr>
          <p:nvPr/>
        </p:nvPicPr>
        <p:blipFill>
          <a:blip r:embed="rId5"/>
          <a:stretch>
            <a:fillRect/>
          </a:stretch>
        </p:blipFill>
        <p:spPr>
          <a:xfrm>
            <a:off x="9710928" y="2697480"/>
            <a:ext cx="7936992" cy="2240280"/>
          </a:xfrm>
          <a:prstGeom prst="rect">
            <a:avLst/>
          </a:prstGeom>
        </p:spPr>
      </p:pic>
      <p:pic>
        <p:nvPicPr>
          <p:cNvPr id="17" name="Image 3" descr="C:\Users\karti\AppData\Local\Temp\claude\c--Users-karti-repos-ballast\3a11dfef-fe11-4e04-8ecd-63ec54f071eb\scratchpad\deck\assets\ref_kpi-section.png"/>
          <p:cNvPicPr>
            <a:picLocks noChangeAspect="1"/>
          </p:cNvPicPr>
          <p:nvPr/>
        </p:nvPicPr>
        <p:blipFill>
          <a:blip r:embed="rId6"/>
          <a:stretch>
            <a:fillRect/>
          </a:stretch>
        </p:blipFill>
        <p:spPr>
          <a:xfrm>
            <a:off x="9710928" y="5074920"/>
            <a:ext cx="7936992" cy="914400"/>
          </a:xfrm>
          <a:prstGeom prst="rect">
            <a:avLst/>
          </a:prstGeom>
        </p:spPr>
      </p:pic>
      <p:sp>
        <p:nvSpPr>
          <p:cNvPr id="18" name="Text 12"/>
          <p:cNvSpPr txBox="1"/>
          <p:nvPr/>
        </p:nvSpPr>
        <p:spPr>
          <a:xfrm>
            <a:off x="9848088" y="6172200"/>
            <a:ext cx="7680960" cy="274320"/>
          </a:xfrm>
          <a:prstGeom prst="rect">
            <a:avLst/>
          </a:prstGeom>
          <a:noFill/>
          <a:ln/>
        </p:spPr>
        <p:txBody>
          <a:bodyPr wrap="square" lIns="0" tIns="0" rIns="0" bIns="0" rtlCol="0" anchor="ctr"/>
          <a:lstStyle/>
          <a:p>
            <a:pPr marL="0" indent="0">
              <a:buNone/>
            </a:pPr>
            <a:r>
              <a:rPr lang="en-US" sz="1500" b="1" kern="0" spc="100" dirty="0">
                <a:solidFill>
                  <a:srgbClr val="8AA68D"/>
                </a:solidFill>
                <a:latin typeface="Arial" pitchFamily="34" charset="0"/>
                <a:ea typeface="Arial" pitchFamily="34" charset="-122"/>
                <a:cs typeface="Arial" pitchFamily="34" charset="-120"/>
              </a:rPr>
              <a:t>ENTERPRISE PRIVATE-BANKING TERMINAL UX</a:t>
            </a:r>
            <a:endParaRPr lang="en-US" sz="1500" dirty="0"/>
          </a:p>
        </p:txBody>
      </p:sp>
      <p:sp>
        <p:nvSpPr>
          <p:cNvPr id="19" name="Text 13"/>
          <p:cNvSpPr txBox="1"/>
          <p:nvPr/>
        </p:nvSpPr>
        <p:spPr>
          <a:xfrm>
            <a:off x="9848088" y="6492240"/>
            <a:ext cx="7680960" cy="777240"/>
          </a:xfrm>
          <a:prstGeom prst="rect">
            <a:avLst/>
          </a:prstGeom>
          <a:noFill/>
          <a:ln/>
        </p:spPr>
        <p:txBody>
          <a:bodyPr wrap="square" lIns="0" tIns="0" rIns="0" bIns="0" rtlCol="0" anchor="ctr"/>
          <a:lstStyle/>
          <a:p>
            <a:pPr marL="0" indent="0">
              <a:buNone/>
            </a:pPr>
            <a:r>
              <a:rPr lang="en-US" sz="1300" b="1" dirty="0">
                <a:solidFill>
                  <a:srgbClr val="FFFFFF"/>
                </a:solidFill>
              </a:rPr>
              <a:t>Streaming Gemini AI Executive Narration:
</a:t>
            </a:r>
            <a:r>
              <a:rPr lang="en-US" sz="1200" dirty="0">
                <a:solidFill>
                  <a:srgbClr val="9A968D"/>
                </a:solidFill>
              </a:rPr>
              <a:t>Generates a 4-sentence treasurer brief streaming via SSE with a sand-forming text reveal. Grounded strictly in computed JSON facts (zero hallucination). Thinking budget set to 0 to drop first-byte latency from 30s to 10s.</a:t>
            </a:r>
            <a:endParaRPr lang="en-US" sz="1300" dirty="0"/>
          </a:p>
        </p:txBody>
      </p:sp>
      <p:sp>
        <p:nvSpPr>
          <p:cNvPr id="20" name="Text 14"/>
          <p:cNvSpPr txBox="1"/>
          <p:nvPr/>
        </p:nvSpPr>
        <p:spPr>
          <a:xfrm>
            <a:off x="9848088" y="7360920"/>
            <a:ext cx="7680960" cy="777240"/>
          </a:xfrm>
          <a:prstGeom prst="rect">
            <a:avLst/>
          </a:prstGeom>
          <a:noFill/>
          <a:ln/>
        </p:spPr>
        <p:txBody>
          <a:bodyPr wrap="square" lIns="0" tIns="0" rIns="0" bIns="0" rtlCol="0" anchor="ctr"/>
          <a:lstStyle/>
          <a:p>
            <a:pPr marL="0" indent="0">
              <a:buNone/>
            </a:pPr>
            <a:r>
              <a:rPr lang="en-US" sz="1300" b="1" dirty="0">
                <a:solidFill>
                  <a:srgbClr val="FFFFFF"/>
                </a:solidFill>
              </a:rPr>
              <a:t>Crosshair Canvas Tooltips &amp; Interactive Audit:
</a:t>
            </a:r>
            <a:r>
              <a:rPr lang="en-US" sz="1200" dirty="0">
                <a:solidFill>
                  <a:srgbClr val="9A968D"/>
                </a:solidFill>
              </a:rPr>
              <a:t>Every canvas chart supports precise hover tooltips showing exact hourly dollars and dates. Detailed metrics modal reveals all 10 banking indicators (bps, overdraft hours, tier breaks, four-eyes events).</a:t>
            </a:r>
            <a:endParaRPr lang="en-US" sz="1300" dirty="0"/>
          </a:p>
        </p:txBody>
      </p:sp>
      <p:sp>
        <p:nvSpPr>
          <p:cNvPr id="21" name="Text 15"/>
          <p:cNvSpPr txBox="1"/>
          <p:nvPr/>
        </p:nvSpPr>
        <p:spPr>
          <a:xfrm>
            <a:off x="9848088" y="8229600"/>
            <a:ext cx="7680960" cy="777240"/>
          </a:xfrm>
          <a:prstGeom prst="rect">
            <a:avLst/>
          </a:prstGeom>
          <a:noFill/>
          <a:ln/>
        </p:spPr>
        <p:txBody>
          <a:bodyPr wrap="square" lIns="0" tIns="0" rIns="0" bIns="0" rtlCol="0" anchor="ctr"/>
          <a:lstStyle/>
          <a:p>
            <a:pPr marL="0" indent="0">
              <a:buNone/>
            </a:pPr>
            <a:r>
              <a:rPr lang="en-US" sz="1300" b="1" dirty="0">
                <a:solidFill>
                  <a:srgbClr val="FFFFFF"/>
                </a:solidFill>
              </a:rPr>
              <a:t>Deterministic Offline Fallback:
</a:t>
            </a:r>
            <a:r>
              <a:rPr lang="en-US" sz="1200" dirty="0">
                <a:solidFill>
                  <a:srgbClr val="9A968D"/>
                </a:solidFill>
              </a:rPr>
              <a:t>If GEMINI_API_KEY is not set or network fails, falls back instantly to a paced deterministic template so the app runs 100% offline without error.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C:\Users\karti\AppData\Local\Temp\claude\c--Users-karti-repos-ballast\3a11dfef-fe11-4e04-8ecd-63ec54f071eb\scratchpad\deck\assets\bg_content.png"/>
          <p:cNvPicPr>
            <a:picLocks noChangeAspect="1"/>
          </p:cNvPicPr>
          <p:nvPr/>
        </p:nvPicPr>
        <p:blipFill>
          <a:blip r:embed="rId3"/>
          <a:stretch>
            <a:fillRect/>
          </a:stretch>
        </p:blipFill>
        <p:spPr>
          <a:xfrm>
            <a:off x="0" y="0"/>
            <a:ext cx="18859500" cy="10287000"/>
          </a:xfrm>
          <a:prstGeom prst="rect">
            <a:avLst/>
          </a:prstGeom>
        </p:spPr>
      </p:pic>
      <p:sp>
        <p:nvSpPr>
          <p:cNvPr id="3" name="Text 0"/>
          <p:cNvSpPr txBox="1"/>
          <p:nvPr/>
        </p:nvSpPr>
        <p:spPr>
          <a:xfrm>
            <a:off x="1024128" y="196596"/>
            <a:ext cx="10972800" cy="320040"/>
          </a:xfrm>
          <a:prstGeom prst="rect">
            <a:avLst/>
          </a:prstGeom>
          <a:noFill/>
          <a:ln/>
        </p:spPr>
        <p:txBody>
          <a:bodyPr wrap="square" lIns="0" tIns="0" rIns="0" bIns="0" rtlCol="0" anchor="ctr"/>
          <a:lstStyle/>
          <a:p>
            <a:pPr marL="0" indent="0">
              <a:buNone/>
            </a:pPr>
            <a:r>
              <a:rPr lang="en-US" sz="1500" b="1" kern="0" spc="200" dirty="0">
                <a:solidFill>
                  <a:srgbClr val="8AA68D"/>
                </a:solidFill>
                <a:latin typeface="Arial" pitchFamily="34" charset="0"/>
                <a:ea typeface="Arial" pitchFamily="34" charset="-122"/>
                <a:cs typeface="Arial" pitchFamily="34" charset="-120"/>
              </a:rPr>
              <a:t>SLIDE 6 : RESULTS</a:t>
            </a:r>
            <a:endParaRPr lang="en-US" sz="1500" dirty="0"/>
          </a:p>
        </p:txBody>
      </p:sp>
      <p:sp>
        <p:nvSpPr>
          <p:cNvPr id="4" name="Text 1"/>
          <p:cNvSpPr txBox="1"/>
          <p:nvPr/>
        </p:nvSpPr>
        <p:spPr>
          <a:xfrm>
            <a:off x="1024128" y="960120"/>
            <a:ext cx="16806672" cy="77724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BALLAST WINS ACROSS EVERY BENCHMARK POLICY</a:t>
            </a:r>
            <a:endParaRPr lang="en-US" sz="4000" dirty="0"/>
          </a:p>
        </p:txBody>
      </p:sp>
      <p:sp>
        <p:nvSpPr>
          <p:cNvPr id="5" name="Text 2"/>
          <p:cNvSpPr txBox="1"/>
          <p:nvPr/>
        </p:nvSpPr>
        <p:spPr>
          <a:xfrm>
            <a:off x="1024128" y="1783080"/>
            <a:ext cx="16806672" cy="502920"/>
          </a:xfrm>
          <a:prstGeom prst="rect">
            <a:avLst/>
          </a:prstGeom>
          <a:noFill/>
          <a:ln/>
        </p:spPr>
        <p:txBody>
          <a:bodyPr wrap="square" lIns="0" tIns="0" rIns="0" bIns="0" rtlCol="0" anchor="ctr"/>
          <a:lstStyle/>
          <a:p>
            <a:pPr marL="0" indent="0">
              <a:buNone/>
            </a:pPr>
            <a:r>
              <a:rPr lang="en-US" sz="2000" dirty="0">
                <a:solidFill>
                  <a:srgbClr val="C9A86A"/>
                </a:solidFill>
                <a:latin typeface="Arial" pitchFamily="34" charset="0"/>
                <a:ea typeface="Arial" pitchFamily="34" charset="-122"/>
                <a:cs typeface="Arial" pitchFamily="34" charset="-120"/>
              </a:rPr>
              <a:t>Cutting total liquidity costs by 50.8% ($20.98M savings) vs cash and beating the exhaustively-tuned $40M static buffer.</a:t>
            </a:r>
            <a:endParaRPr lang="en-US" sz="2000" dirty="0"/>
          </a:p>
        </p:txBody>
      </p:sp>
      <p:sp>
        <p:nvSpPr>
          <p:cNvPr id="6" name="Text 3"/>
          <p:cNvSpPr txBox="1"/>
          <p:nvPr/>
        </p:nvSpPr>
        <p:spPr>
          <a:xfrm>
            <a:off x="1024128" y="9738360"/>
            <a:ext cx="5486400" cy="320040"/>
          </a:xfrm>
          <a:prstGeom prst="rect">
            <a:avLst/>
          </a:prstGeom>
          <a:noFill/>
          <a:ln/>
        </p:spPr>
        <p:txBody>
          <a:bodyPr wrap="square" lIns="0" tIns="0" rIns="0" bIns="0" rtlCol="0" anchor="ctr"/>
          <a:lstStyle/>
          <a:p>
            <a:pPr marL="0" indent="0">
              <a:buNone/>
            </a:pPr>
            <a:r>
              <a:rPr lang="en-US" sz="1300" dirty="0">
                <a:solidFill>
                  <a:srgbClr val="5E5A53"/>
                </a:solidFill>
                <a:latin typeface="Arial" pitchFamily="34" charset="0"/>
                <a:ea typeface="Arial" pitchFamily="34" charset="-122"/>
                <a:cs typeface="Arial" pitchFamily="34" charset="-120"/>
              </a:rPr>
              <a:t>BALLAST  //  Autonomous Treasury Engine</a:t>
            </a:r>
            <a:endParaRPr lang="en-US" sz="1300" dirty="0"/>
          </a:p>
        </p:txBody>
      </p:sp>
      <p:sp>
        <p:nvSpPr>
          <p:cNvPr id="7" name="Text 4"/>
          <p:cNvSpPr txBox="1"/>
          <p:nvPr/>
        </p:nvSpPr>
        <p:spPr>
          <a:xfrm>
            <a:off x="6858000" y="9738360"/>
            <a:ext cx="5943600" cy="320040"/>
          </a:xfrm>
          <a:prstGeom prst="rect">
            <a:avLst/>
          </a:prstGeom>
          <a:noFill/>
          <a:ln/>
        </p:spPr>
        <p:txBody>
          <a:bodyPr wrap="square" lIns="0" tIns="0" rIns="0" bIns="0" rtlCol="0" anchor="ctr"/>
          <a:lstStyle/>
          <a:p>
            <a:pPr marL="0" indent="0" algn="ctr">
              <a:buNone/>
            </a:pPr>
            <a:r>
              <a:rPr lang="en-US" sz="1300" dirty="0">
                <a:solidFill>
                  <a:srgbClr val="5E5A53"/>
                </a:solidFill>
                <a:latin typeface="Arial" pitchFamily="34" charset="0"/>
                <a:ea typeface="Arial" pitchFamily="34" charset="-122"/>
                <a:cs typeface="Arial" pitchFamily="34" charset="-120"/>
              </a:rPr>
              <a:t>HackForge '26 Advanced Track  •  Problem: The Reserve Juggler</a:t>
            </a:r>
            <a:endParaRPr lang="en-US" sz="1300" dirty="0"/>
          </a:p>
        </p:txBody>
      </p:sp>
      <p:sp>
        <p:nvSpPr>
          <p:cNvPr id="8" name="Text 5"/>
          <p:cNvSpPr txBox="1"/>
          <p:nvPr/>
        </p:nvSpPr>
        <p:spPr>
          <a:xfrm>
            <a:off x="13258800" y="9738360"/>
            <a:ext cx="4572000" cy="320040"/>
          </a:xfrm>
          <a:prstGeom prst="rect">
            <a:avLst/>
          </a:prstGeom>
          <a:noFill/>
          <a:ln/>
        </p:spPr>
        <p:txBody>
          <a:bodyPr wrap="square" lIns="0" tIns="0" rIns="0" bIns="0" rtlCol="0" anchor="ctr"/>
          <a:lstStyle/>
          <a:p>
            <a:pPr marL="0" indent="0" algn="r">
              <a:buNone/>
            </a:pPr>
            <a:r>
              <a:rPr lang="en-US" sz="1300" dirty="0">
                <a:solidFill>
                  <a:srgbClr val="5E5A53"/>
                </a:solidFill>
                <a:latin typeface="Arial" pitchFamily="34" charset="0"/>
                <a:ea typeface="Arial" pitchFamily="34" charset="-122"/>
                <a:cs typeface="Arial" pitchFamily="34" charset="-120"/>
              </a:rPr>
              <a:t>Team globalhost  |  ballast.jkartik.in</a:t>
            </a:r>
            <a:endParaRPr lang="en-US" sz="1300" dirty="0"/>
          </a:p>
        </p:txBody>
      </p:sp>
      <p:sp>
        <p:nvSpPr>
          <p:cNvPr id="9" name="Shape 6"/>
          <p:cNvSpPr/>
          <p:nvPr/>
        </p:nvSpPr>
        <p:spPr>
          <a:xfrm>
            <a:off x="1024128" y="2514600"/>
            <a:ext cx="9144000" cy="6949440"/>
          </a:xfrm>
          <a:prstGeom prst="roundRect">
            <a:avLst>
              <a:gd name="adj" fmla="val 1053"/>
            </a:avLst>
          </a:prstGeom>
          <a:solidFill>
            <a:srgbClr val="14171F"/>
          </a:solidFill>
          <a:ln w="12700">
            <a:solidFill>
              <a:srgbClr val="2A303C"/>
            </a:solidFill>
            <a:prstDash val="solid"/>
          </a:ln>
        </p:spPr>
      </p:sp>
      <p:sp>
        <p:nvSpPr>
          <p:cNvPr id="10" name="Text 7"/>
          <p:cNvSpPr txBox="1"/>
          <p:nvPr/>
        </p:nvSpPr>
        <p:spPr>
          <a:xfrm>
            <a:off x="1344168" y="2788920"/>
            <a:ext cx="8503920" cy="274320"/>
          </a:xfrm>
          <a:prstGeom prst="rect">
            <a:avLst/>
          </a:prstGeom>
          <a:noFill/>
          <a:ln/>
        </p:spPr>
        <p:txBody>
          <a:bodyPr wrap="square" lIns="0" tIns="0" rIns="0" bIns="0" rtlCol="0" anchor="ctr"/>
          <a:lstStyle/>
          <a:p>
            <a:pPr marL="0" indent="0">
              <a:buNone/>
            </a:pPr>
            <a:r>
              <a:rPr lang="en-US" sz="1400" b="1" kern="0" spc="100" dirty="0">
                <a:solidFill>
                  <a:srgbClr val="C9A86A"/>
                </a:solidFill>
                <a:latin typeface="Arial" pitchFamily="34" charset="0"/>
                <a:ea typeface="Arial" pitchFamily="34" charset="-122"/>
                <a:cs typeface="Arial" pitchFamily="34" charset="-120"/>
              </a:rPr>
              <a:t>TOTAL COST OF LIQUIDITY COMPARISON ($M)  —  LOWER IS SUPERIOR</a:t>
            </a:r>
            <a:endParaRPr lang="en-US" sz="1400" dirty="0"/>
          </a:p>
        </p:txBody>
      </p:sp>
      <p:graphicFrame>
        <p:nvGraphicFramePr>
          <p:cNvPr id="11" name="Chart 0"/>
          <p:cNvGraphicFramePr/>
          <p:nvPr/>
        </p:nvGraphicFramePr>
        <p:xfrm>
          <a:off x="1344168" y="3108960"/>
          <a:ext cx="8503920" cy="3246120"/>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 8"/>
          <p:cNvSpPr txBox="1"/>
          <p:nvPr/>
        </p:nvSpPr>
        <p:spPr>
          <a:xfrm>
            <a:off x="1344168" y="6446520"/>
            <a:ext cx="8503920" cy="228600"/>
          </a:xfrm>
          <a:prstGeom prst="rect">
            <a:avLst/>
          </a:prstGeom>
          <a:noFill/>
          <a:ln/>
        </p:spPr>
        <p:txBody>
          <a:bodyPr wrap="square" lIns="0" tIns="0" rIns="0" bIns="0" rtlCol="0" anchor="ctr"/>
          <a:lstStyle/>
          <a:p>
            <a:pPr marL="0" indent="0">
              <a:buNone/>
            </a:pPr>
            <a:r>
              <a:rPr lang="en-US" sz="1300" b="1" kern="0" spc="100" dirty="0">
                <a:solidFill>
                  <a:srgbClr val="8AA68D"/>
                </a:solidFill>
                <a:latin typeface="Arial" pitchFamily="34" charset="0"/>
                <a:ea typeface="Arial" pitchFamily="34" charset="-122"/>
                <a:cs typeface="Arial" pitchFamily="34" charset="-120"/>
              </a:rPr>
              <a:t>FULL 8,760-HOUR SIMULATION LEDGER RECONCILIATION</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1344168" y="6739128"/>
          <a:ext cx="8503920" cy="2296160"/>
        </p:xfrm>
        <a:graphic>
          <a:graphicData uri="http://schemas.openxmlformats.org/drawingml/2006/table">
            <a:tbl>
              <a:tblPr/>
              <a:tblGrid>
                <a:gridCol w="228600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23444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280035">
                <a:tc>
                  <a:txBody>
                    <a:bodyPr/>
                    <a:lstStyle/>
                    <a:p>
                      <a:pPr marL="0" indent="0">
                        <a:buNone/>
                      </a:pPr>
                      <a:r>
                        <a:rPr lang="en-US" sz="1050" b="1" dirty="0">
                          <a:solidFill>
                            <a:srgbClr val="C9A86A"/>
                          </a:solidFill>
                          <a:latin typeface="Arial" pitchFamily="34" charset="0"/>
                          <a:ea typeface="Arial" pitchFamily="34" charset="-122"/>
                          <a:cs typeface="Arial" pitchFamily="34" charset="-120"/>
                        </a:rPr>
                        <a:t>Strategy</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lgn="r">
                        <a:buNone/>
                      </a:pPr>
                      <a:r>
                        <a:rPr lang="en-US" sz="1050" b="1" dirty="0">
                          <a:solidFill>
                            <a:srgbClr val="C9A86A"/>
                          </a:solidFill>
                          <a:latin typeface="Arial" pitchFamily="34" charset="0"/>
                          <a:ea typeface="Arial" pitchFamily="34" charset="-122"/>
                          <a:cs typeface="Arial" pitchFamily="34" charset="-120"/>
                        </a:rPr>
                        <a:t>Total Cost</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lgn="r">
                        <a:buNone/>
                      </a:pPr>
                      <a:r>
                        <a:rPr lang="en-US" sz="1050" b="1" dirty="0">
                          <a:solidFill>
                            <a:srgbClr val="C9A86A"/>
                          </a:solidFill>
                          <a:latin typeface="Arial" pitchFamily="34" charset="0"/>
                          <a:ea typeface="Arial" pitchFamily="34" charset="-122"/>
                          <a:cs typeface="Arial" pitchFamily="34" charset="-120"/>
                        </a:rPr>
                        <a:t>Net Interest</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lgn="r">
                        <a:buNone/>
                      </a:pPr>
                      <a:r>
                        <a:rPr lang="en-US" sz="1050" b="1" dirty="0">
                          <a:solidFill>
                            <a:srgbClr val="C9A86A"/>
                          </a:solidFill>
                          <a:latin typeface="Arial" pitchFamily="34" charset="0"/>
                          <a:ea typeface="Arial" pitchFamily="34" charset="-122"/>
                          <a:cs typeface="Arial" pitchFamily="34" charset="-120"/>
                        </a:rPr>
                        <a:t>Tier Breaks</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lgn="r">
                        <a:buNone/>
                      </a:pPr>
                      <a:r>
                        <a:rPr lang="en-US" sz="1050" b="1" dirty="0">
                          <a:solidFill>
                            <a:srgbClr val="C9A86A"/>
                          </a:solidFill>
                          <a:latin typeface="Arial" pitchFamily="34" charset="0"/>
                          <a:ea typeface="Arial" pitchFamily="34" charset="-122"/>
                          <a:cs typeface="Arial" pitchFamily="34" charset="-120"/>
                        </a:rPr>
                        <a:t>Overdraft</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lgn="r">
                        <a:buNone/>
                      </a:pPr>
                      <a:r>
                        <a:rPr lang="en-US" sz="1050" b="1" dirty="0">
                          <a:solidFill>
                            <a:srgbClr val="C9A86A"/>
                          </a:solidFill>
                          <a:latin typeface="Arial" pitchFamily="34" charset="0"/>
                          <a:ea typeface="Arial" pitchFamily="34" charset="-122"/>
                          <a:cs typeface="Arial" pitchFamily="34" charset="-120"/>
                        </a:rPr>
                        <a:t>Payout %</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extLst>
                  <a:ext uri="{0D108BD9-81ED-4DB2-BD59-A6C34878D82A}">
                    <a16:rowId xmlns:a16="http://schemas.microsoft.com/office/drawing/2014/main" val="10000"/>
                  </a:ext>
                </a:extLst>
              </a:tr>
              <a:tr h="280035">
                <a:tc>
                  <a:txBody>
                    <a:bodyPr/>
                    <a:lstStyle/>
                    <a:p>
                      <a:pPr marL="0" indent="0">
                        <a:buNone/>
                      </a:pPr>
                      <a:r>
                        <a:rPr lang="en-US" sz="1050" dirty="0">
                          <a:solidFill>
                            <a:srgbClr val="ECE9E4"/>
                          </a:solidFill>
                          <a:latin typeface="Arial" pitchFamily="34" charset="0"/>
                          <a:ea typeface="Arial" pitchFamily="34" charset="-122"/>
                          <a:cs typeface="Arial" pitchFamily="34" charset="-120"/>
                        </a:rPr>
                        <a:t>All-Cash (No Sweeps)</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050" dirty="0">
                          <a:solidFill>
                            <a:srgbClr val="ECE9E4"/>
                          </a:solidFill>
                          <a:latin typeface="Arial" pitchFamily="34" charset="0"/>
                          <a:ea typeface="Arial" pitchFamily="34" charset="-122"/>
                          <a:cs typeface="Arial" pitchFamily="34" charset="-120"/>
                        </a:rPr>
                        <a:t>$41,330,803</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050" dirty="0">
                          <a:solidFill>
                            <a:srgbClr val="ECE9E4"/>
                          </a:solidFill>
                          <a:latin typeface="Arial" pitchFamily="34" charset="0"/>
                          <a:ea typeface="Arial" pitchFamily="34" charset="-122"/>
                          <a:cs typeface="Arial" pitchFamily="34" charset="-120"/>
                        </a:rPr>
                        <a:t>$0</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050" dirty="0">
                          <a:solidFill>
                            <a:srgbClr val="ECE9E4"/>
                          </a:solidFill>
                          <a:latin typeface="Arial" pitchFamily="34" charset="0"/>
                          <a:ea typeface="Arial" pitchFamily="34" charset="-122"/>
                          <a:cs typeface="Arial" pitchFamily="34" charset="-120"/>
                        </a:rPr>
                        <a:t>0</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050" dirty="0">
                          <a:solidFill>
                            <a:srgbClr val="ECE9E4"/>
                          </a:solidFill>
                          <a:latin typeface="Arial" pitchFamily="34" charset="0"/>
                          <a:ea typeface="Arial" pitchFamily="34" charset="-122"/>
                          <a:cs typeface="Arial" pitchFamily="34" charset="-120"/>
                        </a:rPr>
                        <a:t>1,684 hrs</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050" dirty="0">
                          <a:solidFill>
                            <a:srgbClr val="ECE9E4"/>
                          </a:solidFill>
                          <a:latin typeface="Arial" pitchFamily="34" charset="0"/>
                          <a:ea typeface="Arial" pitchFamily="34" charset="-122"/>
                          <a:cs typeface="Arial" pitchFamily="34" charset="-120"/>
                        </a:rPr>
                        <a:t>100.0%</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extLst>
                  <a:ext uri="{0D108BD9-81ED-4DB2-BD59-A6C34878D82A}">
                    <a16:rowId xmlns:a16="http://schemas.microsoft.com/office/drawing/2014/main" val="10001"/>
                  </a:ext>
                </a:extLst>
              </a:tr>
              <a:tr h="280035">
                <a:tc>
                  <a:txBody>
                    <a:bodyPr/>
                    <a:lstStyle/>
                    <a:p>
                      <a:pPr marL="0" indent="0">
                        <a:buNone/>
                      </a:pPr>
                      <a:r>
                        <a:rPr lang="en-US" sz="1050" dirty="0">
                          <a:solidFill>
                            <a:srgbClr val="ECE9E4"/>
                          </a:solidFill>
                          <a:latin typeface="Arial" pitchFamily="34" charset="0"/>
                          <a:ea typeface="Arial" pitchFamily="34" charset="-122"/>
                          <a:cs typeface="Arial" pitchFamily="34" charset="-120"/>
                        </a:rPr>
                        <a:t>Fixed % of Gross (50%)</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050" dirty="0">
                          <a:solidFill>
                            <a:srgbClr val="ECE9E4"/>
                          </a:solidFill>
                          <a:latin typeface="Arial" pitchFamily="34" charset="0"/>
                          <a:ea typeface="Arial" pitchFamily="34" charset="-122"/>
                          <a:cs typeface="Arial" pitchFamily="34" charset="-120"/>
                        </a:rPr>
                        <a:t>$24,366,909</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050" dirty="0">
                          <a:solidFill>
                            <a:srgbClr val="ECE9E4"/>
                          </a:solidFill>
                          <a:latin typeface="Arial" pitchFamily="34" charset="0"/>
                          <a:ea typeface="Arial" pitchFamily="34" charset="-122"/>
                          <a:cs typeface="Arial" pitchFamily="34" charset="-120"/>
                        </a:rPr>
                        <a:t>$17,039,167</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050" dirty="0">
                          <a:solidFill>
                            <a:srgbClr val="ECE9E4"/>
                          </a:solidFill>
                          <a:latin typeface="Arial" pitchFamily="34" charset="0"/>
                          <a:ea typeface="Arial" pitchFamily="34" charset="-122"/>
                          <a:cs typeface="Arial" pitchFamily="34" charset="-120"/>
                        </a:rPr>
                        <a:t>0</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050" dirty="0">
                          <a:solidFill>
                            <a:srgbClr val="ECE9E4"/>
                          </a:solidFill>
                          <a:latin typeface="Arial" pitchFamily="34" charset="0"/>
                          <a:ea typeface="Arial" pitchFamily="34" charset="-122"/>
                          <a:cs typeface="Arial" pitchFamily="34" charset="-120"/>
                        </a:rPr>
                        <a:t>1,590 hrs</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050" dirty="0">
                          <a:solidFill>
                            <a:srgbClr val="ECE9E4"/>
                          </a:solidFill>
                          <a:latin typeface="Arial" pitchFamily="34" charset="0"/>
                          <a:ea typeface="Arial" pitchFamily="34" charset="-122"/>
                          <a:cs typeface="Arial" pitchFamily="34" charset="-120"/>
                        </a:rPr>
                        <a:t>100.0%</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extLst>
                  <a:ext uri="{0D108BD9-81ED-4DB2-BD59-A6C34878D82A}">
                    <a16:rowId xmlns:a16="http://schemas.microsoft.com/office/drawing/2014/main" val="10002"/>
                  </a:ext>
                </a:extLst>
              </a:tr>
              <a:tr h="280035">
                <a:tc>
                  <a:txBody>
                    <a:bodyPr/>
                    <a:lstStyle/>
                    <a:p>
                      <a:pPr marL="0" indent="0">
                        <a:buNone/>
                      </a:pPr>
                      <a:r>
                        <a:rPr lang="en-US" sz="1050" dirty="0">
                          <a:solidFill>
                            <a:srgbClr val="ECE9E4"/>
                          </a:solidFill>
                          <a:latin typeface="Arial" pitchFamily="34" charset="0"/>
                          <a:ea typeface="Arial" pitchFamily="34" charset="-122"/>
                          <a:cs typeface="Arial" pitchFamily="34" charset="-120"/>
                        </a:rPr>
                        <a:t>Miller-Orr Bands</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050" dirty="0">
                          <a:solidFill>
                            <a:srgbClr val="ECE9E4"/>
                          </a:solidFill>
                          <a:latin typeface="Arial" pitchFamily="34" charset="0"/>
                          <a:ea typeface="Arial" pitchFamily="34" charset="-122"/>
                          <a:cs typeface="Arial" pitchFamily="34" charset="-120"/>
                        </a:rPr>
                        <a:t>$25,525,739</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050" dirty="0">
                          <a:solidFill>
                            <a:srgbClr val="ECE9E4"/>
                          </a:solidFill>
                          <a:latin typeface="Arial" pitchFamily="34" charset="0"/>
                          <a:ea typeface="Arial" pitchFamily="34" charset="-122"/>
                          <a:cs typeface="Arial" pitchFamily="34" charset="-120"/>
                        </a:rPr>
                        <a:t>$20,665,857</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050" dirty="0">
                          <a:solidFill>
                            <a:srgbClr val="ECE9E4"/>
                          </a:solidFill>
                          <a:latin typeface="Arial" pitchFamily="34" charset="0"/>
                          <a:ea typeface="Arial" pitchFamily="34" charset="-122"/>
                          <a:cs typeface="Arial" pitchFamily="34" charset="-120"/>
                        </a:rPr>
                        <a:t>509</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050" dirty="0">
                          <a:solidFill>
                            <a:srgbClr val="ECE9E4"/>
                          </a:solidFill>
                          <a:latin typeface="Arial" pitchFamily="34" charset="0"/>
                          <a:ea typeface="Arial" pitchFamily="34" charset="-122"/>
                          <a:cs typeface="Arial" pitchFamily="34" charset="-120"/>
                        </a:rPr>
                        <a:t>1,604 hrs</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050" dirty="0">
                          <a:solidFill>
                            <a:srgbClr val="ECE9E4"/>
                          </a:solidFill>
                          <a:latin typeface="Arial" pitchFamily="34" charset="0"/>
                          <a:ea typeface="Arial" pitchFamily="34" charset="-122"/>
                          <a:cs typeface="Arial" pitchFamily="34" charset="-120"/>
                        </a:rPr>
                        <a:t>100.0%</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extLst>
                  <a:ext uri="{0D108BD9-81ED-4DB2-BD59-A6C34878D82A}">
                    <a16:rowId xmlns:a16="http://schemas.microsoft.com/office/drawing/2014/main" val="10003"/>
                  </a:ext>
                </a:extLst>
              </a:tr>
              <a:tr h="280035">
                <a:tc>
                  <a:txBody>
                    <a:bodyPr/>
                    <a:lstStyle/>
                    <a:p>
                      <a:pPr marL="0" indent="0">
                        <a:buNone/>
                      </a:pPr>
                      <a:r>
                        <a:rPr lang="en-US" sz="1050" dirty="0">
                          <a:solidFill>
                            <a:srgbClr val="ECE9E4"/>
                          </a:solidFill>
                          <a:latin typeface="Arial" pitchFamily="34" charset="0"/>
                          <a:ea typeface="Arial" pitchFamily="34" charset="-122"/>
                          <a:cs typeface="Arial" pitchFamily="34" charset="-120"/>
                        </a:rPr>
                        <a:t>Moving Avg (k=2.0σ)</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050" dirty="0">
                          <a:solidFill>
                            <a:srgbClr val="ECE9E4"/>
                          </a:solidFill>
                          <a:latin typeface="Arial" pitchFamily="34" charset="0"/>
                          <a:ea typeface="Arial" pitchFamily="34" charset="-122"/>
                          <a:cs typeface="Arial" pitchFamily="34" charset="-120"/>
                        </a:rPr>
                        <a:t>$21,083,787</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050" dirty="0">
                          <a:solidFill>
                            <a:srgbClr val="ECE9E4"/>
                          </a:solidFill>
                          <a:latin typeface="Arial" pitchFamily="34" charset="0"/>
                          <a:ea typeface="Arial" pitchFamily="34" charset="-122"/>
                          <a:cs typeface="Arial" pitchFamily="34" charset="-120"/>
                        </a:rPr>
                        <a:t>$20,417,808</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050" dirty="0">
                          <a:solidFill>
                            <a:srgbClr val="ECE9E4"/>
                          </a:solidFill>
                          <a:latin typeface="Arial" pitchFamily="34" charset="0"/>
                          <a:ea typeface="Arial" pitchFamily="34" charset="-122"/>
                          <a:cs typeface="Arial" pitchFamily="34" charset="-120"/>
                        </a:rPr>
                        <a:t>19</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050" dirty="0">
                          <a:solidFill>
                            <a:srgbClr val="ECE9E4"/>
                          </a:solidFill>
                          <a:latin typeface="Arial" pitchFamily="34" charset="0"/>
                          <a:ea typeface="Arial" pitchFamily="34" charset="-122"/>
                          <a:cs typeface="Arial" pitchFamily="34" charset="-120"/>
                        </a:rPr>
                        <a:t>1,570 hrs</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050" dirty="0">
                          <a:solidFill>
                            <a:srgbClr val="ECE9E4"/>
                          </a:solidFill>
                          <a:latin typeface="Arial" pitchFamily="34" charset="0"/>
                          <a:ea typeface="Arial" pitchFamily="34" charset="-122"/>
                          <a:cs typeface="Arial" pitchFamily="34" charset="-120"/>
                        </a:rPr>
                        <a:t>100.0%</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extLst>
                  <a:ext uri="{0D108BD9-81ED-4DB2-BD59-A6C34878D82A}">
                    <a16:rowId xmlns:a16="http://schemas.microsoft.com/office/drawing/2014/main" val="10004"/>
                  </a:ext>
                </a:extLst>
              </a:tr>
              <a:tr h="280035">
                <a:tc>
                  <a:txBody>
                    <a:bodyPr/>
                    <a:lstStyle/>
                    <a:p>
                      <a:pPr marL="0" indent="0">
                        <a:buNone/>
                      </a:pPr>
                      <a:r>
                        <a:rPr lang="en-US" sz="1050" dirty="0">
                          <a:solidFill>
                            <a:srgbClr val="ECE9E4"/>
                          </a:solidFill>
                          <a:latin typeface="Arial" pitchFamily="34" charset="0"/>
                          <a:ea typeface="Arial" pitchFamily="34" charset="-122"/>
                          <a:cs typeface="Arial" pitchFamily="34" charset="-120"/>
                        </a:rPr>
                        <a:t>Best Hindsight Static ($40M)</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050" dirty="0">
                          <a:solidFill>
                            <a:srgbClr val="ECE9E4"/>
                          </a:solidFill>
                          <a:latin typeface="Arial" pitchFamily="34" charset="0"/>
                          <a:ea typeface="Arial" pitchFamily="34" charset="-122"/>
                          <a:cs typeface="Arial" pitchFamily="34" charset="-120"/>
                        </a:rPr>
                        <a:t>$20,377,909</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050" dirty="0">
                          <a:solidFill>
                            <a:srgbClr val="ECE9E4"/>
                          </a:solidFill>
                          <a:latin typeface="Arial" pitchFamily="34" charset="0"/>
                          <a:ea typeface="Arial" pitchFamily="34" charset="-122"/>
                          <a:cs typeface="Arial" pitchFamily="34" charset="-120"/>
                        </a:rPr>
                        <a:t>$21,067,834</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050" dirty="0">
                          <a:solidFill>
                            <a:srgbClr val="ECE9E4"/>
                          </a:solidFill>
                          <a:latin typeface="Arial" pitchFamily="34" charset="0"/>
                          <a:ea typeface="Arial" pitchFamily="34" charset="-122"/>
                          <a:cs typeface="Arial" pitchFamily="34" charset="-120"/>
                        </a:rPr>
                        <a:t>10</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050" dirty="0">
                          <a:solidFill>
                            <a:srgbClr val="ECE9E4"/>
                          </a:solidFill>
                          <a:latin typeface="Arial" pitchFamily="34" charset="0"/>
                          <a:ea typeface="Arial" pitchFamily="34" charset="-122"/>
                          <a:cs typeface="Arial" pitchFamily="34" charset="-120"/>
                        </a:rPr>
                        <a:t>1,567 hrs</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050" dirty="0">
                          <a:solidFill>
                            <a:srgbClr val="ECE9E4"/>
                          </a:solidFill>
                          <a:latin typeface="Arial" pitchFamily="34" charset="0"/>
                          <a:ea typeface="Arial" pitchFamily="34" charset="-122"/>
                          <a:cs typeface="Arial" pitchFamily="34" charset="-120"/>
                        </a:rPr>
                        <a:t>100.0%</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extLst>
                  <a:ext uri="{0D108BD9-81ED-4DB2-BD59-A6C34878D82A}">
                    <a16:rowId xmlns:a16="http://schemas.microsoft.com/office/drawing/2014/main" val="10005"/>
                  </a:ext>
                </a:extLst>
              </a:tr>
              <a:tr h="280035">
                <a:tc>
                  <a:txBody>
                    <a:bodyPr/>
                    <a:lstStyle/>
                    <a:p>
                      <a:pPr marL="0" indent="0">
                        <a:buNone/>
                      </a:pPr>
                      <a:r>
                        <a:rPr lang="en-US" sz="1050" b="1" dirty="0">
                          <a:solidFill>
                            <a:srgbClr val="FFFFFF"/>
                          </a:solidFill>
                          <a:latin typeface="Arial" pitchFamily="34" charset="0"/>
                          <a:ea typeface="Arial" pitchFamily="34" charset="-122"/>
                          <a:cs typeface="Arial" pitchFamily="34" charset="-120"/>
                        </a:rPr>
                        <a:t>BALLAST (Autonomous)</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lgn="r">
                        <a:buNone/>
                      </a:pPr>
                      <a:r>
                        <a:rPr lang="en-US" sz="1050" b="1" dirty="0">
                          <a:solidFill>
                            <a:srgbClr val="C9A86A"/>
                          </a:solidFill>
                          <a:latin typeface="Arial" pitchFamily="34" charset="0"/>
                          <a:ea typeface="Arial" pitchFamily="34" charset="-122"/>
                          <a:cs typeface="Arial" pitchFamily="34" charset="-120"/>
                        </a:rPr>
                        <a:t>$20,349,462</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lgn="r">
                        <a:buNone/>
                      </a:pPr>
                      <a:r>
                        <a:rPr lang="en-US" sz="1050" b="1" dirty="0">
                          <a:solidFill>
                            <a:srgbClr val="C9A86A"/>
                          </a:solidFill>
                          <a:latin typeface="Arial" pitchFamily="34" charset="0"/>
                          <a:ea typeface="Arial" pitchFamily="34" charset="-122"/>
                          <a:cs typeface="Arial" pitchFamily="34" charset="-120"/>
                        </a:rPr>
                        <a:t>$21,352,965</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lgn="r">
                        <a:buNone/>
                      </a:pPr>
                      <a:r>
                        <a:rPr lang="en-US" sz="1050" b="1" dirty="0">
                          <a:solidFill>
                            <a:srgbClr val="FFFFFF"/>
                          </a:solidFill>
                          <a:latin typeface="Arial" pitchFamily="34" charset="0"/>
                          <a:ea typeface="Arial" pitchFamily="34" charset="-122"/>
                          <a:cs typeface="Arial" pitchFamily="34" charset="-120"/>
                        </a:rPr>
                        <a:t>55</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lgn="r">
                        <a:buNone/>
                      </a:pPr>
                      <a:r>
                        <a:rPr lang="en-US" sz="1050" b="1" dirty="0">
                          <a:solidFill>
                            <a:srgbClr val="FFFFFF"/>
                          </a:solidFill>
                          <a:latin typeface="Arial" pitchFamily="34" charset="0"/>
                          <a:ea typeface="Arial" pitchFamily="34" charset="-122"/>
                          <a:cs typeface="Arial" pitchFamily="34" charset="-120"/>
                        </a:rPr>
                        <a:t>1,567 hrs</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lgn="r">
                        <a:buNone/>
                      </a:pPr>
                      <a:r>
                        <a:rPr lang="en-US" sz="1050" b="1" dirty="0">
                          <a:solidFill>
                            <a:srgbClr val="8AA68D"/>
                          </a:solidFill>
                          <a:latin typeface="Arial" pitchFamily="34" charset="0"/>
                          <a:ea typeface="Arial" pitchFamily="34" charset="-122"/>
                          <a:cs typeface="Arial" pitchFamily="34" charset="-120"/>
                        </a:rPr>
                        <a:t>100.0%</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extLst>
                  <a:ext uri="{0D108BD9-81ED-4DB2-BD59-A6C34878D82A}">
                    <a16:rowId xmlns:a16="http://schemas.microsoft.com/office/drawing/2014/main" val="10006"/>
                  </a:ext>
                </a:extLst>
              </a:tr>
              <a:tr h="280035">
                <a:tc>
                  <a:txBody>
                    <a:bodyPr/>
                    <a:lstStyle/>
                    <a:p>
                      <a:pPr marL="0" indent="0">
                        <a:buNone/>
                      </a:pPr>
                      <a:r>
                        <a:rPr lang="en-US" sz="1050" dirty="0">
                          <a:solidFill>
                            <a:srgbClr val="8AA68D"/>
                          </a:solidFill>
                          <a:latin typeface="Arial" pitchFamily="34" charset="0"/>
                          <a:ea typeface="Arial" pitchFamily="34" charset="-122"/>
                          <a:cs typeface="Arial" pitchFamily="34" charset="-120"/>
                        </a:rPr>
                        <a:t>Oracle (Perfect Foresight)</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lgn="r">
                        <a:buNone/>
                      </a:pPr>
                      <a:r>
                        <a:rPr lang="en-US" sz="1050" dirty="0">
                          <a:solidFill>
                            <a:srgbClr val="8AA68D"/>
                          </a:solidFill>
                          <a:latin typeface="Arial" pitchFamily="34" charset="0"/>
                          <a:ea typeface="Arial" pitchFamily="34" charset="-122"/>
                          <a:cs typeface="Arial" pitchFamily="34" charset="-120"/>
                        </a:rPr>
                        <a:t>$19,751,669</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lgn="r">
                        <a:buNone/>
                      </a:pPr>
                      <a:r>
                        <a:rPr lang="en-US" sz="1050" dirty="0">
                          <a:solidFill>
                            <a:srgbClr val="8AA68D"/>
                          </a:solidFill>
                          <a:latin typeface="Arial" pitchFamily="34" charset="0"/>
                          <a:ea typeface="Arial" pitchFamily="34" charset="-122"/>
                          <a:cs typeface="Arial" pitchFamily="34" charset="-120"/>
                        </a:rPr>
                        <a:t>$21,626,216</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lgn="r">
                        <a:buNone/>
                      </a:pPr>
                      <a:r>
                        <a:rPr lang="en-US" sz="1050" dirty="0">
                          <a:solidFill>
                            <a:srgbClr val="8AA68D"/>
                          </a:solidFill>
                          <a:latin typeface="Arial" pitchFamily="34" charset="0"/>
                          <a:ea typeface="Arial" pitchFamily="34" charset="-122"/>
                          <a:cs typeface="Arial" pitchFamily="34" charset="-120"/>
                        </a:rPr>
                        <a:t>102</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lgn="r">
                        <a:buNone/>
                      </a:pPr>
                      <a:r>
                        <a:rPr lang="en-US" sz="1050" dirty="0">
                          <a:solidFill>
                            <a:srgbClr val="8AA68D"/>
                          </a:solidFill>
                          <a:latin typeface="Arial" pitchFamily="34" charset="0"/>
                          <a:ea typeface="Arial" pitchFamily="34" charset="-122"/>
                          <a:cs typeface="Arial" pitchFamily="34" charset="-120"/>
                        </a:rPr>
                        <a:t>1,564 hrs</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lgn="r">
                        <a:buNone/>
                      </a:pPr>
                      <a:r>
                        <a:rPr lang="en-US" sz="1050" dirty="0">
                          <a:solidFill>
                            <a:srgbClr val="8AA68D"/>
                          </a:solidFill>
                          <a:latin typeface="Arial" pitchFamily="34" charset="0"/>
                          <a:ea typeface="Arial" pitchFamily="34" charset="-122"/>
                          <a:cs typeface="Arial" pitchFamily="34" charset="-120"/>
                        </a:rPr>
                        <a:t>100.0%</a:t>
                      </a:r>
                      <a:endParaRPr lang="en-US" sz="1050" dirty="0">
                        <a:latin typeface="Arial" charset="0"/>
                        <a:ea typeface="Arial" charset="0"/>
                        <a:cs typeface="Arial" charset="0"/>
                      </a:endParaRPr>
                    </a:p>
                  </a:txBody>
                  <a:tcPr marL="63500" marR="63500" marT="63500" marB="635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extLst>
                  <a:ext uri="{0D108BD9-81ED-4DB2-BD59-A6C34878D82A}">
                    <a16:rowId xmlns:a16="http://schemas.microsoft.com/office/drawing/2014/main" val="10007"/>
                  </a:ext>
                </a:extLst>
              </a:tr>
            </a:tbl>
          </a:graphicData>
        </a:graphic>
      </p:graphicFrame>
      <p:sp>
        <p:nvSpPr>
          <p:cNvPr id="14" name="Shape 9"/>
          <p:cNvSpPr/>
          <p:nvPr/>
        </p:nvSpPr>
        <p:spPr>
          <a:xfrm>
            <a:off x="10442448" y="2514600"/>
            <a:ext cx="7388352" cy="6949440"/>
          </a:xfrm>
          <a:prstGeom prst="roundRect">
            <a:avLst>
              <a:gd name="adj" fmla="val 1053"/>
            </a:avLst>
          </a:prstGeom>
          <a:solidFill>
            <a:srgbClr val="14171F"/>
          </a:solidFill>
          <a:ln w="12700">
            <a:solidFill>
              <a:srgbClr val="2A303C"/>
            </a:solidFill>
            <a:prstDash val="solid"/>
          </a:ln>
        </p:spPr>
      </p:sp>
      <p:pic>
        <p:nvPicPr>
          <p:cNvPr id="15" name="Image 1" descr="C:\Users\karti\AppData\Local\Temp\claude\c--Users-karti-repos-ballast\3a11dfef-fe11-4e04-8ecd-63ec54f071eb\scratchpad\deck\assets\ref_slider-section.png"/>
          <p:cNvPicPr>
            <a:picLocks noChangeAspect="1"/>
          </p:cNvPicPr>
          <p:nvPr/>
        </p:nvPicPr>
        <p:blipFill>
          <a:blip r:embed="rId5"/>
          <a:stretch>
            <a:fillRect/>
          </a:stretch>
        </p:blipFill>
        <p:spPr>
          <a:xfrm>
            <a:off x="10625328" y="2697480"/>
            <a:ext cx="7022592" cy="3931920"/>
          </a:xfrm>
          <a:prstGeom prst="rect">
            <a:avLst/>
          </a:prstGeom>
        </p:spPr>
      </p:pic>
      <p:sp>
        <p:nvSpPr>
          <p:cNvPr id="16" name="Text 10"/>
          <p:cNvSpPr txBox="1"/>
          <p:nvPr/>
        </p:nvSpPr>
        <p:spPr>
          <a:xfrm>
            <a:off x="10762488" y="6766560"/>
            <a:ext cx="6766560" cy="274320"/>
          </a:xfrm>
          <a:prstGeom prst="rect">
            <a:avLst/>
          </a:prstGeom>
          <a:noFill/>
          <a:ln/>
        </p:spPr>
        <p:txBody>
          <a:bodyPr wrap="square" lIns="0" tIns="0" rIns="0" bIns="0" rtlCol="0" anchor="ctr"/>
          <a:lstStyle/>
          <a:p>
            <a:pPr marL="0" indent="0">
              <a:buNone/>
            </a:pPr>
            <a:r>
              <a:rPr lang="en-US" sz="1400" b="1" kern="0" spc="100" dirty="0">
                <a:solidFill>
                  <a:srgbClr val="C9A86A"/>
                </a:solidFill>
                <a:latin typeface="Arial" pitchFamily="34" charset="0"/>
                <a:ea typeface="Arial" pitchFamily="34" charset="-122"/>
                <a:cs typeface="Arial" pitchFamily="34" charset="-120"/>
              </a:rPr>
              <a:t>THE COST-OF-CONFIDENCE TRADE-OFF</a:t>
            </a:r>
            <a:endParaRPr lang="en-US" sz="1400" dirty="0"/>
          </a:p>
        </p:txBody>
      </p:sp>
      <p:sp>
        <p:nvSpPr>
          <p:cNvPr id="17" name="Text 11"/>
          <p:cNvSpPr txBox="1"/>
          <p:nvPr/>
        </p:nvSpPr>
        <p:spPr>
          <a:xfrm>
            <a:off x="10762488" y="7086600"/>
            <a:ext cx="6766560" cy="548640"/>
          </a:xfrm>
          <a:prstGeom prst="rect">
            <a:avLst/>
          </a:prstGeom>
          <a:noFill/>
          <a:ln/>
        </p:spPr>
        <p:txBody>
          <a:bodyPr wrap="square" lIns="0" tIns="0" rIns="0" bIns="0" rtlCol="0" anchor="ctr"/>
          <a:lstStyle/>
          <a:p>
            <a:pPr marL="0" indent="0">
              <a:lnSpc>
                <a:spcPts val="1600"/>
              </a:lnSpc>
              <a:buNone/>
            </a:pPr>
            <a:r>
              <a:rPr lang="en-US" sz="1200" dirty="0">
                <a:solidFill>
                  <a:srgbClr val="ECE9E4"/>
                </a:solidFill>
                <a:latin typeface="Arial" pitchFamily="34" charset="0"/>
                <a:ea typeface="Arial" pitchFamily="34" charset="-122"/>
                <a:cs typeface="Arial" pitchFamily="34" charset="-120"/>
              </a:rPr>
              <a:t>• Saves $20,981,341 (50.8%) vs All-Cash: Eliminates $20.8M in idle cash drag while ensuring 100% payout reliability.</a:t>
            </a:r>
            <a:endParaRPr lang="en-US" sz="1200" dirty="0"/>
          </a:p>
        </p:txBody>
      </p:sp>
      <p:sp>
        <p:nvSpPr>
          <p:cNvPr id="18" name="Text 12"/>
          <p:cNvSpPr txBox="1"/>
          <p:nvPr/>
        </p:nvSpPr>
        <p:spPr>
          <a:xfrm>
            <a:off x="10762488" y="7653528"/>
            <a:ext cx="6766560" cy="548640"/>
          </a:xfrm>
          <a:prstGeom prst="rect">
            <a:avLst/>
          </a:prstGeom>
          <a:noFill/>
          <a:ln/>
        </p:spPr>
        <p:txBody>
          <a:bodyPr wrap="square" lIns="0" tIns="0" rIns="0" bIns="0" rtlCol="0" anchor="ctr"/>
          <a:lstStyle/>
          <a:p>
            <a:pPr marL="0" indent="0">
              <a:lnSpc>
                <a:spcPts val="1600"/>
              </a:lnSpc>
              <a:buNone/>
            </a:pPr>
            <a:r>
              <a:rPr lang="en-US" sz="1200" dirty="0">
                <a:solidFill>
                  <a:srgbClr val="ECE9E4"/>
                </a:solidFill>
                <a:latin typeface="Arial" pitchFamily="34" charset="0"/>
                <a:ea typeface="Arial" pitchFamily="34" charset="-122"/>
                <a:cs typeface="Arial" pitchFamily="34" charset="-120"/>
              </a:rPr>
              <a:t>• Saves $5,176,277 (20.3%) vs Miller-Orr: Miller-Orr's rigid bands caused 509 expensive tier breaks ($11.4M in fees).</a:t>
            </a:r>
            <a:endParaRPr lang="en-US" sz="1200" dirty="0"/>
          </a:p>
        </p:txBody>
      </p:sp>
      <p:sp>
        <p:nvSpPr>
          <p:cNvPr id="19" name="Text 13"/>
          <p:cNvSpPr txBox="1"/>
          <p:nvPr/>
        </p:nvSpPr>
        <p:spPr>
          <a:xfrm>
            <a:off x="10762488" y="8220456"/>
            <a:ext cx="6766560" cy="548640"/>
          </a:xfrm>
          <a:prstGeom prst="rect">
            <a:avLst/>
          </a:prstGeom>
          <a:noFill/>
          <a:ln/>
        </p:spPr>
        <p:txBody>
          <a:bodyPr wrap="square" lIns="0" tIns="0" rIns="0" bIns="0" rtlCol="0" anchor="ctr"/>
          <a:lstStyle/>
          <a:p>
            <a:pPr marL="0" indent="0">
              <a:lnSpc>
                <a:spcPts val="1600"/>
              </a:lnSpc>
              <a:buNone/>
            </a:pPr>
            <a:r>
              <a:rPr lang="en-US" sz="1200" dirty="0">
                <a:solidFill>
                  <a:srgbClr val="ECE9E4"/>
                </a:solidFill>
                <a:latin typeface="Arial" pitchFamily="34" charset="0"/>
                <a:ea typeface="Arial" pitchFamily="34" charset="-122"/>
                <a:cs typeface="Arial" pitchFamily="34" charset="-120"/>
              </a:rPr>
              <a:t>• Beats Hindsight-Tuned Static: We did not use a strawman. We searched 15 static buffer levels ($10M–$150M) to find the true best buffer ($40M). Ballast beats it by $28,447, while delivering +$285,131 more in net interest!</a:t>
            </a:r>
            <a:endParaRPr lang="en-US" sz="1200" dirty="0"/>
          </a:p>
        </p:txBody>
      </p:sp>
      <p:sp>
        <p:nvSpPr>
          <p:cNvPr id="20" name="Text 14"/>
          <p:cNvSpPr txBox="1"/>
          <p:nvPr/>
        </p:nvSpPr>
        <p:spPr>
          <a:xfrm>
            <a:off x="10762488" y="8787384"/>
            <a:ext cx="6766560" cy="548640"/>
          </a:xfrm>
          <a:prstGeom prst="rect">
            <a:avLst/>
          </a:prstGeom>
          <a:noFill/>
          <a:ln/>
        </p:spPr>
        <p:txBody>
          <a:bodyPr wrap="square" lIns="0" tIns="0" rIns="0" bIns="0" rtlCol="0" anchor="ctr"/>
          <a:lstStyle/>
          <a:p>
            <a:pPr marL="0" indent="0">
              <a:lnSpc>
                <a:spcPts val="1600"/>
              </a:lnSpc>
              <a:buNone/>
            </a:pPr>
            <a:r>
              <a:rPr lang="en-US" sz="1200" dirty="0">
                <a:solidFill>
                  <a:srgbClr val="ECE9E4"/>
                </a:solidFill>
                <a:latin typeface="Arial" pitchFamily="34" charset="0"/>
                <a:ea typeface="Arial" pitchFamily="34" charset="-122"/>
                <a:cs typeface="Arial" pitchFamily="34" charset="-120"/>
              </a:rPr>
              <a:t>• Pricing 'The Last Nine' (Innovation #2): Going from 98.6% (q*) to 99.99% costs +$252k/year in buffer drag. Treasurers can dial in exact risk appetite.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C:\Users\karti\AppData\Local\Temp\claude\c--Users-karti-repos-ballast\3a11dfef-fe11-4e04-8ecd-63ec54f071eb\scratchpad\deck\assets\bg_content.png"/>
          <p:cNvPicPr>
            <a:picLocks noChangeAspect="1"/>
          </p:cNvPicPr>
          <p:nvPr/>
        </p:nvPicPr>
        <p:blipFill>
          <a:blip r:embed="rId3"/>
          <a:stretch>
            <a:fillRect/>
          </a:stretch>
        </p:blipFill>
        <p:spPr>
          <a:xfrm>
            <a:off x="0" y="0"/>
            <a:ext cx="18859500" cy="10287000"/>
          </a:xfrm>
          <a:prstGeom prst="rect">
            <a:avLst/>
          </a:prstGeom>
        </p:spPr>
      </p:pic>
      <p:sp>
        <p:nvSpPr>
          <p:cNvPr id="3" name="Text 0"/>
          <p:cNvSpPr txBox="1"/>
          <p:nvPr/>
        </p:nvSpPr>
        <p:spPr>
          <a:xfrm>
            <a:off x="1024128" y="235527"/>
            <a:ext cx="10972800" cy="320040"/>
          </a:xfrm>
          <a:prstGeom prst="rect">
            <a:avLst/>
          </a:prstGeom>
          <a:noFill/>
          <a:ln/>
        </p:spPr>
        <p:txBody>
          <a:bodyPr wrap="square" lIns="0" tIns="0" rIns="0" bIns="0" rtlCol="0" anchor="ctr"/>
          <a:lstStyle/>
          <a:p>
            <a:pPr marL="0" indent="0">
              <a:buNone/>
            </a:pPr>
            <a:r>
              <a:rPr lang="en-US" sz="1500" b="1" kern="0" spc="200" dirty="0">
                <a:solidFill>
                  <a:srgbClr val="8AA68D"/>
                </a:solidFill>
                <a:latin typeface="Arial" pitchFamily="34" charset="0"/>
                <a:ea typeface="Arial" pitchFamily="34" charset="-122"/>
                <a:cs typeface="Arial" pitchFamily="34" charset="-120"/>
              </a:rPr>
              <a:t>SLIDE 7 : TRADE-OFFS</a:t>
            </a:r>
            <a:endParaRPr lang="en-US" sz="1500" dirty="0"/>
          </a:p>
        </p:txBody>
      </p:sp>
      <p:sp>
        <p:nvSpPr>
          <p:cNvPr id="4" name="Text 1"/>
          <p:cNvSpPr txBox="1"/>
          <p:nvPr/>
        </p:nvSpPr>
        <p:spPr>
          <a:xfrm>
            <a:off x="1024128" y="960120"/>
            <a:ext cx="16806672" cy="77724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STRATEGIC TRADEOFFS: WHY WE REJECTED BONDS &amp; MPC</a:t>
            </a:r>
            <a:endParaRPr lang="en-US" sz="4000" dirty="0"/>
          </a:p>
        </p:txBody>
      </p:sp>
      <p:sp>
        <p:nvSpPr>
          <p:cNvPr id="5" name="Text 2"/>
          <p:cNvSpPr txBox="1"/>
          <p:nvPr/>
        </p:nvSpPr>
        <p:spPr>
          <a:xfrm>
            <a:off x="1024128" y="1783080"/>
            <a:ext cx="16806672" cy="502920"/>
          </a:xfrm>
          <a:prstGeom prst="rect">
            <a:avLst/>
          </a:prstGeom>
          <a:noFill/>
          <a:ln/>
        </p:spPr>
        <p:txBody>
          <a:bodyPr wrap="square" lIns="0" tIns="0" rIns="0" bIns="0" rtlCol="0" anchor="ctr"/>
          <a:lstStyle/>
          <a:p>
            <a:pPr marL="0" indent="0">
              <a:buNone/>
            </a:pPr>
            <a:r>
              <a:rPr lang="en-US" sz="2000" dirty="0">
                <a:solidFill>
                  <a:srgbClr val="C9A86A"/>
                </a:solidFill>
                <a:latin typeface="Arial" pitchFamily="34" charset="0"/>
                <a:ea typeface="Arial" pitchFamily="34" charset="-122"/>
                <a:cs typeface="Arial" pitchFamily="34" charset="-120"/>
              </a:rPr>
              <a:t>What we chose for speed and simplicity, what we deliberately sacrificed, and how Ballast scales under 10x load.</a:t>
            </a:r>
            <a:endParaRPr lang="en-US" sz="2000" dirty="0"/>
          </a:p>
        </p:txBody>
      </p:sp>
      <p:sp>
        <p:nvSpPr>
          <p:cNvPr id="6" name="Text 3"/>
          <p:cNvSpPr txBox="1"/>
          <p:nvPr/>
        </p:nvSpPr>
        <p:spPr>
          <a:xfrm>
            <a:off x="1024128" y="9738360"/>
            <a:ext cx="5486400" cy="320040"/>
          </a:xfrm>
          <a:prstGeom prst="rect">
            <a:avLst/>
          </a:prstGeom>
          <a:noFill/>
          <a:ln/>
        </p:spPr>
        <p:txBody>
          <a:bodyPr wrap="square" lIns="0" tIns="0" rIns="0" bIns="0" rtlCol="0" anchor="ctr"/>
          <a:lstStyle/>
          <a:p>
            <a:pPr marL="0" indent="0">
              <a:buNone/>
            </a:pPr>
            <a:r>
              <a:rPr lang="en-US" sz="1300" dirty="0">
                <a:solidFill>
                  <a:srgbClr val="5E5A53"/>
                </a:solidFill>
                <a:latin typeface="Arial" pitchFamily="34" charset="0"/>
                <a:ea typeface="Arial" pitchFamily="34" charset="-122"/>
                <a:cs typeface="Arial" pitchFamily="34" charset="-120"/>
              </a:rPr>
              <a:t>BALLAST  //  Autonomous Treasury Engine</a:t>
            </a:r>
            <a:endParaRPr lang="en-US" sz="1300" dirty="0"/>
          </a:p>
        </p:txBody>
      </p:sp>
      <p:sp>
        <p:nvSpPr>
          <p:cNvPr id="7" name="Text 4"/>
          <p:cNvSpPr txBox="1"/>
          <p:nvPr/>
        </p:nvSpPr>
        <p:spPr>
          <a:xfrm>
            <a:off x="6858000" y="9738360"/>
            <a:ext cx="5943600" cy="320040"/>
          </a:xfrm>
          <a:prstGeom prst="rect">
            <a:avLst/>
          </a:prstGeom>
          <a:noFill/>
          <a:ln/>
        </p:spPr>
        <p:txBody>
          <a:bodyPr wrap="square" lIns="0" tIns="0" rIns="0" bIns="0" rtlCol="0" anchor="ctr"/>
          <a:lstStyle/>
          <a:p>
            <a:pPr marL="0" indent="0" algn="ctr">
              <a:buNone/>
            </a:pPr>
            <a:r>
              <a:rPr lang="en-US" sz="1300" dirty="0">
                <a:solidFill>
                  <a:srgbClr val="5E5A53"/>
                </a:solidFill>
                <a:latin typeface="Arial" pitchFamily="34" charset="0"/>
                <a:ea typeface="Arial" pitchFamily="34" charset="-122"/>
                <a:cs typeface="Arial" pitchFamily="34" charset="-120"/>
              </a:rPr>
              <a:t>HackForge '26 Advanced Track  •  Problem: The Reserve Juggler</a:t>
            </a:r>
            <a:endParaRPr lang="en-US" sz="1300" dirty="0"/>
          </a:p>
        </p:txBody>
      </p:sp>
      <p:sp>
        <p:nvSpPr>
          <p:cNvPr id="8" name="Text 5"/>
          <p:cNvSpPr txBox="1"/>
          <p:nvPr/>
        </p:nvSpPr>
        <p:spPr>
          <a:xfrm>
            <a:off x="13258800" y="9738360"/>
            <a:ext cx="4572000" cy="320040"/>
          </a:xfrm>
          <a:prstGeom prst="rect">
            <a:avLst/>
          </a:prstGeom>
          <a:noFill/>
          <a:ln/>
        </p:spPr>
        <p:txBody>
          <a:bodyPr wrap="square" lIns="0" tIns="0" rIns="0" bIns="0" rtlCol="0" anchor="ctr"/>
          <a:lstStyle/>
          <a:p>
            <a:pPr marL="0" indent="0" algn="r">
              <a:buNone/>
            </a:pPr>
            <a:r>
              <a:rPr lang="en-US" sz="1300" dirty="0">
                <a:solidFill>
                  <a:srgbClr val="5E5A53"/>
                </a:solidFill>
                <a:latin typeface="Arial" pitchFamily="34" charset="0"/>
                <a:ea typeface="Arial" pitchFamily="34" charset="-122"/>
                <a:cs typeface="Arial" pitchFamily="34" charset="-120"/>
              </a:rPr>
              <a:t>Team globalhost  |  ballast.jkartik.in</a:t>
            </a:r>
            <a:endParaRPr lang="en-US" sz="1300" dirty="0"/>
          </a:p>
        </p:txBody>
      </p:sp>
      <p:sp>
        <p:nvSpPr>
          <p:cNvPr id="9" name="Shape 6"/>
          <p:cNvSpPr/>
          <p:nvPr/>
        </p:nvSpPr>
        <p:spPr>
          <a:xfrm>
            <a:off x="1024128" y="2514600"/>
            <a:ext cx="5303520" cy="6949440"/>
          </a:xfrm>
          <a:prstGeom prst="roundRect">
            <a:avLst>
              <a:gd name="adj" fmla="val 1379"/>
            </a:avLst>
          </a:prstGeom>
          <a:solidFill>
            <a:srgbClr val="14171F"/>
          </a:solidFill>
          <a:ln w="12700">
            <a:solidFill>
              <a:srgbClr val="2A303C"/>
            </a:solidFill>
            <a:prstDash val="solid"/>
          </a:ln>
        </p:spPr>
      </p:sp>
      <p:sp>
        <p:nvSpPr>
          <p:cNvPr id="10" name="Text 7"/>
          <p:cNvSpPr txBox="1"/>
          <p:nvPr/>
        </p:nvSpPr>
        <p:spPr>
          <a:xfrm>
            <a:off x="1344168" y="2788920"/>
            <a:ext cx="4663440" cy="320040"/>
          </a:xfrm>
          <a:prstGeom prst="rect">
            <a:avLst/>
          </a:prstGeom>
          <a:noFill/>
          <a:ln/>
        </p:spPr>
        <p:txBody>
          <a:bodyPr wrap="square" lIns="0" tIns="0" rIns="0" bIns="0" rtlCol="0" anchor="ctr"/>
          <a:lstStyle/>
          <a:p>
            <a:pPr marL="0" indent="0">
              <a:buNone/>
            </a:pPr>
            <a:r>
              <a:rPr lang="en-US" sz="1500" b="1" kern="0" spc="100" dirty="0">
                <a:solidFill>
                  <a:srgbClr val="C9A86A"/>
                </a:solidFill>
                <a:latin typeface="Arial" pitchFamily="34" charset="0"/>
                <a:ea typeface="Arial" pitchFamily="34" charset="-122"/>
                <a:cs typeface="Arial" pitchFamily="34" charset="-120"/>
              </a:rPr>
              <a:t>THE BOND SLEEVE TRADE-OFF</a:t>
            </a:r>
            <a:endParaRPr lang="en-US" sz="1500" dirty="0"/>
          </a:p>
        </p:txBody>
      </p:sp>
      <p:sp>
        <p:nvSpPr>
          <p:cNvPr id="11" name="Text 8"/>
          <p:cNvSpPr txBox="1"/>
          <p:nvPr/>
        </p:nvSpPr>
        <p:spPr>
          <a:xfrm>
            <a:off x="1344168" y="3108960"/>
            <a:ext cx="4663440" cy="274320"/>
          </a:xfrm>
          <a:prstGeom prst="rect">
            <a:avLst/>
          </a:prstGeom>
          <a:noFill/>
          <a:ln/>
        </p:spPr>
        <p:txBody>
          <a:bodyPr wrap="square" lIns="0" tIns="0" rIns="0" bIns="0" rtlCol="0" anchor="ctr"/>
          <a:lstStyle/>
          <a:p>
            <a:pPr marL="0" indent="0">
              <a:buNone/>
            </a:pPr>
            <a:r>
              <a:rPr lang="en-US" sz="1300" dirty="0">
                <a:solidFill>
                  <a:srgbClr val="9A968D"/>
                </a:solidFill>
                <a:latin typeface="Arial" pitchFamily="34" charset="0"/>
                <a:ea typeface="Arial" pitchFamily="34" charset="-122"/>
                <a:cs typeface="Arial" pitchFamily="34" charset="-120"/>
              </a:rPr>
              <a:t>Empirical Rejection of Duration Risk</a:t>
            </a:r>
            <a:endParaRPr lang="en-US" sz="1300" dirty="0"/>
          </a:p>
        </p:txBody>
      </p:sp>
      <p:sp>
        <p:nvSpPr>
          <p:cNvPr id="12" name="Text 9"/>
          <p:cNvSpPr txBox="1"/>
          <p:nvPr/>
        </p:nvSpPr>
        <p:spPr>
          <a:xfrm>
            <a:off x="1344168" y="3474720"/>
            <a:ext cx="4663440" cy="1005840"/>
          </a:xfrm>
          <a:prstGeom prst="rect">
            <a:avLst/>
          </a:prstGeom>
          <a:noFill/>
          <a:ln/>
        </p:spPr>
        <p:txBody>
          <a:bodyPr wrap="square" lIns="0" tIns="0" rIns="0" bIns="0" rtlCol="0" anchor="ctr"/>
          <a:lstStyle/>
          <a:p>
            <a:pPr marL="0" indent="0">
              <a:lnSpc>
                <a:spcPts val="1700"/>
              </a:lnSpc>
              <a:buNone/>
            </a:pPr>
            <a:r>
              <a:rPr lang="en-US" sz="1250" dirty="0">
                <a:solidFill>
                  <a:srgbClr val="ECE9E4"/>
                </a:solidFill>
                <a:latin typeface="Arial" pitchFamily="34" charset="0"/>
                <a:ea typeface="Arial" pitchFamily="34" charset="-122"/>
                <a:cs typeface="Arial" pitchFamily="34" charset="-120"/>
              </a:rPr>
              <a:t>Textbook corporate finance recommends holding core operational liquidity in Tier 2 Treasury bonds earning 4.75%–5.00% yield instead of 4.30% overnight repo.</a:t>
            </a:r>
            <a:endParaRPr lang="en-US" sz="1250" dirty="0"/>
          </a:p>
          <a:p>
            <a:pPr marL="0" indent="0">
              <a:lnSpc>
                <a:spcPts val="1700"/>
              </a:lnSpc>
              <a:buNone/>
            </a:pPr>
            <a:endParaRPr lang="en-US" sz="1250" dirty="0"/>
          </a:p>
          <a:p>
            <a:pPr marL="0" indent="0">
              <a:lnSpc>
                <a:spcPts val="1700"/>
              </a:lnSpc>
              <a:buNone/>
            </a:pPr>
            <a:r>
              <a:rPr lang="en-US" sz="1250" dirty="0">
                <a:solidFill>
                  <a:srgbClr val="ECE9E4"/>
                </a:solidFill>
                <a:latin typeface="Arial" pitchFamily="34" charset="0"/>
                <a:ea typeface="Arial" pitchFamily="34" charset="-122"/>
                <a:cs typeface="Arial" pitchFamily="34" charset="-120"/>
              </a:rPr>
              <a:t>We implemented the bond sleeve and swept the DV01 cap across 5 allocation levels:</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1344168" y="4572000"/>
          <a:ext cx="4663440" cy="1737360"/>
        </p:xfrm>
        <a:graphic>
          <a:graphicData uri="http://schemas.openxmlformats.org/drawingml/2006/table">
            <a:tbl>
              <a:tblPr/>
              <a:tblGrid>
                <a:gridCol w="146304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tblGrid>
              <a:tr h="289560">
                <a:tc>
                  <a:txBody>
                    <a:bodyPr/>
                    <a:lstStyle/>
                    <a:p>
                      <a:pPr marL="0" indent="0">
                        <a:buNone/>
                      </a:pPr>
                      <a:r>
                        <a:rPr lang="en-US" sz="1100" b="1" dirty="0">
                          <a:solidFill>
                            <a:srgbClr val="C9A86A"/>
                          </a:solidFill>
                          <a:latin typeface="Arial" pitchFamily="34" charset="0"/>
                          <a:ea typeface="Arial" pitchFamily="34" charset="-122"/>
                          <a:cs typeface="Arial" pitchFamily="34" charset="-120"/>
                        </a:rPr>
                        <a:t>DV01 Cap</a:t>
                      </a:r>
                      <a:endParaRPr lang="en-US" sz="1100" dirty="0">
                        <a:latin typeface="Arial" charset="0"/>
                        <a:ea typeface="Arial" charset="0"/>
                        <a:cs typeface="Arial" charset="0"/>
                      </a:endParaRPr>
                    </a:p>
                  </a:txBody>
                  <a:tcPr marL="50800" marR="50800" marT="50800" marB="508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lgn="r">
                        <a:buNone/>
                      </a:pPr>
                      <a:r>
                        <a:rPr lang="en-US" sz="1100" b="1" dirty="0">
                          <a:solidFill>
                            <a:srgbClr val="C9A86A"/>
                          </a:solidFill>
                          <a:latin typeface="Arial" pitchFamily="34" charset="0"/>
                          <a:ea typeface="Arial" pitchFamily="34" charset="-122"/>
                          <a:cs typeface="Arial" pitchFamily="34" charset="-120"/>
                        </a:rPr>
                        <a:t>Net Profit</a:t>
                      </a:r>
                      <a:endParaRPr lang="en-US" sz="1100" dirty="0">
                        <a:latin typeface="Arial" charset="0"/>
                        <a:ea typeface="Arial" charset="0"/>
                        <a:cs typeface="Arial" charset="0"/>
                      </a:endParaRPr>
                    </a:p>
                  </a:txBody>
                  <a:tcPr marL="50800" marR="50800" marT="50800" marB="508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lgn="r">
                        <a:buNone/>
                      </a:pPr>
                      <a:r>
                        <a:rPr lang="en-US" sz="1100" b="1" dirty="0">
                          <a:solidFill>
                            <a:srgbClr val="C9A86A"/>
                          </a:solidFill>
                          <a:latin typeface="Arial" pitchFamily="34" charset="0"/>
                          <a:ea typeface="Arial" pitchFamily="34" charset="-122"/>
                          <a:cs typeface="Arial" pitchFamily="34" charset="-120"/>
                        </a:rPr>
                        <a:t>Total Cost</a:t>
                      </a:r>
                      <a:endParaRPr lang="en-US" sz="1100" dirty="0">
                        <a:latin typeface="Arial" charset="0"/>
                        <a:ea typeface="Arial" charset="0"/>
                        <a:cs typeface="Arial" charset="0"/>
                      </a:endParaRPr>
                    </a:p>
                  </a:txBody>
                  <a:tcPr marL="50800" marR="50800" marT="50800" marB="508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extLst>
                  <a:ext uri="{0D108BD9-81ED-4DB2-BD59-A6C34878D82A}">
                    <a16:rowId xmlns:a16="http://schemas.microsoft.com/office/drawing/2014/main" val="10000"/>
                  </a:ext>
                </a:extLst>
              </a:tr>
              <a:tr h="289560">
                <a:tc>
                  <a:txBody>
                    <a:bodyPr/>
                    <a:lstStyle/>
                    <a:p>
                      <a:pPr marL="0" indent="0">
                        <a:buNone/>
                      </a:pPr>
                      <a:r>
                        <a:rPr lang="en-US" sz="1100" dirty="0">
                          <a:solidFill>
                            <a:srgbClr val="ECE9E4"/>
                          </a:solidFill>
                          <a:latin typeface="Arial" pitchFamily="34" charset="0"/>
                          <a:ea typeface="Arial" pitchFamily="34" charset="-122"/>
                          <a:cs typeface="Arial" pitchFamily="34" charset="-120"/>
                        </a:rPr>
                        <a:t>0% (No Bonds)</a:t>
                      </a:r>
                      <a:endParaRPr lang="en-US" sz="1100" dirty="0">
                        <a:latin typeface="Arial" charset="0"/>
                        <a:ea typeface="Arial" charset="0"/>
                        <a:cs typeface="Arial" charset="0"/>
                      </a:endParaRPr>
                    </a:p>
                  </a:txBody>
                  <a:tcPr marL="50800" marR="50800" marT="50800" marB="508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100" dirty="0">
                          <a:solidFill>
                            <a:srgbClr val="ECE9E4"/>
                          </a:solidFill>
                          <a:latin typeface="Arial" pitchFamily="34" charset="0"/>
                          <a:ea typeface="Arial" pitchFamily="34" charset="-122"/>
                          <a:cs typeface="Arial" pitchFamily="34" charset="-120"/>
                        </a:rPr>
                        <a:t>$14,581,431 (Best)</a:t>
                      </a:r>
                      <a:endParaRPr lang="en-US" sz="1100" dirty="0">
                        <a:latin typeface="Arial" charset="0"/>
                        <a:ea typeface="Arial" charset="0"/>
                        <a:cs typeface="Arial" charset="0"/>
                      </a:endParaRPr>
                    </a:p>
                  </a:txBody>
                  <a:tcPr marL="50800" marR="50800" marT="50800" marB="508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100" dirty="0">
                          <a:solidFill>
                            <a:srgbClr val="ECE9E4"/>
                          </a:solidFill>
                          <a:latin typeface="Arial" pitchFamily="34" charset="0"/>
                          <a:ea typeface="Arial" pitchFamily="34" charset="-122"/>
                          <a:cs typeface="Arial" pitchFamily="34" charset="-120"/>
                        </a:rPr>
                        <a:t>$20,349,462</a:t>
                      </a:r>
                      <a:endParaRPr lang="en-US" sz="1100" dirty="0">
                        <a:latin typeface="Arial" charset="0"/>
                        <a:ea typeface="Arial" charset="0"/>
                        <a:cs typeface="Arial" charset="0"/>
                      </a:endParaRPr>
                    </a:p>
                  </a:txBody>
                  <a:tcPr marL="50800" marR="50800" marT="50800" marB="508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extLst>
                  <a:ext uri="{0D108BD9-81ED-4DB2-BD59-A6C34878D82A}">
                    <a16:rowId xmlns:a16="http://schemas.microsoft.com/office/drawing/2014/main" val="10001"/>
                  </a:ext>
                </a:extLst>
              </a:tr>
              <a:tr h="289560">
                <a:tc>
                  <a:txBody>
                    <a:bodyPr/>
                    <a:lstStyle/>
                    <a:p>
                      <a:pPr marL="0" indent="0">
                        <a:buNone/>
                      </a:pPr>
                      <a:r>
                        <a:rPr lang="en-US" sz="1100" dirty="0">
                          <a:solidFill>
                            <a:srgbClr val="ECE9E4"/>
                          </a:solidFill>
                          <a:latin typeface="Arial" pitchFamily="34" charset="0"/>
                          <a:ea typeface="Arial" pitchFamily="34" charset="-122"/>
                          <a:cs typeface="Arial" pitchFamily="34" charset="-120"/>
                        </a:rPr>
                        <a:t>5% Cap</a:t>
                      </a:r>
                      <a:endParaRPr lang="en-US" sz="1100" dirty="0">
                        <a:latin typeface="Arial" charset="0"/>
                        <a:ea typeface="Arial" charset="0"/>
                        <a:cs typeface="Arial" charset="0"/>
                      </a:endParaRPr>
                    </a:p>
                  </a:txBody>
                  <a:tcPr marL="50800" marR="50800" marT="50800" marB="508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100" dirty="0">
                          <a:solidFill>
                            <a:srgbClr val="ECE9E4"/>
                          </a:solidFill>
                          <a:latin typeface="Arial" pitchFamily="34" charset="0"/>
                          <a:ea typeface="Arial" pitchFamily="34" charset="-122"/>
                          <a:cs typeface="Arial" pitchFamily="34" charset="-120"/>
                        </a:rPr>
                        <a:t>$14,506,186 (-$75k)</a:t>
                      </a:r>
                      <a:endParaRPr lang="en-US" sz="1100" dirty="0">
                        <a:latin typeface="Arial" charset="0"/>
                        <a:ea typeface="Arial" charset="0"/>
                        <a:cs typeface="Arial" charset="0"/>
                      </a:endParaRPr>
                    </a:p>
                  </a:txBody>
                  <a:tcPr marL="50800" marR="50800" marT="50800" marB="508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100" dirty="0">
                          <a:solidFill>
                            <a:srgbClr val="ECE9E4"/>
                          </a:solidFill>
                          <a:latin typeface="Arial" pitchFamily="34" charset="0"/>
                          <a:ea typeface="Arial" pitchFamily="34" charset="-122"/>
                          <a:cs typeface="Arial" pitchFamily="34" charset="-120"/>
                        </a:rPr>
                        <a:t>$22,974,490</a:t>
                      </a:r>
                      <a:endParaRPr lang="en-US" sz="1100" dirty="0">
                        <a:latin typeface="Arial" charset="0"/>
                        <a:ea typeface="Arial" charset="0"/>
                        <a:cs typeface="Arial" charset="0"/>
                      </a:endParaRPr>
                    </a:p>
                  </a:txBody>
                  <a:tcPr marL="50800" marR="50800" marT="50800" marB="508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extLst>
                  <a:ext uri="{0D108BD9-81ED-4DB2-BD59-A6C34878D82A}">
                    <a16:rowId xmlns:a16="http://schemas.microsoft.com/office/drawing/2014/main" val="10002"/>
                  </a:ext>
                </a:extLst>
              </a:tr>
              <a:tr h="289560">
                <a:tc>
                  <a:txBody>
                    <a:bodyPr/>
                    <a:lstStyle/>
                    <a:p>
                      <a:pPr marL="0" indent="0">
                        <a:buNone/>
                      </a:pPr>
                      <a:r>
                        <a:rPr lang="en-US" sz="1100" dirty="0">
                          <a:solidFill>
                            <a:srgbClr val="ECE9E4"/>
                          </a:solidFill>
                          <a:latin typeface="Arial" pitchFamily="34" charset="0"/>
                          <a:ea typeface="Arial" pitchFamily="34" charset="-122"/>
                          <a:cs typeface="Arial" pitchFamily="34" charset="-120"/>
                        </a:rPr>
                        <a:t>10% Cap</a:t>
                      </a:r>
                      <a:endParaRPr lang="en-US" sz="1100" dirty="0">
                        <a:latin typeface="Arial" charset="0"/>
                        <a:ea typeface="Arial" charset="0"/>
                        <a:cs typeface="Arial" charset="0"/>
                      </a:endParaRPr>
                    </a:p>
                  </a:txBody>
                  <a:tcPr marL="50800" marR="50800" marT="50800" marB="508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100" dirty="0">
                          <a:solidFill>
                            <a:srgbClr val="ECE9E4"/>
                          </a:solidFill>
                          <a:latin typeface="Arial" pitchFamily="34" charset="0"/>
                          <a:ea typeface="Arial" pitchFamily="34" charset="-122"/>
                          <a:cs typeface="Arial" pitchFamily="34" charset="-120"/>
                        </a:rPr>
                        <a:t>$14,424,905 (-$156k)</a:t>
                      </a:r>
                      <a:endParaRPr lang="en-US" sz="1100" dirty="0">
                        <a:latin typeface="Arial" charset="0"/>
                        <a:ea typeface="Arial" charset="0"/>
                        <a:cs typeface="Arial" charset="0"/>
                      </a:endParaRPr>
                    </a:p>
                  </a:txBody>
                  <a:tcPr marL="50800" marR="50800" marT="50800" marB="508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100" dirty="0">
                          <a:solidFill>
                            <a:srgbClr val="ECE9E4"/>
                          </a:solidFill>
                          <a:latin typeface="Arial" pitchFamily="34" charset="0"/>
                          <a:ea typeface="Arial" pitchFamily="34" charset="-122"/>
                          <a:cs typeface="Arial" pitchFamily="34" charset="-120"/>
                        </a:rPr>
                        <a:t>$25,605,037</a:t>
                      </a:r>
                      <a:endParaRPr lang="en-US" sz="1100" dirty="0">
                        <a:latin typeface="Arial" charset="0"/>
                        <a:ea typeface="Arial" charset="0"/>
                        <a:cs typeface="Arial" charset="0"/>
                      </a:endParaRPr>
                    </a:p>
                  </a:txBody>
                  <a:tcPr marL="50800" marR="50800" marT="50800" marB="508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extLst>
                  <a:ext uri="{0D108BD9-81ED-4DB2-BD59-A6C34878D82A}">
                    <a16:rowId xmlns:a16="http://schemas.microsoft.com/office/drawing/2014/main" val="10003"/>
                  </a:ext>
                </a:extLst>
              </a:tr>
              <a:tr h="289560">
                <a:tc>
                  <a:txBody>
                    <a:bodyPr/>
                    <a:lstStyle/>
                    <a:p>
                      <a:pPr marL="0" indent="0">
                        <a:buNone/>
                      </a:pPr>
                      <a:r>
                        <a:rPr lang="en-US" sz="1100" dirty="0">
                          <a:solidFill>
                            <a:srgbClr val="ECE9E4"/>
                          </a:solidFill>
                          <a:latin typeface="Arial" pitchFamily="34" charset="0"/>
                          <a:ea typeface="Arial" pitchFamily="34" charset="-122"/>
                          <a:cs typeface="Arial" pitchFamily="34" charset="-120"/>
                        </a:rPr>
                        <a:t>25% Cap</a:t>
                      </a:r>
                      <a:endParaRPr lang="en-US" sz="1100" dirty="0">
                        <a:latin typeface="Arial" charset="0"/>
                        <a:ea typeface="Arial" charset="0"/>
                        <a:cs typeface="Arial" charset="0"/>
                      </a:endParaRPr>
                    </a:p>
                  </a:txBody>
                  <a:tcPr marL="50800" marR="50800" marT="50800" marB="508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100" dirty="0">
                          <a:solidFill>
                            <a:srgbClr val="ECE9E4"/>
                          </a:solidFill>
                          <a:latin typeface="Arial" pitchFamily="34" charset="0"/>
                          <a:ea typeface="Arial" pitchFamily="34" charset="-122"/>
                          <a:cs typeface="Arial" pitchFamily="34" charset="-120"/>
                        </a:rPr>
                        <a:t>$14,020,042 (-$561k)</a:t>
                      </a:r>
                      <a:endParaRPr lang="en-US" sz="1100" dirty="0">
                        <a:latin typeface="Arial" charset="0"/>
                        <a:ea typeface="Arial" charset="0"/>
                        <a:cs typeface="Arial" charset="0"/>
                      </a:endParaRPr>
                    </a:p>
                  </a:txBody>
                  <a:tcPr marL="50800" marR="50800" marT="50800" marB="508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100" dirty="0">
                          <a:solidFill>
                            <a:srgbClr val="ECE9E4"/>
                          </a:solidFill>
                          <a:latin typeface="Arial" pitchFamily="34" charset="0"/>
                          <a:ea typeface="Arial" pitchFamily="34" charset="-122"/>
                          <a:cs typeface="Arial" pitchFamily="34" charset="-120"/>
                        </a:rPr>
                        <a:t>$31,874,352</a:t>
                      </a:r>
                      <a:endParaRPr lang="en-US" sz="1100" dirty="0">
                        <a:latin typeface="Arial" charset="0"/>
                        <a:ea typeface="Arial" charset="0"/>
                        <a:cs typeface="Arial" charset="0"/>
                      </a:endParaRPr>
                    </a:p>
                  </a:txBody>
                  <a:tcPr marL="50800" marR="50800" marT="50800" marB="508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extLst>
                  <a:ext uri="{0D108BD9-81ED-4DB2-BD59-A6C34878D82A}">
                    <a16:rowId xmlns:a16="http://schemas.microsoft.com/office/drawing/2014/main" val="10004"/>
                  </a:ext>
                </a:extLst>
              </a:tr>
              <a:tr h="289560">
                <a:tc>
                  <a:txBody>
                    <a:bodyPr/>
                    <a:lstStyle/>
                    <a:p>
                      <a:pPr marL="0" indent="0">
                        <a:buNone/>
                      </a:pPr>
                      <a:r>
                        <a:rPr lang="en-US" sz="1100" dirty="0">
                          <a:solidFill>
                            <a:srgbClr val="ECE9E4"/>
                          </a:solidFill>
                          <a:latin typeface="Arial" pitchFamily="34" charset="0"/>
                          <a:ea typeface="Arial" pitchFamily="34" charset="-122"/>
                          <a:cs typeface="Arial" pitchFamily="34" charset="-120"/>
                        </a:rPr>
                        <a:t>50% Cap</a:t>
                      </a:r>
                      <a:endParaRPr lang="en-US" sz="1100" dirty="0">
                        <a:latin typeface="Arial" charset="0"/>
                        <a:ea typeface="Arial" charset="0"/>
                        <a:cs typeface="Arial" charset="0"/>
                      </a:endParaRPr>
                    </a:p>
                  </a:txBody>
                  <a:tcPr marL="50800" marR="50800" marT="50800" marB="508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100" dirty="0">
                          <a:solidFill>
                            <a:srgbClr val="ECE9E4"/>
                          </a:solidFill>
                          <a:latin typeface="Arial" pitchFamily="34" charset="0"/>
                          <a:ea typeface="Arial" pitchFamily="34" charset="-122"/>
                          <a:cs typeface="Arial" pitchFamily="34" charset="-120"/>
                        </a:rPr>
                        <a:t>$13,815,224 (-$766k)</a:t>
                      </a:r>
                      <a:endParaRPr lang="en-US" sz="1100" dirty="0">
                        <a:latin typeface="Arial" charset="0"/>
                        <a:ea typeface="Arial" charset="0"/>
                        <a:cs typeface="Arial" charset="0"/>
                      </a:endParaRPr>
                    </a:p>
                  </a:txBody>
                  <a:tcPr marL="50800" marR="50800" marT="50800" marB="508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tc>
                  <a:txBody>
                    <a:bodyPr/>
                    <a:lstStyle/>
                    <a:p>
                      <a:pPr marL="0" indent="0">
                        <a:buNone/>
                      </a:pPr>
                      <a:r>
                        <a:rPr lang="en-US" sz="1100" dirty="0">
                          <a:solidFill>
                            <a:srgbClr val="ECE9E4"/>
                          </a:solidFill>
                          <a:latin typeface="Arial" pitchFamily="34" charset="0"/>
                          <a:ea typeface="Arial" pitchFamily="34" charset="-122"/>
                          <a:cs typeface="Arial" pitchFamily="34" charset="-120"/>
                        </a:rPr>
                        <a:t>$34,566,625</a:t>
                      </a:r>
                      <a:endParaRPr lang="en-US" sz="1100" dirty="0">
                        <a:latin typeface="Arial" charset="0"/>
                        <a:ea typeface="Arial" charset="0"/>
                        <a:cs typeface="Arial" charset="0"/>
                      </a:endParaRPr>
                    </a:p>
                  </a:txBody>
                  <a:tcPr marL="50800" marR="50800" marT="50800" marB="50800">
                    <a:lnL w="12700" cap="flat" cmpd="sng" algn="ctr">
                      <a:solidFill>
                        <a:srgbClr val="2A303C"/>
                      </a:solidFill>
                      <a:prstDash val="solid"/>
                      <a:round/>
                      <a:headEnd type="none" w="med" len="med"/>
                      <a:tailEnd type="none" w="med" len="med"/>
                    </a:lnL>
                    <a:lnR w="12700" cap="flat" cmpd="sng" algn="ctr">
                      <a:solidFill>
                        <a:srgbClr val="2A303C"/>
                      </a:solidFill>
                      <a:prstDash val="solid"/>
                      <a:round/>
                      <a:headEnd type="none" w="med" len="med"/>
                      <a:tailEnd type="none" w="med" len="med"/>
                    </a:lnR>
                    <a:lnT w="12700" cap="flat" cmpd="sng" algn="ctr">
                      <a:solidFill>
                        <a:srgbClr val="2A303C"/>
                      </a:solidFill>
                      <a:prstDash val="solid"/>
                      <a:round/>
                      <a:headEnd type="none" w="med" len="med"/>
                      <a:tailEnd type="none" w="med" len="med"/>
                    </a:lnT>
                    <a:lnB w="12700" cap="flat" cmpd="sng" algn="ctr">
                      <a:solidFill>
                        <a:srgbClr val="2A303C"/>
                      </a:solidFill>
                      <a:prstDash val="solid"/>
                      <a:round/>
                      <a:headEnd type="none" w="med" len="med"/>
                      <a:tailEnd type="none" w="med" len="med"/>
                    </a:lnB>
                    <a:solidFill>
                      <a:srgbClr val="0E1118"/>
                    </a:solidFill>
                  </a:tcPr>
                </a:tc>
                <a:extLst>
                  <a:ext uri="{0D108BD9-81ED-4DB2-BD59-A6C34878D82A}">
                    <a16:rowId xmlns:a16="http://schemas.microsoft.com/office/drawing/2014/main" val="10005"/>
                  </a:ext>
                </a:extLst>
              </a:tr>
            </a:tbl>
          </a:graphicData>
        </a:graphic>
      </p:graphicFrame>
      <p:sp>
        <p:nvSpPr>
          <p:cNvPr id="14" name="Text 10"/>
          <p:cNvSpPr txBox="1"/>
          <p:nvPr/>
        </p:nvSpPr>
        <p:spPr>
          <a:xfrm>
            <a:off x="1344168" y="6492240"/>
            <a:ext cx="4663440" cy="274320"/>
          </a:xfrm>
          <a:prstGeom prst="rect">
            <a:avLst/>
          </a:prstGeom>
          <a:noFill/>
          <a:ln/>
        </p:spPr>
        <p:txBody>
          <a:bodyPr wrap="square" lIns="0" tIns="0" rIns="0" bIns="0" rtlCol="0" anchor="ctr"/>
          <a:lstStyle/>
          <a:p>
            <a:pPr marL="0" indent="0">
              <a:buNone/>
            </a:pPr>
            <a:r>
              <a:rPr lang="en-US" sz="1300" b="1" dirty="0">
                <a:solidFill>
                  <a:srgbClr val="B17B6F"/>
                </a:solidFill>
                <a:latin typeface="Arial" pitchFamily="34" charset="0"/>
                <a:ea typeface="Arial" pitchFamily="34" charset="-122"/>
                <a:cs typeface="Arial" pitchFamily="34" charset="-120"/>
              </a:rPr>
              <a:t>Why Bonds Failed on Real Data:</a:t>
            </a:r>
            <a:endParaRPr lang="en-US" sz="1300" dirty="0"/>
          </a:p>
        </p:txBody>
      </p:sp>
      <p:sp>
        <p:nvSpPr>
          <p:cNvPr id="15" name="Text 11"/>
          <p:cNvSpPr txBox="1"/>
          <p:nvPr/>
        </p:nvSpPr>
        <p:spPr>
          <a:xfrm>
            <a:off x="1344168" y="6766560"/>
            <a:ext cx="4663440" cy="2286000"/>
          </a:xfrm>
          <a:prstGeom prst="rect">
            <a:avLst/>
          </a:prstGeom>
          <a:noFill/>
          <a:ln/>
        </p:spPr>
        <p:txBody>
          <a:bodyPr wrap="square" lIns="0" tIns="0" rIns="0" bIns="0" rtlCol="0" anchor="ctr"/>
          <a:lstStyle/>
          <a:p>
            <a:pPr marL="0" indent="0">
              <a:lnSpc>
                <a:spcPts val="1800"/>
              </a:lnSpc>
              <a:buNone/>
            </a:pPr>
            <a:r>
              <a:rPr lang="en-US" sz="1250" dirty="0">
                <a:solidFill>
                  <a:srgbClr val="9A968D"/>
                </a:solidFill>
                <a:latin typeface="Arial" pitchFamily="34" charset="0"/>
                <a:ea typeface="Arial" pitchFamily="34" charset="-122"/>
                <a:cs typeface="Arial" pitchFamily="34" charset="-120"/>
              </a:rPr>
              <a:t>Realized bond yield volatility (3.76% to 5.92%) generated duration mark-to-market losses that exceeded the 45 bps carry spread, compounded by the 200 bps liquidation haircut on tier breaks.</a:t>
            </a:r>
            <a:endParaRPr lang="en-US" sz="1250" dirty="0"/>
          </a:p>
          <a:p>
            <a:pPr marL="0" indent="0">
              <a:lnSpc>
                <a:spcPts val="1800"/>
              </a:lnSpc>
              <a:buNone/>
            </a:pPr>
            <a:endParaRPr lang="en-US" sz="1250" dirty="0"/>
          </a:p>
          <a:p>
            <a:pPr marL="0" indent="0">
              <a:lnSpc>
                <a:spcPts val="1800"/>
              </a:lnSpc>
              <a:buNone/>
            </a:pPr>
            <a:r>
              <a:rPr lang="en-US" sz="1250" dirty="0">
                <a:solidFill>
                  <a:srgbClr val="9A968D"/>
                </a:solidFill>
                <a:latin typeface="Arial" pitchFamily="34" charset="0"/>
                <a:ea typeface="Arial" pitchFamily="34" charset="-122"/>
                <a:cs typeface="Arial" pitchFamily="34" charset="-120"/>
              </a:rPr>
              <a:t>Trade-off Decision: Ballast sets Tier 2 bonds to 0.0% by default. We sacrificed theoretical carry to eliminate balance-sheet duration risk.</a:t>
            </a:r>
            <a:endParaRPr lang="en-US" sz="1250" dirty="0"/>
          </a:p>
        </p:txBody>
      </p:sp>
      <p:sp>
        <p:nvSpPr>
          <p:cNvPr id="16" name="Shape 12"/>
          <p:cNvSpPr/>
          <p:nvPr/>
        </p:nvSpPr>
        <p:spPr>
          <a:xfrm>
            <a:off x="6601968" y="2514600"/>
            <a:ext cx="5303520" cy="6949440"/>
          </a:xfrm>
          <a:prstGeom prst="roundRect">
            <a:avLst>
              <a:gd name="adj" fmla="val 1379"/>
            </a:avLst>
          </a:prstGeom>
          <a:solidFill>
            <a:srgbClr val="14171F"/>
          </a:solidFill>
          <a:ln w="12700">
            <a:solidFill>
              <a:srgbClr val="2A303C"/>
            </a:solidFill>
            <a:prstDash val="solid"/>
          </a:ln>
        </p:spPr>
      </p:sp>
      <p:sp>
        <p:nvSpPr>
          <p:cNvPr id="17" name="Text 13"/>
          <p:cNvSpPr txBox="1"/>
          <p:nvPr/>
        </p:nvSpPr>
        <p:spPr>
          <a:xfrm>
            <a:off x="6922008" y="2788920"/>
            <a:ext cx="4663440" cy="320040"/>
          </a:xfrm>
          <a:prstGeom prst="rect">
            <a:avLst/>
          </a:prstGeom>
          <a:noFill/>
          <a:ln/>
        </p:spPr>
        <p:txBody>
          <a:bodyPr wrap="square" lIns="0" tIns="0" rIns="0" bIns="0" rtlCol="0" anchor="ctr"/>
          <a:lstStyle/>
          <a:p>
            <a:pPr marL="0" indent="0">
              <a:buNone/>
            </a:pPr>
            <a:r>
              <a:rPr lang="en-US" sz="1500" b="1" kern="0" spc="100" dirty="0">
                <a:solidFill>
                  <a:srgbClr val="8AA68D"/>
                </a:solidFill>
                <a:latin typeface="Arial" pitchFamily="34" charset="0"/>
                <a:ea typeface="Arial" pitchFamily="34" charset="-122"/>
                <a:cs typeface="Arial" pitchFamily="34" charset="-120"/>
              </a:rPr>
              <a:t>SIMPLICITY VS. NONLINEAR MPC</a:t>
            </a:r>
            <a:endParaRPr lang="en-US" sz="1500" dirty="0"/>
          </a:p>
        </p:txBody>
      </p:sp>
      <p:sp>
        <p:nvSpPr>
          <p:cNvPr id="18" name="Text 14"/>
          <p:cNvSpPr txBox="1"/>
          <p:nvPr/>
        </p:nvSpPr>
        <p:spPr>
          <a:xfrm>
            <a:off x="6922008" y="3108960"/>
            <a:ext cx="4663440" cy="274320"/>
          </a:xfrm>
          <a:prstGeom prst="rect">
            <a:avLst/>
          </a:prstGeom>
          <a:noFill/>
          <a:ln/>
        </p:spPr>
        <p:txBody>
          <a:bodyPr wrap="square" lIns="0" tIns="0" rIns="0" bIns="0" rtlCol="0" anchor="ctr"/>
          <a:lstStyle/>
          <a:p>
            <a:pPr marL="0" indent="0">
              <a:buNone/>
            </a:pPr>
            <a:r>
              <a:rPr lang="en-US" sz="1300" dirty="0">
                <a:solidFill>
                  <a:srgbClr val="9A968D"/>
                </a:solidFill>
                <a:latin typeface="Arial" pitchFamily="34" charset="0"/>
                <a:ea typeface="Arial" pitchFamily="34" charset="-122"/>
                <a:cs typeface="Arial" pitchFamily="34" charset="-120"/>
              </a:rPr>
              <a:t>Transparent Fractiles vs Black-Box Solvers</a:t>
            </a:r>
            <a:endParaRPr lang="en-US" sz="1300" dirty="0"/>
          </a:p>
        </p:txBody>
      </p:sp>
      <p:sp>
        <p:nvSpPr>
          <p:cNvPr id="19" name="Text 15"/>
          <p:cNvSpPr txBox="1"/>
          <p:nvPr/>
        </p:nvSpPr>
        <p:spPr>
          <a:xfrm>
            <a:off x="6922008" y="3520440"/>
            <a:ext cx="4663440" cy="1600200"/>
          </a:xfrm>
          <a:prstGeom prst="rect">
            <a:avLst/>
          </a:prstGeom>
          <a:noFill/>
          <a:ln/>
        </p:spPr>
        <p:txBody>
          <a:bodyPr wrap="square" lIns="0" tIns="0" rIns="0" bIns="0" rtlCol="0" anchor="ctr"/>
          <a:lstStyle/>
          <a:p>
            <a:pPr marL="0" indent="0">
              <a:buNone/>
            </a:pPr>
            <a:r>
              <a:rPr lang="en-US" sz="1300" b="1" dirty="0">
                <a:solidFill>
                  <a:srgbClr val="FFFFFF"/>
                </a:solidFill>
              </a:rPr>
              <a:t>Alternative Explored: Multi-Period MPC
</a:t>
            </a:r>
            <a:r>
              <a:rPr lang="en-US" sz="1200" dirty="0">
                <a:solidFill>
                  <a:srgbClr val="9A968D"/>
                </a:solidFill>
              </a:rPr>
              <a:t>We tested a rolling Mixed-Integer Linear Program (MILP) solving multi-hour lookaheads via HiGHS solver.</a:t>
            </a:r>
            <a:endParaRPr lang="en-US" sz="1300" dirty="0"/>
          </a:p>
        </p:txBody>
      </p:sp>
      <p:sp>
        <p:nvSpPr>
          <p:cNvPr id="20" name="Text 16"/>
          <p:cNvSpPr txBox="1"/>
          <p:nvPr/>
        </p:nvSpPr>
        <p:spPr>
          <a:xfrm>
            <a:off x="6922008" y="5212080"/>
            <a:ext cx="4663440" cy="1600200"/>
          </a:xfrm>
          <a:prstGeom prst="rect">
            <a:avLst/>
          </a:prstGeom>
          <a:noFill/>
          <a:ln/>
        </p:spPr>
        <p:txBody>
          <a:bodyPr wrap="square" lIns="0" tIns="0" rIns="0" bIns="0" rtlCol="0" anchor="ctr"/>
          <a:lstStyle/>
          <a:p>
            <a:pPr marL="0" indent="0">
              <a:buNone/>
            </a:pPr>
            <a:r>
              <a:rPr lang="en-US" sz="1300" b="1" dirty="0">
                <a:solidFill>
                  <a:srgbClr val="FFFFFF"/>
                </a:solidFill>
              </a:rPr>
              <a:t>Why We Rejected MPC:
</a:t>
            </a:r>
            <a:r>
              <a:rPr lang="en-US" sz="1200" dirty="0">
                <a:solidFill>
                  <a:srgbClr val="9A968D"/>
                </a:solidFill>
              </a:rPr>
              <a:t>1. Forecast Compounding: Uncertainty in hourly flows compounds exponentially across 15 hours.</a:t>
            </a:r>
            <a:endParaRPr lang="en-US" sz="1300" dirty="0"/>
          </a:p>
          <a:p>
            <a:pPr marL="0" indent="0">
              <a:lnSpc>
                <a:spcPts val="1700"/>
              </a:lnSpc>
              <a:buNone/>
            </a:pPr>
            <a:r>
              <a:rPr lang="en-US" sz="1200" dirty="0">
                <a:solidFill>
                  <a:srgbClr val="9A968D"/>
                </a:solidFill>
              </a:rPr>
              <a:t>2. Latency Penalty: Solving MILPs took ~40s per simulated day, making real-time parameter tuning impossible.</a:t>
            </a:r>
            <a:endParaRPr lang="en-US" sz="1300" dirty="0"/>
          </a:p>
          <a:p>
            <a:pPr marL="0" indent="0">
              <a:lnSpc>
                <a:spcPts val="1700"/>
              </a:lnSpc>
              <a:buNone/>
            </a:pPr>
            <a:r>
              <a:rPr lang="en-US" sz="1200" dirty="0">
                <a:solidFill>
                  <a:srgbClr val="9A968D"/>
                </a:solidFill>
              </a:rPr>
              <a:t>3. Regulatory Black-Box: Bank model validators under SR 11-7 reject opaque solver heuristics for liquidity buffers.</a:t>
            </a:r>
            <a:endParaRPr lang="en-US" sz="1300" dirty="0"/>
          </a:p>
        </p:txBody>
      </p:sp>
      <p:sp>
        <p:nvSpPr>
          <p:cNvPr id="21" name="Text 17"/>
          <p:cNvSpPr txBox="1"/>
          <p:nvPr/>
        </p:nvSpPr>
        <p:spPr>
          <a:xfrm>
            <a:off x="6922008" y="6903720"/>
            <a:ext cx="4663440" cy="1600200"/>
          </a:xfrm>
          <a:prstGeom prst="rect">
            <a:avLst/>
          </a:prstGeom>
          <a:noFill/>
          <a:ln/>
        </p:spPr>
        <p:txBody>
          <a:bodyPr wrap="square" lIns="0" tIns="0" rIns="0" bIns="0" rtlCol="0" anchor="ctr"/>
          <a:lstStyle/>
          <a:p>
            <a:pPr marL="0" indent="0">
              <a:buNone/>
            </a:pPr>
            <a:r>
              <a:rPr lang="en-US" sz="1300" b="1" dirty="0">
                <a:solidFill>
                  <a:srgbClr val="FFFFFF"/>
                </a:solidFill>
              </a:rPr>
              <a:t>The Ballast Advantage:
</a:t>
            </a:r>
            <a:r>
              <a:rPr lang="en-US" sz="1200" dirty="0">
                <a:solidFill>
                  <a:srgbClr val="9A968D"/>
                </a:solidFill>
              </a:rPr>
              <a:t>Vectorized closed-form newsvendor evaluates in 0.6 milliseconds per decision. Model governance is 100% transparent: any auditor can verify the critical fractile q* on a spreadsheet.</a:t>
            </a:r>
            <a:endParaRPr lang="en-US" sz="1300" dirty="0"/>
          </a:p>
        </p:txBody>
      </p:sp>
      <p:sp>
        <p:nvSpPr>
          <p:cNvPr id="22" name="Shape 18"/>
          <p:cNvSpPr/>
          <p:nvPr/>
        </p:nvSpPr>
        <p:spPr>
          <a:xfrm>
            <a:off x="12179808" y="2514600"/>
            <a:ext cx="5650992" cy="6949440"/>
          </a:xfrm>
          <a:prstGeom prst="roundRect">
            <a:avLst>
              <a:gd name="adj" fmla="val 1294"/>
            </a:avLst>
          </a:prstGeom>
          <a:solidFill>
            <a:srgbClr val="14171F"/>
          </a:solidFill>
          <a:ln w="12700">
            <a:solidFill>
              <a:srgbClr val="2A303C"/>
            </a:solidFill>
            <a:prstDash val="solid"/>
          </a:ln>
        </p:spPr>
      </p:sp>
      <p:sp>
        <p:nvSpPr>
          <p:cNvPr id="23" name="Text 19"/>
          <p:cNvSpPr txBox="1"/>
          <p:nvPr/>
        </p:nvSpPr>
        <p:spPr>
          <a:xfrm>
            <a:off x="12499848" y="2788920"/>
            <a:ext cx="4937760" cy="320040"/>
          </a:xfrm>
          <a:prstGeom prst="rect">
            <a:avLst/>
          </a:prstGeom>
          <a:noFill/>
          <a:ln/>
        </p:spPr>
        <p:txBody>
          <a:bodyPr wrap="square" lIns="0" tIns="0" rIns="0" bIns="0" rtlCol="0" anchor="ctr"/>
          <a:lstStyle/>
          <a:p>
            <a:pPr marL="0" indent="0">
              <a:buNone/>
            </a:pPr>
            <a:r>
              <a:rPr lang="en-US" sz="1500" b="1" kern="0" spc="100" dirty="0">
                <a:solidFill>
                  <a:srgbClr val="FFFFFF"/>
                </a:solidFill>
                <a:latin typeface="Arial" pitchFamily="34" charset="0"/>
                <a:ea typeface="Arial" pitchFamily="34" charset="-122"/>
                <a:cs typeface="Arial" pitchFamily="34" charset="-120"/>
              </a:rPr>
              <a:t>SCALE &amp; 10X LOAD RESILIENCE</a:t>
            </a:r>
            <a:endParaRPr lang="en-US" sz="1500" dirty="0"/>
          </a:p>
        </p:txBody>
      </p:sp>
      <p:sp>
        <p:nvSpPr>
          <p:cNvPr id="24" name="Text 20"/>
          <p:cNvSpPr txBox="1"/>
          <p:nvPr/>
        </p:nvSpPr>
        <p:spPr>
          <a:xfrm>
            <a:off x="12499848" y="3108960"/>
            <a:ext cx="4937760" cy="274320"/>
          </a:xfrm>
          <a:prstGeom prst="rect">
            <a:avLst/>
          </a:prstGeom>
          <a:noFill/>
          <a:ln/>
        </p:spPr>
        <p:txBody>
          <a:bodyPr wrap="square" lIns="0" tIns="0" rIns="0" bIns="0" rtlCol="0" anchor="ctr"/>
          <a:lstStyle/>
          <a:p>
            <a:pPr marL="0" indent="0">
              <a:buNone/>
            </a:pPr>
            <a:r>
              <a:rPr lang="en-US" sz="1300" dirty="0">
                <a:solidFill>
                  <a:srgbClr val="9A968D"/>
                </a:solidFill>
                <a:latin typeface="Arial" pitchFamily="34" charset="0"/>
                <a:ea typeface="Arial" pitchFamily="34" charset="-122"/>
                <a:cs typeface="Arial" pitchFamily="34" charset="-120"/>
              </a:rPr>
              <a:t>Vectorized NumPy Pipeline &amp; Double-Entry Ledger</a:t>
            </a:r>
            <a:endParaRPr lang="en-US" sz="1300" dirty="0"/>
          </a:p>
        </p:txBody>
      </p:sp>
      <p:sp>
        <p:nvSpPr>
          <p:cNvPr id="25" name="Text 21"/>
          <p:cNvSpPr txBox="1"/>
          <p:nvPr/>
        </p:nvSpPr>
        <p:spPr>
          <a:xfrm>
            <a:off x="12499848" y="3520440"/>
            <a:ext cx="4937760" cy="1234440"/>
          </a:xfrm>
          <a:prstGeom prst="rect">
            <a:avLst/>
          </a:prstGeom>
          <a:noFill/>
          <a:ln/>
        </p:spPr>
        <p:txBody>
          <a:bodyPr wrap="square" lIns="0" tIns="0" rIns="0" bIns="0" rtlCol="0" anchor="ctr"/>
          <a:lstStyle/>
          <a:p>
            <a:pPr marL="0" indent="0">
              <a:buNone/>
            </a:pPr>
            <a:r>
              <a:rPr lang="en-US" sz="1300" b="1" dirty="0">
                <a:solidFill>
                  <a:srgbClr val="FFFFFF"/>
                </a:solidFill>
              </a:rPr>
              <a:t>5.72s Full-Year Replay Runtime:
</a:t>
            </a:r>
            <a:r>
              <a:rPr lang="en-US" sz="1200" dirty="0">
                <a:solidFill>
                  <a:srgbClr val="9A968D"/>
                </a:solidFill>
              </a:rPr>
              <a:t>Replays all 8,760 hourly decisions, mark-to-market accruals, and ledger entries in under 6 seconds on standard hardware. Vectorized path-max turned an O(N^2) bottleneck into O(N) execution.</a:t>
            </a:r>
            <a:endParaRPr lang="en-US" sz="1300" dirty="0"/>
          </a:p>
        </p:txBody>
      </p:sp>
      <p:sp>
        <p:nvSpPr>
          <p:cNvPr id="26" name="Text 22"/>
          <p:cNvSpPr txBox="1"/>
          <p:nvPr/>
        </p:nvSpPr>
        <p:spPr>
          <a:xfrm>
            <a:off x="12499848" y="4846320"/>
            <a:ext cx="4937760" cy="1234440"/>
          </a:xfrm>
          <a:prstGeom prst="rect">
            <a:avLst/>
          </a:prstGeom>
          <a:noFill/>
          <a:ln/>
        </p:spPr>
        <p:txBody>
          <a:bodyPr wrap="square" lIns="0" tIns="0" rIns="0" bIns="0" rtlCol="0" anchor="ctr"/>
          <a:lstStyle/>
          <a:p>
            <a:pPr marL="0" indent="0">
              <a:buNone/>
            </a:pPr>
            <a:r>
              <a:rPr lang="en-US" sz="1300" b="1" dirty="0">
                <a:solidFill>
                  <a:srgbClr val="FFFFFF"/>
                </a:solidFill>
              </a:rPr>
              <a:t>Behavior Under 10x Load:
</a:t>
            </a:r>
            <a:r>
              <a:rPr lang="en-US" sz="1200" dirty="0">
                <a:solidFill>
                  <a:srgbClr val="9A968D"/>
                </a:solidFill>
              </a:rPr>
              <a:t>Scales linearly to 100,000 hours (~11 years of data) or 10 concurrent subsidiary books in under 60 seconds with O(1) ring-buffered memory consumption.</a:t>
            </a:r>
            <a:endParaRPr lang="en-US" sz="1300" dirty="0"/>
          </a:p>
        </p:txBody>
      </p:sp>
      <p:sp>
        <p:nvSpPr>
          <p:cNvPr id="27" name="Text 23"/>
          <p:cNvSpPr txBox="1"/>
          <p:nvPr/>
        </p:nvSpPr>
        <p:spPr>
          <a:xfrm>
            <a:off x="12499848" y="6172200"/>
            <a:ext cx="4937760" cy="1234440"/>
          </a:xfrm>
          <a:prstGeom prst="rect">
            <a:avLst/>
          </a:prstGeom>
          <a:noFill/>
          <a:ln/>
        </p:spPr>
        <p:txBody>
          <a:bodyPr wrap="square" lIns="0" tIns="0" rIns="0" bIns="0" rtlCol="0" anchor="ctr"/>
          <a:lstStyle/>
          <a:p>
            <a:pPr marL="0" indent="0">
              <a:buNone/>
            </a:pPr>
            <a:r>
              <a:rPr lang="en-US" sz="1300" b="1" dirty="0">
                <a:solidFill>
                  <a:srgbClr val="FFFFFF"/>
                </a:solidFill>
              </a:rPr>
              <a:t>Double-Entry Ledger Integrity:
</a:t>
            </a:r>
            <a:r>
              <a:rPr lang="en-US" sz="1200" dirty="0">
                <a:solidFill>
                  <a:srgbClr val="9A968D"/>
                </a:solidFill>
              </a:rPr>
              <a:t>Every single movement of cash debits and credits balanced journal entries. Ledger reconciles: sum(Tiers) == Opening + Cumulative Flows - Fees at every single hour with zero floating-point leakage (&lt;$0.01 tolerance).</a:t>
            </a:r>
            <a:endParaRPr lang="en-US" sz="1300" dirty="0"/>
          </a:p>
        </p:txBody>
      </p:sp>
      <p:sp>
        <p:nvSpPr>
          <p:cNvPr id="28" name="Text 24"/>
          <p:cNvSpPr txBox="1"/>
          <p:nvPr/>
        </p:nvSpPr>
        <p:spPr>
          <a:xfrm>
            <a:off x="12499848" y="7498080"/>
            <a:ext cx="4937760" cy="1234440"/>
          </a:xfrm>
          <a:prstGeom prst="rect">
            <a:avLst/>
          </a:prstGeom>
          <a:noFill/>
          <a:ln/>
        </p:spPr>
        <p:txBody>
          <a:bodyPr wrap="square" lIns="0" tIns="0" rIns="0" bIns="0" rtlCol="0" anchor="ctr"/>
          <a:lstStyle/>
          <a:p>
            <a:pPr marL="0" indent="0">
              <a:buNone/>
            </a:pPr>
            <a:r>
              <a:rPr lang="en-US" sz="1300" b="1" dirty="0">
                <a:solidFill>
                  <a:srgbClr val="FFFFFF"/>
                </a:solidFill>
              </a:rPr>
              <a:t>Production Async Job Model:
</a:t>
            </a:r>
            <a:r>
              <a:rPr lang="en-US" sz="1200" dirty="0">
                <a:solidFill>
                  <a:srgbClr val="9A968D"/>
                </a:solidFill>
              </a:rPr>
              <a:t>Background worker thread architecture ensures client requests never block the event loop, enabling sub-second progressive UI polling.</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C:\Users\karti\AppData\Local\Temp\claude\c--Users-karti-repos-ballast\3a11dfef-fe11-4e04-8ecd-63ec54f071eb\scratchpad\deck\assets\bg_content.png"/>
          <p:cNvPicPr>
            <a:picLocks noChangeAspect="1"/>
          </p:cNvPicPr>
          <p:nvPr/>
        </p:nvPicPr>
        <p:blipFill>
          <a:blip r:embed="rId3"/>
          <a:stretch>
            <a:fillRect/>
          </a:stretch>
        </p:blipFill>
        <p:spPr>
          <a:xfrm>
            <a:off x="0" y="0"/>
            <a:ext cx="18859500" cy="10287000"/>
          </a:xfrm>
          <a:prstGeom prst="rect">
            <a:avLst/>
          </a:prstGeom>
        </p:spPr>
      </p:pic>
      <p:sp>
        <p:nvSpPr>
          <p:cNvPr id="3" name="Text 0"/>
          <p:cNvSpPr txBox="1"/>
          <p:nvPr/>
        </p:nvSpPr>
        <p:spPr>
          <a:xfrm>
            <a:off x="1024128" y="228600"/>
            <a:ext cx="10972800" cy="320040"/>
          </a:xfrm>
          <a:prstGeom prst="rect">
            <a:avLst/>
          </a:prstGeom>
          <a:noFill/>
          <a:ln/>
        </p:spPr>
        <p:txBody>
          <a:bodyPr wrap="square" lIns="0" tIns="0" rIns="0" bIns="0" rtlCol="0" anchor="ctr"/>
          <a:lstStyle/>
          <a:p>
            <a:pPr marL="0" indent="0">
              <a:buNone/>
            </a:pPr>
            <a:r>
              <a:rPr lang="en-US" sz="1500" b="1" kern="0" spc="200" dirty="0">
                <a:solidFill>
                  <a:srgbClr val="8AA68D"/>
                </a:solidFill>
                <a:latin typeface="Arial" pitchFamily="34" charset="0"/>
                <a:ea typeface="Arial" pitchFamily="34" charset="-122"/>
                <a:cs typeface="Arial" pitchFamily="34" charset="-120"/>
              </a:rPr>
              <a:t>SLIDE 8 : LIMITS AND NEXT STEPS</a:t>
            </a:r>
            <a:endParaRPr lang="en-US" sz="1500" dirty="0"/>
          </a:p>
        </p:txBody>
      </p:sp>
      <p:sp>
        <p:nvSpPr>
          <p:cNvPr id="4" name="Text 1"/>
          <p:cNvSpPr txBox="1"/>
          <p:nvPr/>
        </p:nvSpPr>
        <p:spPr>
          <a:xfrm>
            <a:off x="1024128" y="960120"/>
            <a:ext cx="16806672" cy="77724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HONEST RISK LIMITATIONS &amp; THE PRODUCTION ROADMAP</a:t>
            </a:r>
            <a:endParaRPr lang="en-US" sz="4000" dirty="0"/>
          </a:p>
        </p:txBody>
      </p:sp>
      <p:sp>
        <p:nvSpPr>
          <p:cNvPr id="5" name="Text 2"/>
          <p:cNvSpPr txBox="1"/>
          <p:nvPr/>
        </p:nvSpPr>
        <p:spPr>
          <a:xfrm>
            <a:off x="1024128" y="1783080"/>
            <a:ext cx="16806672" cy="502920"/>
          </a:xfrm>
          <a:prstGeom prst="rect">
            <a:avLst/>
          </a:prstGeom>
          <a:noFill/>
          <a:ln/>
        </p:spPr>
        <p:txBody>
          <a:bodyPr wrap="square" lIns="0" tIns="0" rIns="0" bIns="0" rtlCol="0" anchor="ctr"/>
          <a:lstStyle/>
          <a:p>
            <a:pPr marL="0" indent="0">
              <a:buNone/>
            </a:pPr>
            <a:r>
              <a:rPr lang="en-US" sz="2000" dirty="0">
                <a:solidFill>
                  <a:srgbClr val="C9A86A"/>
                </a:solidFill>
                <a:latin typeface="Arial" pitchFamily="34" charset="0"/>
                <a:ea typeface="Arial" pitchFamily="34" charset="-122"/>
                <a:cs typeface="Arial" pitchFamily="34" charset="-120"/>
              </a:rPr>
              <a:t>Tail estimation constraints, advanced quantitative extensions, and the 3-phase path to institutional SR 11-7 compliance.</a:t>
            </a:r>
            <a:endParaRPr lang="en-US" sz="2000" dirty="0"/>
          </a:p>
        </p:txBody>
      </p:sp>
      <p:sp>
        <p:nvSpPr>
          <p:cNvPr id="6" name="Text 3"/>
          <p:cNvSpPr txBox="1"/>
          <p:nvPr/>
        </p:nvSpPr>
        <p:spPr>
          <a:xfrm>
            <a:off x="1024128" y="9738360"/>
            <a:ext cx="5486400" cy="320040"/>
          </a:xfrm>
          <a:prstGeom prst="rect">
            <a:avLst/>
          </a:prstGeom>
          <a:noFill/>
          <a:ln/>
        </p:spPr>
        <p:txBody>
          <a:bodyPr wrap="square" lIns="0" tIns="0" rIns="0" bIns="0" rtlCol="0" anchor="ctr"/>
          <a:lstStyle/>
          <a:p>
            <a:pPr marL="0" indent="0">
              <a:buNone/>
            </a:pPr>
            <a:r>
              <a:rPr lang="en-US" sz="1300" dirty="0">
                <a:solidFill>
                  <a:srgbClr val="5E5A53"/>
                </a:solidFill>
                <a:latin typeface="Arial" pitchFamily="34" charset="0"/>
                <a:ea typeface="Arial" pitchFamily="34" charset="-122"/>
                <a:cs typeface="Arial" pitchFamily="34" charset="-120"/>
              </a:rPr>
              <a:t>BALLAST  //  Autonomous Treasury Engine</a:t>
            </a:r>
            <a:endParaRPr lang="en-US" sz="1300" dirty="0"/>
          </a:p>
        </p:txBody>
      </p:sp>
      <p:sp>
        <p:nvSpPr>
          <p:cNvPr id="7" name="Text 4"/>
          <p:cNvSpPr txBox="1"/>
          <p:nvPr/>
        </p:nvSpPr>
        <p:spPr>
          <a:xfrm>
            <a:off x="6858000" y="9738360"/>
            <a:ext cx="5943600" cy="320040"/>
          </a:xfrm>
          <a:prstGeom prst="rect">
            <a:avLst/>
          </a:prstGeom>
          <a:noFill/>
          <a:ln/>
        </p:spPr>
        <p:txBody>
          <a:bodyPr wrap="square" lIns="0" tIns="0" rIns="0" bIns="0" rtlCol="0" anchor="ctr"/>
          <a:lstStyle/>
          <a:p>
            <a:pPr marL="0" indent="0" algn="ctr">
              <a:buNone/>
            </a:pPr>
            <a:r>
              <a:rPr lang="en-US" sz="1300" dirty="0">
                <a:solidFill>
                  <a:srgbClr val="5E5A53"/>
                </a:solidFill>
                <a:latin typeface="Arial" pitchFamily="34" charset="0"/>
                <a:ea typeface="Arial" pitchFamily="34" charset="-122"/>
                <a:cs typeface="Arial" pitchFamily="34" charset="-120"/>
              </a:rPr>
              <a:t>HackForge '26 Advanced Track  •  Problem: The Reserve Juggler</a:t>
            </a:r>
            <a:endParaRPr lang="en-US" sz="1300" dirty="0"/>
          </a:p>
        </p:txBody>
      </p:sp>
      <p:sp>
        <p:nvSpPr>
          <p:cNvPr id="8" name="Text 5"/>
          <p:cNvSpPr txBox="1"/>
          <p:nvPr/>
        </p:nvSpPr>
        <p:spPr>
          <a:xfrm>
            <a:off x="13258800" y="9738360"/>
            <a:ext cx="4572000" cy="320040"/>
          </a:xfrm>
          <a:prstGeom prst="rect">
            <a:avLst/>
          </a:prstGeom>
          <a:noFill/>
          <a:ln/>
        </p:spPr>
        <p:txBody>
          <a:bodyPr wrap="square" lIns="0" tIns="0" rIns="0" bIns="0" rtlCol="0" anchor="ctr"/>
          <a:lstStyle/>
          <a:p>
            <a:pPr marL="0" indent="0" algn="r">
              <a:buNone/>
            </a:pPr>
            <a:r>
              <a:rPr lang="en-US" sz="1300" dirty="0">
                <a:solidFill>
                  <a:srgbClr val="5E5A53"/>
                </a:solidFill>
                <a:latin typeface="Arial" pitchFamily="34" charset="0"/>
                <a:ea typeface="Arial" pitchFamily="34" charset="-122"/>
                <a:cs typeface="Arial" pitchFamily="34" charset="-120"/>
              </a:rPr>
              <a:t>Team globalhost  |  ballast.jkartik.in</a:t>
            </a:r>
            <a:endParaRPr lang="en-US" sz="1300" dirty="0"/>
          </a:p>
        </p:txBody>
      </p:sp>
      <p:sp>
        <p:nvSpPr>
          <p:cNvPr id="9" name="Shape 6"/>
          <p:cNvSpPr/>
          <p:nvPr/>
        </p:nvSpPr>
        <p:spPr>
          <a:xfrm>
            <a:off x="1024128" y="2514600"/>
            <a:ext cx="5303520" cy="6949440"/>
          </a:xfrm>
          <a:prstGeom prst="roundRect">
            <a:avLst>
              <a:gd name="adj" fmla="val 1379"/>
            </a:avLst>
          </a:prstGeom>
          <a:solidFill>
            <a:srgbClr val="14171F"/>
          </a:solidFill>
          <a:ln w="12700">
            <a:solidFill>
              <a:srgbClr val="2A303C"/>
            </a:solidFill>
            <a:prstDash val="solid"/>
          </a:ln>
        </p:spPr>
      </p:sp>
      <p:sp>
        <p:nvSpPr>
          <p:cNvPr id="10" name="Text 7"/>
          <p:cNvSpPr txBox="1"/>
          <p:nvPr/>
        </p:nvSpPr>
        <p:spPr>
          <a:xfrm>
            <a:off x="1344168" y="2788920"/>
            <a:ext cx="4663440" cy="320040"/>
          </a:xfrm>
          <a:prstGeom prst="rect">
            <a:avLst/>
          </a:prstGeom>
          <a:noFill/>
          <a:ln/>
        </p:spPr>
        <p:txBody>
          <a:bodyPr wrap="square" lIns="0" tIns="0" rIns="0" bIns="0" rtlCol="0" anchor="ctr"/>
          <a:lstStyle/>
          <a:p>
            <a:pPr marL="0" indent="0">
              <a:buNone/>
            </a:pPr>
            <a:r>
              <a:rPr lang="en-US" sz="1500" b="1" kern="0" spc="100" dirty="0">
                <a:solidFill>
                  <a:srgbClr val="B17B6F"/>
                </a:solidFill>
                <a:latin typeface="Arial" pitchFamily="34" charset="0"/>
                <a:ea typeface="Arial" pitchFamily="34" charset="-122"/>
                <a:cs typeface="Arial" pitchFamily="34" charset="-120"/>
              </a:rPr>
              <a:t>KNOWN MODEL LIMITATIONS</a:t>
            </a:r>
            <a:endParaRPr lang="en-US" sz="1500" dirty="0"/>
          </a:p>
        </p:txBody>
      </p:sp>
      <p:sp>
        <p:nvSpPr>
          <p:cNvPr id="11" name="Text 8"/>
          <p:cNvSpPr txBox="1"/>
          <p:nvPr/>
        </p:nvSpPr>
        <p:spPr>
          <a:xfrm>
            <a:off x="1344168" y="3108960"/>
            <a:ext cx="4663440" cy="274320"/>
          </a:xfrm>
          <a:prstGeom prst="rect">
            <a:avLst/>
          </a:prstGeom>
          <a:noFill/>
          <a:ln/>
        </p:spPr>
        <p:txBody>
          <a:bodyPr wrap="square" lIns="0" tIns="0" rIns="0" bIns="0" rtlCol="0" anchor="ctr"/>
          <a:lstStyle/>
          <a:p>
            <a:pPr marL="0" indent="0">
              <a:buNone/>
            </a:pPr>
            <a:r>
              <a:rPr lang="en-US" sz="1300" dirty="0">
                <a:solidFill>
                  <a:srgbClr val="9A968D"/>
                </a:solidFill>
                <a:latin typeface="Arial" pitchFamily="34" charset="0"/>
                <a:ea typeface="Arial" pitchFamily="34" charset="-122"/>
                <a:cs typeface="Arial" pitchFamily="34" charset="-120"/>
              </a:rPr>
              <a:t>Honesty Over Flash: What the Model Cannot Do</a:t>
            </a:r>
            <a:endParaRPr lang="en-US" sz="1300" dirty="0"/>
          </a:p>
        </p:txBody>
      </p:sp>
      <p:sp>
        <p:nvSpPr>
          <p:cNvPr id="12" name="Text 9"/>
          <p:cNvSpPr txBox="1"/>
          <p:nvPr/>
        </p:nvSpPr>
        <p:spPr>
          <a:xfrm>
            <a:off x="1344168" y="3520440"/>
            <a:ext cx="4663440" cy="1234440"/>
          </a:xfrm>
          <a:prstGeom prst="rect">
            <a:avLst/>
          </a:prstGeom>
          <a:noFill/>
          <a:ln/>
        </p:spPr>
        <p:txBody>
          <a:bodyPr wrap="square" lIns="0" tIns="0" rIns="0" bIns="0" rtlCol="0" anchor="ctr"/>
          <a:lstStyle/>
          <a:p>
            <a:pPr marL="0" indent="0">
              <a:buNone/>
            </a:pPr>
            <a:r>
              <a:rPr lang="en-US" sz="1300" b="1" dirty="0">
                <a:solidFill>
                  <a:srgbClr val="FFFFFF"/>
                </a:solidFill>
              </a:rPr>
              <a:t>1. Sparse Tail Support (&gt;99% EVT):
</a:t>
            </a:r>
            <a:r>
              <a:rPr lang="en-US" sz="1200" dirty="0">
                <a:solidFill>
                  <a:srgbClr val="9A968D"/>
                </a:solidFill>
              </a:rPr>
              <a:t>One year of data (364 nights) contains only ~4 observations in the 99th percentile. Buffers sized above 99% rely on empirical maximums rather than fitted extreme value distributions. True 99.99% coverage requires parametric EVT.</a:t>
            </a:r>
            <a:endParaRPr lang="en-US" sz="1300" dirty="0"/>
          </a:p>
        </p:txBody>
      </p:sp>
      <p:sp>
        <p:nvSpPr>
          <p:cNvPr id="13" name="Text 10"/>
          <p:cNvSpPr txBox="1"/>
          <p:nvPr/>
        </p:nvSpPr>
        <p:spPr>
          <a:xfrm>
            <a:off x="1344168" y="4846320"/>
            <a:ext cx="4663440" cy="1234440"/>
          </a:xfrm>
          <a:prstGeom prst="rect">
            <a:avLst/>
          </a:prstGeom>
          <a:noFill/>
          <a:ln/>
        </p:spPr>
        <p:txBody>
          <a:bodyPr wrap="square" lIns="0" tIns="0" rIns="0" bIns="0" rtlCol="0" anchor="ctr"/>
          <a:lstStyle/>
          <a:p>
            <a:pPr marL="0" indent="0">
              <a:buNone/>
            </a:pPr>
            <a:r>
              <a:rPr lang="en-US" sz="1300" b="1" dirty="0">
                <a:solidFill>
                  <a:srgbClr val="FFFFFF"/>
                </a:solidFill>
              </a:rPr>
              <a:t>2. Macro Capital Depletion:
</a:t>
            </a:r>
            <a:r>
              <a:rPr lang="en-US" sz="1200" dirty="0">
                <a:solidFill>
                  <a:srgbClr val="9A968D"/>
                </a:solidFill>
              </a:rPr>
              <a:t>Sweep policies manage liquidity velocity, not capital solvency. When customers withdraw $2.53B permanently, that is a capital problem, not a liquidity problem. No sweep strategy can prevent long-term balance sheet shrinkage.</a:t>
            </a:r>
            <a:endParaRPr lang="en-US" sz="1300" dirty="0"/>
          </a:p>
        </p:txBody>
      </p:sp>
      <p:sp>
        <p:nvSpPr>
          <p:cNvPr id="14" name="Text 11"/>
          <p:cNvSpPr txBox="1"/>
          <p:nvPr/>
        </p:nvSpPr>
        <p:spPr>
          <a:xfrm>
            <a:off x="1344168" y="6172200"/>
            <a:ext cx="4663440" cy="1234440"/>
          </a:xfrm>
          <a:prstGeom prst="rect">
            <a:avLst/>
          </a:prstGeom>
          <a:noFill/>
          <a:ln/>
        </p:spPr>
        <p:txBody>
          <a:bodyPr wrap="square" lIns="0" tIns="0" rIns="0" bIns="0" rtlCol="0" anchor="ctr"/>
          <a:lstStyle/>
          <a:p>
            <a:pPr marL="0" indent="0">
              <a:buNone/>
            </a:pPr>
            <a:r>
              <a:rPr lang="en-US" sz="1300" b="1" dirty="0">
                <a:solidFill>
                  <a:srgbClr val="FFFFFF"/>
                </a:solidFill>
              </a:rPr>
              <a:t>3. Fixed 17:00 Sweep Window:
</a:t>
            </a:r>
            <a:r>
              <a:rPr lang="en-US" sz="1200" dirty="0">
                <a:solidFill>
                  <a:srgbClr val="9A968D"/>
                </a:solidFill>
              </a:rPr>
              <a:t>The current implementation sweeps at 17:00 and matures at 08:00. It does not yet capture midday settlement windows (e.g., 12:00 Fedwire cutoff or RTP/FedNow 24/7 rails).</a:t>
            </a:r>
            <a:endParaRPr lang="en-US" sz="1300" dirty="0"/>
          </a:p>
        </p:txBody>
      </p:sp>
      <p:sp>
        <p:nvSpPr>
          <p:cNvPr id="15" name="Text 12"/>
          <p:cNvSpPr txBox="1"/>
          <p:nvPr/>
        </p:nvSpPr>
        <p:spPr>
          <a:xfrm>
            <a:off x="1344168" y="7498080"/>
            <a:ext cx="4663440" cy="1234440"/>
          </a:xfrm>
          <a:prstGeom prst="rect">
            <a:avLst/>
          </a:prstGeom>
          <a:noFill/>
          <a:ln/>
        </p:spPr>
        <p:txBody>
          <a:bodyPr wrap="square" lIns="0" tIns="0" rIns="0" bIns="0" rtlCol="0" anchor="ctr"/>
          <a:lstStyle/>
          <a:p>
            <a:pPr marL="0" indent="0">
              <a:buNone/>
            </a:pPr>
            <a:r>
              <a:rPr lang="en-US" sz="1300" b="1" dirty="0">
                <a:solidFill>
                  <a:srgbClr val="FFFFFF"/>
                </a:solidFill>
              </a:rPr>
              <a:t>4. Exogenous Interest Rates:
</a:t>
            </a:r>
            <a:r>
              <a:rPr lang="en-US" sz="1200" dirty="0">
                <a:solidFill>
                  <a:srgbClr val="9A968D"/>
                </a:solidFill>
              </a:rPr>
              <a:t>Repo and bond yields are treated as exogenous series. A full macroeconomic engine would model endogenous rate feedback under flight-to-quality events.</a:t>
            </a:r>
            <a:endParaRPr lang="en-US" sz="1300" dirty="0"/>
          </a:p>
        </p:txBody>
      </p:sp>
      <p:sp>
        <p:nvSpPr>
          <p:cNvPr id="16" name="Shape 13"/>
          <p:cNvSpPr/>
          <p:nvPr/>
        </p:nvSpPr>
        <p:spPr>
          <a:xfrm>
            <a:off x="6601968" y="2514600"/>
            <a:ext cx="5303520" cy="6949440"/>
          </a:xfrm>
          <a:prstGeom prst="roundRect">
            <a:avLst>
              <a:gd name="adj" fmla="val 1379"/>
            </a:avLst>
          </a:prstGeom>
          <a:solidFill>
            <a:srgbClr val="14171F"/>
          </a:solidFill>
          <a:ln w="12700">
            <a:solidFill>
              <a:srgbClr val="2A303C"/>
            </a:solidFill>
            <a:prstDash val="solid"/>
          </a:ln>
        </p:spPr>
      </p:sp>
      <p:sp>
        <p:nvSpPr>
          <p:cNvPr id="17" name="Text 14"/>
          <p:cNvSpPr txBox="1"/>
          <p:nvPr/>
        </p:nvSpPr>
        <p:spPr>
          <a:xfrm>
            <a:off x="6922008" y="2788920"/>
            <a:ext cx="4663440" cy="320040"/>
          </a:xfrm>
          <a:prstGeom prst="rect">
            <a:avLst/>
          </a:prstGeom>
          <a:noFill/>
          <a:ln/>
        </p:spPr>
        <p:txBody>
          <a:bodyPr wrap="square" lIns="0" tIns="0" rIns="0" bIns="0" rtlCol="0" anchor="ctr"/>
          <a:lstStyle/>
          <a:p>
            <a:pPr marL="0" indent="0">
              <a:buNone/>
            </a:pPr>
            <a:r>
              <a:rPr lang="en-US" sz="1500" b="1" kern="0" spc="100" dirty="0">
                <a:solidFill>
                  <a:srgbClr val="8AA68D"/>
                </a:solidFill>
                <a:latin typeface="Arial" pitchFamily="34" charset="0"/>
                <a:ea typeface="Arial" pitchFamily="34" charset="-122"/>
                <a:cs typeface="Arial" pitchFamily="34" charset="-120"/>
              </a:rPr>
              <a:t>NEXT STEPS: WITH ANOTHER WEEK</a:t>
            </a:r>
            <a:endParaRPr lang="en-US" sz="1500" dirty="0"/>
          </a:p>
        </p:txBody>
      </p:sp>
      <p:sp>
        <p:nvSpPr>
          <p:cNvPr id="18" name="Text 15"/>
          <p:cNvSpPr txBox="1"/>
          <p:nvPr/>
        </p:nvSpPr>
        <p:spPr>
          <a:xfrm>
            <a:off x="6922008" y="3108960"/>
            <a:ext cx="4663440" cy="274320"/>
          </a:xfrm>
          <a:prstGeom prst="rect">
            <a:avLst/>
          </a:prstGeom>
          <a:noFill/>
          <a:ln/>
        </p:spPr>
        <p:txBody>
          <a:bodyPr wrap="square" lIns="0" tIns="0" rIns="0" bIns="0" rtlCol="0" anchor="ctr"/>
          <a:lstStyle/>
          <a:p>
            <a:pPr marL="0" indent="0">
              <a:buNone/>
            </a:pPr>
            <a:r>
              <a:rPr lang="en-US" sz="1300" dirty="0">
                <a:solidFill>
                  <a:srgbClr val="9A968D"/>
                </a:solidFill>
                <a:latin typeface="Arial" pitchFamily="34" charset="0"/>
                <a:ea typeface="Arial" pitchFamily="34" charset="-122"/>
                <a:cs typeface="Arial" pitchFamily="34" charset="-120"/>
              </a:rPr>
              <a:t>Immediate High-Value Quant Roadmap</a:t>
            </a:r>
            <a:endParaRPr lang="en-US" sz="1300" dirty="0"/>
          </a:p>
        </p:txBody>
      </p:sp>
      <p:sp>
        <p:nvSpPr>
          <p:cNvPr id="19" name="Text 16"/>
          <p:cNvSpPr txBox="1"/>
          <p:nvPr/>
        </p:nvSpPr>
        <p:spPr>
          <a:xfrm>
            <a:off x="6922008" y="3520440"/>
            <a:ext cx="4663440" cy="1234440"/>
          </a:xfrm>
          <a:prstGeom prst="rect">
            <a:avLst/>
          </a:prstGeom>
          <a:noFill/>
          <a:ln/>
        </p:spPr>
        <p:txBody>
          <a:bodyPr wrap="square" lIns="0" tIns="0" rIns="0" bIns="0" rtlCol="0" anchor="ctr"/>
          <a:lstStyle/>
          <a:p>
            <a:pPr marL="0" indent="0">
              <a:buNone/>
            </a:pPr>
            <a:r>
              <a:rPr lang="en-US" sz="1300" b="1" dirty="0">
                <a:solidFill>
                  <a:srgbClr val="FFFFFF"/>
                </a:solidFill>
              </a:rPr>
              <a:t>1. Peaks-Over-Threshold EVT (GPD):
</a:t>
            </a:r>
            <a:r>
              <a:rPr lang="en-US" sz="1200" dirty="0">
                <a:solidFill>
                  <a:srgbClr val="9A968D"/>
                </a:solidFill>
              </a:rPr>
              <a:t>Fit a Generalized Pareto Distribution to tail drawdown excesses above u = p95. Provides mathematically rigorous coverage estimates out to 99.99% without empirical sample starvation.</a:t>
            </a:r>
            <a:endParaRPr lang="en-US" sz="1300" dirty="0"/>
          </a:p>
        </p:txBody>
      </p:sp>
      <p:sp>
        <p:nvSpPr>
          <p:cNvPr id="20" name="Text 17"/>
          <p:cNvSpPr txBox="1"/>
          <p:nvPr/>
        </p:nvSpPr>
        <p:spPr>
          <a:xfrm>
            <a:off x="6922008" y="4846320"/>
            <a:ext cx="4663440" cy="1234440"/>
          </a:xfrm>
          <a:prstGeom prst="rect">
            <a:avLst/>
          </a:prstGeom>
          <a:noFill/>
          <a:ln/>
        </p:spPr>
        <p:txBody>
          <a:bodyPr wrap="square" lIns="0" tIns="0" rIns="0" bIns="0" rtlCol="0" anchor="ctr"/>
          <a:lstStyle/>
          <a:p>
            <a:pPr marL="0" indent="0">
              <a:buNone/>
            </a:pPr>
            <a:r>
              <a:rPr lang="en-US" sz="1300" b="1" dirty="0">
                <a:solidFill>
                  <a:srgbClr val="FFFFFF"/>
                </a:solidFill>
              </a:rPr>
              <a:t>2. Multi-Window Intraday Sweeps:
</a:t>
            </a:r>
            <a:r>
              <a:rPr lang="en-US" sz="1200" dirty="0">
                <a:solidFill>
                  <a:srgbClr val="9A968D"/>
                </a:solidFill>
              </a:rPr>
              <a:t>Expand the optimization engine to dynamic intraday settlement cutoffs: morning ACH settlement, midday Fedwire cutoffs, and 24/7 real-time payment (RTP/FedNow) liquidity pools.</a:t>
            </a:r>
            <a:endParaRPr lang="en-US" sz="1300" dirty="0"/>
          </a:p>
        </p:txBody>
      </p:sp>
      <p:sp>
        <p:nvSpPr>
          <p:cNvPr id="21" name="Text 18"/>
          <p:cNvSpPr txBox="1"/>
          <p:nvPr/>
        </p:nvSpPr>
        <p:spPr>
          <a:xfrm>
            <a:off x="6922008" y="6172200"/>
            <a:ext cx="4663440" cy="1234440"/>
          </a:xfrm>
          <a:prstGeom prst="rect">
            <a:avLst/>
          </a:prstGeom>
          <a:noFill/>
          <a:ln/>
        </p:spPr>
        <p:txBody>
          <a:bodyPr wrap="square" lIns="0" tIns="0" rIns="0" bIns="0" rtlCol="0" anchor="ctr"/>
          <a:lstStyle/>
          <a:p>
            <a:pPr marL="0" indent="0">
              <a:buNone/>
            </a:pPr>
            <a:r>
              <a:rPr lang="en-US" sz="1300" b="1" dirty="0">
                <a:solidFill>
                  <a:srgbClr val="FFFFFF"/>
                </a:solidFill>
              </a:rPr>
              <a:t>3. Live FRED Macro Ingest:
</a:t>
            </a:r>
            <a:r>
              <a:rPr lang="en-US" sz="1200" dirty="0">
                <a:solidFill>
                  <a:srgbClr val="9A968D"/>
                </a:solidFill>
              </a:rPr>
              <a:t>Automated ingestion of live Federal Reserve economic data (SOFR, Effective Fed Funds, Treasury curve) to dynamically adapt the critical fractile q* to real-time interest rate regimes.</a:t>
            </a:r>
            <a:endParaRPr lang="en-US" sz="1300" dirty="0"/>
          </a:p>
        </p:txBody>
      </p:sp>
      <p:sp>
        <p:nvSpPr>
          <p:cNvPr id="22" name="Text 19"/>
          <p:cNvSpPr txBox="1"/>
          <p:nvPr/>
        </p:nvSpPr>
        <p:spPr>
          <a:xfrm>
            <a:off x="6922008" y="7498080"/>
            <a:ext cx="4663440" cy="1234440"/>
          </a:xfrm>
          <a:prstGeom prst="rect">
            <a:avLst/>
          </a:prstGeom>
          <a:noFill/>
          <a:ln/>
        </p:spPr>
        <p:txBody>
          <a:bodyPr wrap="square" lIns="0" tIns="0" rIns="0" bIns="0" rtlCol="0" anchor="ctr"/>
          <a:lstStyle/>
          <a:p>
            <a:pPr marL="0" indent="0">
              <a:buNone/>
            </a:pPr>
            <a:r>
              <a:rPr lang="en-US" sz="1300" b="1" dirty="0">
                <a:solidFill>
                  <a:srgbClr val="FFFFFF"/>
                </a:solidFill>
              </a:rPr>
              <a:t>4. Multi-Tenant Portfolio Partitioning:
</a:t>
            </a:r>
            <a:r>
              <a:rPr lang="en-US" sz="1200" dirty="0">
                <a:solidFill>
                  <a:srgbClr val="9A968D"/>
                </a:solidFill>
              </a:rPr>
              <a:t>Segment deposit pools into retail, commercial, and operational treasury sub-accounts with custom risk appetite sliders per business line.</a:t>
            </a:r>
            <a:endParaRPr lang="en-US" sz="1300" dirty="0"/>
          </a:p>
        </p:txBody>
      </p:sp>
      <p:sp>
        <p:nvSpPr>
          <p:cNvPr id="23" name="Shape 20"/>
          <p:cNvSpPr/>
          <p:nvPr/>
        </p:nvSpPr>
        <p:spPr>
          <a:xfrm>
            <a:off x="12179808" y="2514600"/>
            <a:ext cx="5650992" cy="6949440"/>
          </a:xfrm>
          <a:prstGeom prst="roundRect">
            <a:avLst>
              <a:gd name="adj" fmla="val 1294"/>
            </a:avLst>
          </a:prstGeom>
          <a:solidFill>
            <a:srgbClr val="14171F"/>
          </a:solidFill>
          <a:ln w="12700">
            <a:solidFill>
              <a:srgbClr val="2A303C"/>
            </a:solidFill>
            <a:prstDash val="solid"/>
          </a:ln>
        </p:spPr>
      </p:sp>
      <p:sp>
        <p:nvSpPr>
          <p:cNvPr id="24" name="Text 21"/>
          <p:cNvSpPr txBox="1"/>
          <p:nvPr/>
        </p:nvSpPr>
        <p:spPr>
          <a:xfrm>
            <a:off x="12499848" y="2788920"/>
            <a:ext cx="4937760" cy="320040"/>
          </a:xfrm>
          <a:prstGeom prst="rect">
            <a:avLst/>
          </a:prstGeom>
          <a:noFill/>
          <a:ln/>
        </p:spPr>
        <p:txBody>
          <a:bodyPr wrap="square" lIns="0" tIns="0" rIns="0" bIns="0" rtlCol="0" anchor="ctr"/>
          <a:lstStyle/>
          <a:p>
            <a:pPr marL="0" indent="0">
              <a:buNone/>
            </a:pPr>
            <a:r>
              <a:rPr lang="en-US" sz="1500" b="1" kern="0" spc="100" dirty="0">
                <a:solidFill>
                  <a:srgbClr val="C9A86A"/>
                </a:solidFill>
                <a:latin typeface="Arial" pitchFamily="34" charset="0"/>
                <a:ea typeface="Arial" pitchFamily="34" charset="-122"/>
                <a:cs typeface="Arial" pitchFamily="34" charset="-120"/>
              </a:rPr>
              <a:t>PRODUCTION PATH (SR 11-7)</a:t>
            </a:r>
            <a:endParaRPr lang="en-US" sz="1500" dirty="0"/>
          </a:p>
        </p:txBody>
      </p:sp>
      <p:sp>
        <p:nvSpPr>
          <p:cNvPr id="25" name="Text 22"/>
          <p:cNvSpPr txBox="1"/>
          <p:nvPr/>
        </p:nvSpPr>
        <p:spPr>
          <a:xfrm>
            <a:off x="12499848" y="3108960"/>
            <a:ext cx="4937760" cy="274320"/>
          </a:xfrm>
          <a:prstGeom prst="rect">
            <a:avLst/>
          </a:prstGeom>
          <a:noFill/>
          <a:ln/>
        </p:spPr>
        <p:txBody>
          <a:bodyPr wrap="square" lIns="0" tIns="0" rIns="0" bIns="0" rtlCol="0" anchor="ctr"/>
          <a:lstStyle/>
          <a:p>
            <a:pPr marL="0" indent="0">
              <a:buNone/>
            </a:pPr>
            <a:r>
              <a:rPr lang="en-US" sz="1300" dirty="0">
                <a:solidFill>
                  <a:srgbClr val="9A968D"/>
                </a:solidFill>
                <a:latin typeface="Arial" pitchFamily="34" charset="0"/>
                <a:ea typeface="Arial" pitchFamily="34" charset="-122"/>
                <a:cs typeface="Arial" pitchFamily="34" charset="-120"/>
              </a:rPr>
              <a:t>Enterprise Banking Risk Management Framework</a:t>
            </a:r>
            <a:endParaRPr lang="en-US" sz="1300" dirty="0"/>
          </a:p>
        </p:txBody>
      </p:sp>
      <p:sp>
        <p:nvSpPr>
          <p:cNvPr id="26" name="Text 23"/>
          <p:cNvSpPr txBox="1"/>
          <p:nvPr/>
        </p:nvSpPr>
        <p:spPr>
          <a:xfrm>
            <a:off x="12499848" y="3520440"/>
            <a:ext cx="4937760" cy="1234440"/>
          </a:xfrm>
          <a:prstGeom prst="rect">
            <a:avLst/>
          </a:prstGeom>
          <a:noFill/>
          <a:ln/>
        </p:spPr>
        <p:txBody>
          <a:bodyPr wrap="square" lIns="0" tIns="0" rIns="0" bIns="0" rtlCol="0" anchor="ctr"/>
          <a:lstStyle/>
          <a:p>
            <a:pPr marL="0" indent="0">
              <a:buNone/>
            </a:pPr>
            <a:r>
              <a:rPr lang="en-US" sz="1300" b="1" dirty="0">
                <a:solidFill>
                  <a:srgbClr val="FFFFFF"/>
                </a:solidFill>
              </a:rPr>
              <a:t>Phase 1: Shadow Execution (Months 1–2)
</a:t>
            </a:r>
            <a:r>
              <a:rPr lang="en-US" sz="1200" dirty="0">
                <a:solidFill>
                  <a:srgbClr val="9A968D"/>
                </a:solidFill>
              </a:rPr>
              <a:t>Ingest live ISO 20022 camt.052 real-time intraday feeds. Ballast runs continuously in observation mode alongside existing legacy procedures, with zero execution authority.</a:t>
            </a:r>
            <a:endParaRPr lang="en-US" sz="1300" dirty="0"/>
          </a:p>
        </p:txBody>
      </p:sp>
      <p:sp>
        <p:nvSpPr>
          <p:cNvPr id="27" name="Text 24"/>
          <p:cNvSpPr txBox="1"/>
          <p:nvPr/>
        </p:nvSpPr>
        <p:spPr>
          <a:xfrm>
            <a:off x="12499848" y="4846320"/>
            <a:ext cx="4937760" cy="1234440"/>
          </a:xfrm>
          <a:prstGeom prst="rect">
            <a:avLst/>
          </a:prstGeom>
          <a:noFill/>
          <a:ln/>
        </p:spPr>
        <p:txBody>
          <a:bodyPr wrap="square" lIns="0" tIns="0" rIns="0" bIns="0" rtlCol="0" anchor="ctr"/>
          <a:lstStyle/>
          <a:p>
            <a:pPr marL="0" indent="0">
              <a:buNone/>
            </a:pPr>
            <a:r>
              <a:rPr lang="en-US" sz="1300" b="1" dirty="0">
                <a:solidFill>
                  <a:srgbClr val="FFFFFF"/>
                </a:solidFill>
              </a:rPr>
              <a:t>Phase 2: Dual-Control 'Four-Eyes' Sign-Off (Months 3–4)
</a:t>
            </a:r>
            <a:r>
              <a:rPr lang="en-US" sz="1200" dirty="0">
                <a:solidFill>
                  <a:srgbClr val="9A968D"/>
                </a:solidFill>
              </a:rPr>
              <a:t>Deploy automated sweep recommendations to the treasury portal. Automated execution for standard operations; sweeps exceeding $2,000,000 require two authorized sign-offs.</a:t>
            </a:r>
            <a:endParaRPr lang="en-US" sz="1300" dirty="0"/>
          </a:p>
        </p:txBody>
      </p:sp>
      <p:sp>
        <p:nvSpPr>
          <p:cNvPr id="28" name="Text 25"/>
          <p:cNvSpPr txBox="1"/>
          <p:nvPr/>
        </p:nvSpPr>
        <p:spPr>
          <a:xfrm>
            <a:off x="12499848" y="6172200"/>
            <a:ext cx="4937760" cy="1234440"/>
          </a:xfrm>
          <a:prstGeom prst="rect">
            <a:avLst/>
          </a:prstGeom>
          <a:noFill/>
          <a:ln/>
        </p:spPr>
        <p:txBody>
          <a:bodyPr wrap="square" lIns="0" tIns="0" rIns="0" bIns="0" rtlCol="0" anchor="ctr"/>
          <a:lstStyle/>
          <a:p>
            <a:pPr marL="0" indent="0">
              <a:buNone/>
            </a:pPr>
            <a:r>
              <a:rPr lang="en-US" sz="1300" b="1" dirty="0">
                <a:solidFill>
                  <a:srgbClr val="FFFFFF"/>
                </a:solidFill>
              </a:rPr>
              <a:t>Phase 3: Cryptographic Audit &amp; Basel III (Months 5–6)
</a:t>
            </a:r>
            <a:r>
              <a:rPr lang="en-US" sz="1200" dirty="0">
                <a:solidFill>
                  <a:srgbClr val="9A968D"/>
                </a:solidFill>
              </a:rPr>
              <a:t>Hash-chained immutable SHA-256 ledger preventing audit disputes. Real-time monitoring and reporting of Basel III Liquidity Coverage Ratio (LCR) and Net Stable Funding Ratio (NSFR).</a:t>
            </a:r>
            <a:endParaRPr lang="en-US" sz="1300" dirty="0"/>
          </a:p>
        </p:txBody>
      </p:sp>
      <p:sp>
        <p:nvSpPr>
          <p:cNvPr id="29" name="Text 26"/>
          <p:cNvSpPr txBox="1"/>
          <p:nvPr/>
        </p:nvSpPr>
        <p:spPr>
          <a:xfrm>
            <a:off x="12499848" y="7498080"/>
            <a:ext cx="4937760" cy="1234440"/>
          </a:xfrm>
          <a:prstGeom prst="rect">
            <a:avLst/>
          </a:prstGeom>
          <a:noFill/>
          <a:ln/>
        </p:spPr>
        <p:txBody>
          <a:bodyPr wrap="square" lIns="0" tIns="0" rIns="0" bIns="0" rtlCol="0" anchor="ctr"/>
          <a:lstStyle/>
          <a:p>
            <a:pPr marL="0" indent="0">
              <a:buNone/>
            </a:pPr>
            <a:r>
              <a:rPr lang="en-US" sz="1300" b="1" dirty="0">
                <a:solidFill>
                  <a:srgbClr val="FFFFFF"/>
                </a:solidFill>
              </a:rPr>
              <a:t>Institutional Compliance Ready:
</a:t>
            </a:r>
            <a:r>
              <a:rPr lang="en-US" sz="1200" dirty="0">
                <a:solidFill>
                  <a:srgbClr val="9A968D"/>
                </a:solidFill>
              </a:rPr>
              <a:t>Accompanied by a complete SR 11-7 Model Card (docs/MODEL_CARD.md) documenting conceptual soundness, ongoing monitoring, and benchmarking outcomes.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C:\Users\karti\AppData\Local\Temp\claude\c--Users-karti-repos-ballast\3a11dfef-fe11-4e04-8ecd-63ec54f071eb\scratchpad\deck\assets\bg_content.png"/>
          <p:cNvPicPr>
            <a:picLocks noChangeAspect="1"/>
          </p:cNvPicPr>
          <p:nvPr/>
        </p:nvPicPr>
        <p:blipFill>
          <a:blip r:embed="rId3"/>
          <a:stretch>
            <a:fillRect/>
          </a:stretch>
        </p:blipFill>
        <p:spPr>
          <a:xfrm>
            <a:off x="0" y="0"/>
            <a:ext cx="18859500" cy="10287000"/>
          </a:xfrm>
          <a:prstGeom prst="rect">
            <a:avLst/>
          </a:prstGeom>
        </p:spPr>
      </p:pic>
      <p:sp>
        <p:nvSpPr>
          <p:cNvPr id="3" name="Text 0"/>
          <p:cNvSpPr txBox="1"/>
          <p:nvPr/>
        </p:nvSpPr>
        <p:spPr>
          <a:xfrm>
            <a:off x="1024128" y="281247"/>
            <a:ext cx="10972800" cy="320040"/>
          </a:xfrm>
          <a:prstGeom prst="rect">
            <a:avLst/>
          </a:prstGeom>
          <a:noFill/>
          <a:ln/>
        </p:spPr>
        <p:txBody>
          <a:bodyPr wrap="square" lIns="0" tIns="0" rIns="0" bIns="0" rtlCol="0" anchor="ctr"/>
          <a:lstStyle/>
          <a:p>
            <a:pPr marL="0" indent="0">
              <a:buNone/>
            </a:pPr>
            <a:r>
              <a:rPr lang="en-US" sz="1500" b="1" kern="0" spc="200" dirty="0">
                <a:solidFill>
                  <a:srgbClr val="8AA68D"/>
                </a:solidFill>
                <a:latin typeface="Arial" pitchFamily="34" charset="0"/>
                <a:ea typeface="Arial" pitchFamily="34" charset="-122"/>
                <a:cs typeface="Arial" pitchFamily="34" charset="-120"/>
              </a:rPr>
              <a:t>SLIDE 9 : CONCLUSION</a:t>
            </a:r>
            <a:endParaRPr lang="en-US" sz="1500" dirty="0"/>
          </a:p>
        </p:txBody>
      </p:sp>
      <p:sp>
        <p:nvSpPr>
          <p:cNvPr id="4" name="Text 1"/>
          <p:cNvSpPr txBox="1"/>
          <p:nvPr/>
        </p:nvSpPr>
        <p:spPr>
          <a:xfrm>
            <a:off x="1024128" y="960120"/>
            <a:ext cx="16806672" cy="77724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BALLAST: AUTONOMOUS TREASURY LIQUIDITY ENGINE</a:t>
            </a:r>
            <a:endParaRPr lang="en-US" sz="4000" dirty="0"/>
          </a:p>
        </p:txBody>
      </p:sp>
      <p:sp>
        <p:nvSpPr>
          <p:cNvPr id="5" name="Text 2"/>
          <p:cNvSpPr txBox="1"/>
          <p:nvPr/>
        </p:nvSpPr>
        <p:spPr>
          <a:xfrm>
            <a:off x="1024128" y="1783080"/>
            <a:ext cx="16806672" cy="502920"/>
          </a:xfrm>
          <a:prstGeom prst="rect">
            <a:avLst/>
          </a:prstGeom>
          <a:noFill/>
          <a:ln/>
        </p:spPr>
        <p:txBody>
          <a:bodyPr wrap="square" lIns="0" tIns="0" rIns="0" bIns="0" rtlCol="0" anchor="ctr"/>
          <a:lstStyle/>
          <a:p>
            <a:pPr marL="0" indent="0">
              <a:buNone/>
            </a:pPr>
            <a:r>
              <a:rPr lang="en-US" sz="2000" dirty="0">
                <a:solidFill>
                  <a:srgbClr val="C9A86A"/>
                </a:solidFill>
                <a:latin typeface="Arial" pitchFamily="34" charset="0"/>
                <a:ea typeface="Arial" pitchFamily="34" charset="-122"/>
                <a:cs typeface="Arial" pitchFamily="34" charset="-120"/>
              </a:rPr>
              <a:t>Verified numbers, 100% payout guarantee, auditable double-entry accounting, and a live production platform.</a:t>
            </a:r>
            <a:endParaRPr lang="en-US" sz="2000" dirty="0"/>
          </a:p>
        </p:txBody>
      </p:sp>
      <p:sp>
        <p:nvSpPr>
          <p:cNvPr id="6" name="Text 3"/>
          <p:cNvSpPr txBox="1"/>
          <p:nvPr/>
        </p:nvSpPr>
        <p:spPr>
          <a:xfrm>
            <a:off x="1024128" y="9738360"/>
            <a:ext cx="5486400" cy="320040"/>
          </a:xfrm>
          <a:prstGeom prst="rect">
            <a:avLst/>
          </a:prstGeom>
          <a:noFill/>
          <a:ln/>
        </p:spPr>
        <p:txBody>
          <a:bodyPr wrap="square" lIns="0" tIns="0" rIns="0" bIns="0" rtlCol="0" anchor="ctr"/>
          <a:lstStyle/>
          <a:p>
            <a:pPr marL="0" indent="0">
              <a:buNone/>
            </a:pPr>
            <a:r>
              <a:rPr lang="en-US" sz="1300" dirty="0">
                <a:solidFill>
                  <a:srgbClr val="5E5A53"/>
                </a:solidFill>
                <a:latin typeface="Arial" pitchFamily="34" charset="0"/>
                <a:ea typeface="Arial" pitchFamily="34" charset="-122"/>
                <a:cs typeface="Arial" pitchFamily="34" charset="-120"/>
              </a:rPr>
              <a:t>BALLAST  //  Autonomous Treasury Engine</a:t>
            </a:r>
            <a:endParaRPr lang="en-US" sz="1300" dirty="0"/>
          </a:p>
        </p:txBody>
      </p:sp>
      <p:sp>
        <p:nvSpPr>
          <p:cNvPr id="7" name="Text 4"/>
          <p:cNvSpPr txBox="1"/>
          <p:nvPr/>
        </p:nvSpPr>
        <p:spPr>
          <a:xfrm>
            <a:off x="6858000" y="9738360"/>
            <a:ext cx="5943600" cy="320040"/>
          </a:xfrm>
          <a:prstGeom prst="rect">
            <a:avLst/>
          </a:prstGeom>
          <a:noFill/>
          <a:ln/>
        </p:spPr>
        <p:txBody>
          <a:bodyPr wrap="square" lIns="0" tIns="0" rIns="0" bIns="0" rtlCol="0" anchor="ctr"/>
          <a:lstStyle/>
          <a:p>
            <a:pPr marL="0" indent="0" algn="ctr">
              <a:buNone/>
            </a:pPr>
            <a:r>
              <a:rPr lang="en-US" sz="1300" dirty="0">
                <a:solidFill>
                  <a:srgbClr val="5E5A53"/>
                </a:solidFill>
                <a:latin typeface="Arial" pitchFamily="34" charset="0"/>
                <a:ea typeface="Arial" pitchFamily="34" charset="-122"/>
                <a:cs typeface="Arial" pitchFamily="34" charset="-120"/>
              </a:rPr>
              <a:t>HackForge '26 Advanced Track  •  Problem: The Reserve Juggler</a:t>
            </a:r>
            <a:endParaRPr lang="en-US" sz="1300" dirty="0"/>
          </a:p>
        </p:txBody>
      </p:sp>
      <p:sp>
        <p:nvSpPr>
          <p:cNvPr id="8" name="Text 5"/>
          <p:cNvSpPr txBox="1"/>
          <p:nvPr/>
        </p:nvSpPr>
        <p:spPr>
          <a:xfrm>
            <a:off x="13258800" y="9738360"/>
            <a:ext cx="4572000" cy="320040"/>
          </a:xfrm>
          <a:prstGeom prst="rect">
            <a:avLst/>
          </a:prstGeom>
          <a:noFill/>
          <a:ln/>
        </p:spPr>
        <p:txBody>
          <a:bodyPr wrap="square" lIns="0" tIns="0" rIns="0" bIns="0" rtlCol="0" anchor="ctr"/>
          <a:lstStyle/>
          <a:p>
            <a:pPr marL="0" indent="0" algn="r">
              <a:buNone/>
            </a:pPr>
            <a:r>
              <a:rPr lang="en-US" sz="1300" dirty="0">
                <a:solidFill>
                  <a:srgbClr val="5E5A53"/>
                </a:solidFill>
                <a:latin typeface="Arial" pitchFamily="34" charset="0"/>
                <a:ea typeface="Arial" pitchFamily="34" charset="-122"/>
                <a:cs typeface="Arial" pitchFamily="34" charset="-120"/>
              </a:rPr>
              <a:t>Team globalhost  |  ballast.jkartik.in</a:t>
            </a:r>
            <a:endParaRPr lang="en-US" sz="1300" dirty="0"/>
          </a:p>
        </p:txBody>
      </p:sp>
      <p:sp>
        <p:nvSpPr>
          <p:cNvPr id="9" name="Shape 6"/>
          <p:cNvSpPr/>
          <p:nvPr/>
        </p:nvSpPr>
        <p:spPr>
          <a:xfrm>
            <a:off x="1024128" y="2514600"/>
            <a:ext cx="9509760" cy="6949440"/>
          </a:xfrm>
          <a:prstGeom prst="roundRect">
            <a:avLst>
              <a:gd name="adj" fmla="val 1053"/>
            </a:avLst>
          </a:prstGeom>
          <a:solidFill>
            <a:srgbClr val="14171F"/>
          </a:solidFill>
          <a:ln w="12700">
            <a:solidFill>
              <a:srgbClr val="2A303C"/>
            </a:solidFill>
            <a:prstDash val="solid"/>
          </a:ln>
        </p:spPr>
      </p:sp>
      <p:sp>
        <p:nvSpPr>
          <p:cNvPr id="10" name="Text 7"/>
          <p:cNvSpPr txBox="1"/>
          <p:nvPr/>
        </p:nvSpPr>
        <p:spPr>
          <a:xfrm>
            <a:off x="1344168" y="2788920"/>
            <a:ext cx="8869680" cy="320040"/>
          </a:xfrm>
          <a:prstGeom prst="rect">
            <a:avLst/>
          </a:prstGeom>
          <a:noFill/>
          <a:ln/>
        </p:spPr>
        <p:txBody>
          <a:bodyPr wrap="square" lIns="0" tIns="0" rIns="0" bIns="0" rtlCol="0" anchor="ctr"/>
          <a:lstStyle/>
          <a:p>
            <a:pPr marL="0" indent="0">
              <a:buNone/>
            </a:pPr>
            <a:r>
              <a:rPr lang="en-US" sz="1600" b="1" kern="0" spc="100" dirty="0">
                <a:solidFill>
                  <a:srgbClr val="C9A86A"/>
                </a:solidFill>
                <a:latin typeface="Arial" pitchFamily="34" charset="0"/>
                <a:ea typeface="Arial" pitchFamily="34" charset="-122"/>
                <a:cs typeface="Arial" pitchFamily="34" charset="-120"/>
              </a:rPr>
              <a:t>KEY TAKEAWAYS &amp; COMPETITIVE ADVANTAGES</a:t>
            </a:r>
            <a:endParaRPr lang="en-US" sz="1600" dirty="0"/>
          </a:p>
        </p:txBody>
      </p:sp>
      <p:sp>
        <p:nvSpPr>
          <p:cNvPr id="11" name="Text 8"/>
          <p:cNvSpPr txBox="1"/>
          <p:nvPr/>
        </p:nvSpPr>
        <p:spPr>
          <a:xfrm>
            <a:off x="1344168" y="3291840"/>
            <a:ext cx="640080" cy="320040"/>
          </a:xfrm>
          <a:prstGeom prst="rect">
            <a:avLst/>
          </a:prstGeom>
          <a:noFill/>
          <a:ln/>
        </p:spPr>
        <p:txBody>
          <a:bodyPr wrap="square" lIns="0" tIns="0" rIns="0" bIns="0" rtlCol="0" anchor="ctr"/>
          <a:lstStyle/>
          <a:p>
            <a:pPr marL="0" indent="0">
              <a:buNone/>
            </a:pPr>
            <a:r>
              <a:rPr lang="en-US" sz="2000" b="1" dirty="0">
                <a:solidFill>
                  <a:srgbClr val="8AA68D"/>
                </a:solidFill>
                <a:latin typeface="Arial" pitchFamily="34" charset="0"/>
                <a:ea typeface="Arial" pitchFamily="34" charset="-122"/>
                <a:cs typeface="Arial" pitchFamily="34" charset="-120"/>
              </a:rPr>
              <a:t>01</a:t>
            </a:r>
            <a:endParaRPr lang="en-US" sz="2000" dirty="0"/>
          </a:p>
        </p:txBody>
      </p:sp>
      <p:sp>
        <p:nvSpPr>
          <p:cNvPr id="12" name="Text 9"/>
          <p:cNvSpPr txBox="1"/>
          <p:nvPr/>
        </p:nvSpPr>
        <p:spPr>
          <a:xfrm>
            <a:off x="2075688" y="3291840"/>
            <a:ext cx="8046720" cy="1051560"/>
          </a:xfrm>
          <a:prstGeom prst="rect">
            <a:avLst/>
          </a:prstGeom>
          <a:noFill/>
          <a:ln/>
        </p:spPr>
        <p:txBody>
          <a:bodyPr wrap="square" lIns="0" tIns="0" rIns="0" bIns="0" rtlCol="0" anchor="ctr"/>
          <a:lstStyle/>
          <a:p>
            <a:pPr marL="0" indent="0">
              <a:buNone/>
            </a:pPr>
            <a:r>
              <a:rPr lang="en-US" b="1" dirty="0">
                <a:solidFill>
                  <a:srgbClr val="FFFFFF"/>
                </a:solidFill>
              </a:rPr>
              <a:t>$20.98M Liquidity Cost Reduction (50.8% Savings):
</a:t>
            </a:r>
            <a:r>
              <a:rPr lang="en-US" dirty="0">
                <a:solidFill>
                  <a:srgbClr val="9A968D"/>
                </a:solidFill>
              </a:rPr>
              <a:t>Transforms idle cash from a zero-yield drag into a high-performing treasury engine, generating $21.35M in net interest income while maintaining an average cash cushion under $33M.</a:t>
            </a:r>
            <a:endParaRPr lang="en-US" dirty="0"/>
          </a:p>
        </p:txBody>
      </p:sp>
      <p:sp>
        <p:nvSpPr>
          <p:cNvPr id="13" name="Text 10"/>
          <p:cNvSpPr txBox="1"/>
          <p:nvPr/>
        </p:nvSpPr>
        <p:spPr>
          <a:xfrm>
            <a:off x="1344168" y="4480560"/>
            <a:ext cx="640080" cy="320040"/>
          </a:xfrm>
          <a:prstGeom prst="rect">
            <a:avLst/>
          </a:prstGeom>
          <a:noFill/>
          <a:ln/>
        </p:spPr>
        <p:txBody>
          <a:bodyPr wrap="square" lIns="0" tIns="0" rIns="0" bIns="0" rtlCol="0" anchor="ctr"/>
          <a:lstStyle/>
          <a:p>
            <a:pPr marL="0" indent="0">
              <a:buNone/>
            </a:pPr>
            <a:r>
              <a:rPr lang="en-US" sz="2000" b="1" dirty="0">
                <a:solidFill>
                  <a:srgbClr val="8AA68D"/>
                </a:solidFill>
                <a:latin typeface="Arial" pitchFamily="34" charset="0"/>
                <a:ea typeface="Arial" pitchFamily="34" charset="-122"/>
                <a:cs typeface="Arial" pitchFamily="34" charset="-120"/>
              </a:rPr>
              <a:t>02</a:t>
            </a:r>
            <a:endParaRPr lang="en-US" sz="2000" dirty="0"/>
          </a:p>
        </p:txBody>
      </p:sp>
      <p:sp>
        <p:nvSpPr>
          <p:cNvPr id="14" name="Text 11"/>
          <p:cNvSpPr txBox="1"/>
          <p:nvPr/>
        </p:nvSpPr>
        <p:spPr>
          <a:xfrm>
            <a:off x="2075688" y="4480560"/>
            <a:ext cx="8046720" cy="1051560"/>
          </a:xfrm>
          <a:prstGeom prst="rect">
            <a:avLst/>
          </a:prstGeom>
          <a:noFill/>
          <a:ln/>
        </p:spPr>
        <p:txBody>
          <a:bodyPr wrap="square" lIns="0" tIns="0" rIns="0" bIns="0" rtlCol="0" anchor="ctr"/>
          <a:lstStyle/>
          <a:p>
            <a:pPr marL="0" indent="0">
              <a:buNone/>
            </a:pPr>
            <a:r>
              <a:rPr lang="en-US" b="1" dirty="0">
                <a:solidFill>
                  <a:srgbClr val="FFFFFF"/>
                </a:solidFill>
              </a:rPr>
              <a:t>100.0% Payout Reliability by Construction:
</a:t>
            </a:r>
            <a:r>
              <a:rPr lang="en-US" dirty="0">
                <a:solidFill>
                  <a:srgbClr val="9A968D"/>
                </a:solidFill>
              </a:rPr>
              <a:t>Dynamic day-of-week risk conditioning ($15.0M weekday / $41.3M weekend) paired with a 5-tier fallback waterfall guarantees that customer withdrawals are never delayed.</a:t>
            </a:r>
            <a:endParaRPr lang="en-US" dirty="0"/>
          </a:p>
        </p:txBody>
      </p:sp>
      <p:sp>
        <p:nvSpPr>
          <p:cNvPr id="15" name="Text 12"/>
          <p:cNvSpPr txBox="1"/>
          <p:nvPr/>
        </p:nvSpPr>
        <p:spPr>
          <a:xfrm>
            <a:off x="1344168" y="5669280"/>
            <a:ext cx="640080" cy="320040"/>
          </a:xfrm>
          <a:prstGeom prst="rect">
            <a:avLst/>
          </a:prstGeom>
          <a:noFill/>
          <a:ln/>
        </p:spPr>
        <p:txBody>
          <a:bodyPr wrap="square" lIns="0" tIns="0" rIns="0" bIns="0" rtlCol="0" anchor="ctr"/>
          <a:lstStyle/>
          <a:p>
            <a:pPr marL="0" indent="0">
              <a:buNone/>
            </a:pPr>
            <a:r>
              <a:rPr lang="en-US" sz="2000" b="1" dirty="0">
                <a:solidFill>
                  <a:srgbClr val="8AA68D"/>
                </a:solidFill>
                <a:latin typeface="Arial" pitchFamily="34" charset="0"/>
                <a:ea typeface="Arial" pitchFamily="34" charset="-122"/>
                <a:cs typeface="Arial" pitchFamily="34" charset="-120"/>
              </a:rPr>
              <a:t>03</a:t>
            </a:r>
            <a:endParaRPr lang="en-US" sz="2000" dirty="0"/>
          </a:p>
        </p:txBody>
      </p:sp>
      <p:sp>
        <p:nvSpPr>
          <p:cNvPr id="16" name="Text 13"/>
          <p:cNvSpPr txBox="1"/>
          <p:nvPr/>
        </p:nvSpPr>
        <p:spPr>
          <a:xfrm>
            <a:off x="2075688" y="5669280"/>
            <a:ext cx="8046720" cy="1051560"/>
          </a:xfrm>
          <a:prstGeom prst="rect">
            <a:avLst/>
          </a:prstGeom>
          <a:noFill/>
          <a:ln/>
        </p:spPr>
        <p:txBody>
          <a:bodyPr wrap="square" lIns="0" tIns="0" rIns="0" bIns="0" rtlCol="0" anchor="ctr"/>
          <a:lstStyle/>
          <a:p>
            <a:pPr marL="0" indent="0">
              <a:buNone/>
            </a:pPr>
            <a:r>
              <a:rPr lang="en-US" b="1" dirty="0">
                <a:solidFill>
                  <a:srgbClr val="FFFFFF"/>
                </a:solidFill>
              </a:rPr>
              <a:t>Outperforms Naive &amp; Exhaustively-Tuned Baselines:
</a:t>
            </a:r>
            <a:r>
              <a:rPr lang="en-US" dirty="0">
                <a:solidFill>
                  <a:srgbClr val="9A968D"/>
                </a:solidFill>
              </a:rPr>
              <a:t>Beats all-cash, fixed %, Miller-Orr, moving-average, and even the hindsight-searched $40M static buffer ($28k edge, +$285k net interest). Closes 53.8% of the theoretical Oracle gap.</a:t>
            </a:r>
            <a:endParaRPr lang="en-US" dirty="0"/>
          </a:p>
        </p:txBody>
      </p:sp>
      <p:sp>
        <p:nvSpPr>
          <p:cNvPr id="17" name="Text 14"/>
          <p:cNvSpPr txBox="1"/>
          <p:nvPr/>
        </p:nvSpPr>
        <p:spPr>
          <a:xfrm>
            <a:off x="1344168" y="6858000"/>
            <a:ext cx="640080" cy="320040"/>
          </a:xfrm>
          <a:prstGeom prst="rect">
            <a:avLst/>
          </a:prstGeom>
          <a:noFill/>
          <a:ln/>
        </p:spPr>
        <p:txBody>
          <a:bodyPr wrap="square" lIns="0" tIns="0" rIns="0" bIns="0" rtlCol="0" anchor="ctr"/>
          <a:lstStyle/>
          <a:p>
            <a:pPr marL="0" indent="0">
              <a:buNone/>
            </a:pPr>
            <a:r>
              <a:rPr lang="en-US" sz="2000" b="1" dirty="0">
                <a:solidFill>
                  <a:srgbClr val="8AA68D"/>
                </a:solidFill>
                <a:latin typeface="Arial" pitchFamily="34" charset="0"/>
                <a:ea typeface="Arial" pitchFamily="34" charset="-122"/>
                <a:cs typeface="Arial" pitchFamily="34" charset="-120"/>
              </a:rPr>
              <a:t>04</a:t>
            </a:r>
            <a:endParaRPr lang="en-US" sz="2000" dirty="0"/>
          </a:p>
        </p:txBody>
      </p:sp>
      <p:sp>
        <p:nvSpPr>
          <p:cNvPr id="18" name="Text 15"/>
          <p:cNvSpPr txBox="1"/>
          <p:nvPr/>
        </p:nvSpPr>
        <p:spPr>
          <a:xfrm>
            <a:off x="2075688" y="6858000"/>
            <a:ext cx="8046720" cy="1051560"/>
          </a:xfrm>
          <a:prstGeom prst="rect">
            <a:avLst/>
          </a:prstGeom>
          <a:noFill/>
          <a:ln/>
        </p:spPr>
        <p:txBody>
          <a:bodyPr wrap="square" lIns="0" tIns="0" rIns="0" bIns="0" rtlCol="0" anchor="ctr"/>
          <a:lstStyle/>
          <a:p>
            <a:pPr marL="0" indent="0">
              <a:buNone/>
            </a:pPr>
            <a:r>
              <a:rPr lang="en-US" b="1" dirty="0">
                <a:solidFill>
                  <a:srgbClr val="FFFFFF"/>
                </a:solidFill>
              </a:rPr>
              <a:t>Institutional Model Governance &amp; Double-Entry Ledger:
</a:t>
            </a:r>
            <a:r>
              <a:rPr lang="en-US" dirty="0">
                <a:solidFill>
                  <a:srgbClr val="9A968D"/>
                </a:solidFill>
              </a:rPr>
              <a:t>Double-entry accounting with hourly reconciliation invariants, strict physical no-look-ahead enforcement, and zero floating-point drift across 8,760 hours.</a:t>
            </a:r>
            <a:endParaRPr lang="en-US" dirty="0"/>
          </a:p>
        </p:txBody>
      </p:sp>
      <p:sp>
        <p:nvSpPr>
          <p:cNvPr id="19" name="Text 16"/>
          <p:cNvSpPr txBox="1"/>
          <p:nvPr/>
        </p:nvSpPr>
        <p:spPr>
          <a:xfrm>
            <a:off x="1344168" y="8046720"/>
            <a:ext cx="640080" cy="320040"/>
          </a:xfrm>
          <a:prstGeom prst="rect">
            <a:avLst/>
          </a:prstGeom>
          <a:noFill/>
          <a:ln/>
        </p:spPr>
        <p:txBody>
          <a:bodyPr wrap="square" lIns="0" tIns="0" rIns="0" bIns="0" rtlCol="0" anchor="ctr"/>
          <a:lstStyle/>
          <a:p>
            <a:pPr marL="0" indent="0">
              <a:buNone/>
            </a:pPr>
            <a:r>
              <a:rPr lang="en-US" sz="2000" b="1" dirty="0">
                <a:solidFill>
                  <a:srgbClr val="8AA68D"/>
                </a:solidFill>
                <a:latin typeface="Arial" pitchFamily="34" charset="0"/>
                <a:ea typeface="Arial" pitchFamily="34" charset="-122"/>
                <a:cs typeface="Arial" pitchFamily="34" charset="-120"/>
              </a:rPr>
              <a:t>05</a:t>
            </a:r>
            <a:endParaRPr lang="en-US" sz="2000" dirty="0"/>
          </a:p>
        </p:txBody>
      </p:sp>
      <p:sp>
        <p:nvSpPr>
          <p:cNvPr id="20" name="Text 17"/>
          <p:cNvSpPr txBox="1"/>
          <p:nvPr/>
        </p:nvSpPr>
        <p:spPr>
          <a:xfrm>
            <a:off x="2075688" y="8046720"/>
            <a:ext cx="8046720" cy="1051560"/>
          </a:xfrm>
          <a:prstGeom prst="rect">
            <a:avLst/>
          </a:prstGeom>
          <a:noFill/>
          <a:ln/>
        </p:spPr>
        <p:txBody>
          <a:bodyPr wrap="square" lIns="0" tIns="0" rIns="0" bIns="0" rtlCol="0" anchor="ctr"/>
          <a:lstStyle/>
          <a:p>
            <a:pPr marL="0" indent="0">
              <a:buNone/>
            </a:pPr>
            <a:r>
              <a:rPr lang="en-US" b="1" dirty="0">
                <a:solidFill>
                  <a:srgbClr val="FFFFFF"/>
                </a:solidFill>
              </a:rPr>
              <a:t>Three Implemented, Measured Original Innovations:
</a:t>
            </a:r>
            <a:r>
              <a:rPr lang="en-US" dirty="0">
                <a:solidFill>
                  <a:srgbClr val="9A968D"/>
                </a:solidFill>
              </a:rPr>
              <a:t>Regret Decomposition (isolating capital adequacy from forecasting error), Cost-of-the-Last-Nine Slider, and Adversarial Reverse Stress Search.</a:t>
            </a:r>
            <a:endParaRPr lang="en-US" dirty="0"/>
          </a:p>
        </p:txBody>
      </p:sp>
      <p:sp>
        <p:nvSpPr>
          <p:cNvPr id="21" name="Shape 18"/>
          <p:cNvSpPr/>
          <p:nvPr/>
        </p:nvSpPr>
        <p:spPr>
          <a:xfrm>
            <a:off x="10899648" y="2514600"/>
            <a:ext cx="6931152" cy="6949440"/>
          </a:xfrm>
          <a:prstGeom prst="roundRect">
            <a:avLst>
              <a:gd name="adj" fmla="val 1055"/>
            </a:avLst>
          </a:prstGeom>
          <a:solidFill>
            <a:srgbClr val="0E1118"/>
          </a:solidFill>
          <a:ln w="25400">
            <a:solidFill>
              <a:srgbClr val="C9A86A"/>
            </a:solidFill>
            <a:prstDash val="solid"/>
          </a:ln>
        </p:spPr>
      </p:sp>
      <p:sp>
        <p:nvSpPr>
          <p:cNvPr id="22" name="Text 19"/>
          <p:cNvSpPr txBox="1"/>
          <p:nvPr/>
        </p:nvSpPr>
        <p:spPr>
          <a:xfrm>
            <a:off x="10899648" y="2926080"/>
            <a:ext cx="6931152" cy="365760"/>
          </a:xfrm>
          <a:prstGeom prst="rect">
            <a:avLst/>
          </a:prstGeom>
          <a:noFill/>
          <a:ln/>
        </p:spPr>
        <p:txBody>
          <a:bodyPr wrap="square" lIns="0" tIns="0" rIns="0" bIns="0" rtlCol="0" anchor="ctr"/>
          <a:lstStyle/>
          <a:p>
            <a:pPr marL="0" indent="0" algn="ctr">
              <a:buNone/>
            </a:pPr>
            <a:r>
              <a:rPr lang="en-US" sz="2400" b="1" kern="0" spc="200" dirty="0">
                <a:solidFill>
                  <a:srgbClr val="C9A86A"/>
                </a:solidFill>
                <a:latin typeface="Arial" pitchFamily="34" charset="0"/>
                <a:ea typeface="Arial" pitchFamily="34" charset="-122"/>
                <a:cs typeface="Arial" pitchFamily="34" charset="-120"/>
              </a:rPr>
              <a:t>LIVE PLATFORM ACCESS</a:t>
            </a:r>
            <a:endParaRPr lang="en-US" sz="2400" dirty="0"/>
          </a:p>
        </p:txBody>
      </p:sp>
      <p:sp>
        <p:nvSpPr>
          <p:cNvPr id="23" name="Text 20"/>
          <p:cNvSpPr txBox="1"/>
          <p:nvPr/>
        </p:nvSpPr>
        <p:spPr>
          <a:xfrm>
            <a:off x="10899648" y="3383280"/>
            <a:ext cx="6931152" cy="274320"/>
          </a:xfrm>
          <a:prstGeom prst="rect">
            <a:avLst/>
          </a:prstGeom>
          <a:noFill/>
          <a:ln/>
        </p:spPr>
        <p:txBody>
          <a:bodyPr wrap="square" lIns="0" tIns="0" rIns="0" bIns="0" rtlCol="0" anchor="ctr"/>
          <a:lstStyle/>
          <a:p>
            <a:pPr marL="0" indent="0" algn="ctr">
              <a:buNone/>
            </a:pPr>
            <a:r>
              <a:rPr lang="en-US" sz="1400" dirty="0">
                <a:solidFill>
                  <a:srgbClr val="ECE9E4"/>
                </a:solidFill>
                <a:latin typeface="Arial" pitchFamily="34" charset="0"/>
                <a:ea typeface="Arial" pitchFamily="34" charset="-122"/>
                <a:cs typeface="Arial" pitchFamily="34" charset="-120"/>
              </a:rPr>
              <a:t>Scan or visit from any mobile device or browser</a:t>
            </a:r>
            <a:endParaRPr lang="en-US" sz="1400" dirty="0"/>
          </a:p>
        </p:txBody>
      </p:sp>
      <p:pic>
        <p:nvPicPr>
          <p:cNvPr id="24" name="Image 1" descr="C:\Users\karti\AppData\Local\Temp\claude\c--Users-karti-repos-ballast\3a11dfef-fe11-4e04-8ecd-63ec54f071eb\scratchpad\deck\assets\qr.png"/>
          <p:cNvPicPr>
            <a:picLocks noChangeAspect="1"/>
          </p:cNvPicPr>
          <p:nvPr/>
        </p:nvPicPr>
        <p:blipFill>
          <a:blip r:embed="rId4"/>
          <a:stretch>
            <a:fillRect/>
          </a:stretch>
        </p:blipFill>
        <p:spPr>
          <a:xfrm>
            <a:off x="12719304" y="3840480"/>
            <a:ext cx="3291840" cy="3291840"/>
          </a:xfrm>
          <a:prstGeom prst="rect">
            <a:avLst/>
          </a:prstGeom>
        </p:spPr>
      </p:pic>
      <p:sp>
        <p:nvSpPr>
          <p:cNvPr id="25" name="Shape 21"/>
          <p:cNvSpPr/>
          <p:nvPr/>
        </p:nvSpPr>
        <p:spPr>
          <a:xfrm>
            <a:off x="11448288" y="7452360"/>
            <a:ext cx="5833872" cy="548640"/>
          </a:xfrm>
          <a:prstGeom prst="roundRect">
            <a:avLst>
              <a:gd name="adj" fmla="val 8333"/>
            </a:avLst>
          </a:prstGeom>
          <a:solidFill>
            <a:srgbClr val="14171F"/>
          </a:solidFill>
          <a:ln w="12700">
            <a:solidFill>
              <a:srgbClr val="8D7650"/>
            </a:solidFill>
            <a:prstDash val="solid"/>
          </a:ln>
        </p:spPr>
      </p:sp>
      <p:sp>
        <p:nvSpPr>
          <p:cNvPr id="26" name="Text 22"/>
          <p:cNvSpPr txBox="1"/>
          <p:nvPr/>
        </p:nvSpPr>
        <p:spPr>
          <a:xfrm>
            <a:off x="11448288" y="7562088"/>
            <a:ext cx="5833872" cy="3200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https://ballast.jkartik.in</a:t>
            </a:r>
            <a:endParaRPr lang="en-US" sz="1800" dirty="0"/>
          </a:p>
        </p:txBody>
      </p:sp>
      <p:sp>
        <p:nvSpPr>
          <p:cNvPr id="27" name="Text 23"/>
          <p:cNvSpPr txBox="1"/>
          <p:nvPr/>
        </p:nvSpPr>
        <p:spPr>
          <a:xfrm>
            <a:off x="11448288" y="8229600"/>
            <a:ext cx="5833872" cy="731520"/>
          </a:xfrm>
          <a:prstGeom prst="rect">
            <a:avLst/>
          </a:prstGeom>
          <a:noFill/>
          <a:ln/>
        </p:spPr>
        <p:txBody>
          <a:bodyPr wrap="square" lIns="0" tIns="0" rIns="0" bIns="0" rtlCol="0" anchor="ctr"/>
          <a:lstStyle/>
          <a:p>
            <a:pPr marL="0" indent="0" algn="ctr">
              <a:lnSpc>
                <a:spcPts val="1900"/>
              </a:lnSpc>
              <a:buNone/>
            </a:pPr>
            <a:r>
              <a:rPr lang="en-US" sz="1350" dirty="0">
                <a:solidFill>
                  <a:srgbClr val="9A968D"/>
                </a:solidFill>
                <a:latin typeface="Arial" pitchFamily="34" charset="0"/>
                <a:ea typeface="Arial" pitchFamily="34" charset="-122"/>
                <a:cs typeface="Arial" pitchFamily="34" charset="-120"/>
              </a:rPr>
              <a:t>Team: globalhost</a:t>
            </a:r>
            <a:endParaRPr lang="en-US" sz="1350" dirty="0"/>
          </a:p>
          <a:p>
            <a:pPr marL="0" indent="0" algn="ctr">
              <a:lnSpc>
                <a:spcPts val="1900"/>
              </a:lnSpc>
              <a:buNone/>
            </a:pPr>
            <a:r>
              <a:rPr lang="en-US" sz="1350" dirty="0">
                <a:solidFill>
                  <a:srgbClr val="9A968D"/>
                </a:solidFill>
                <a:latin typeface="Arial" pitchFamily="34" charset="0"/>
                <a:ea typeface="Arial" pitchFamily="34" charset="-122"/>
                <a:cs typeface="Arial" pitchFamily="34" charset="-120"/>
              </a:rPr>
              <a:t>Author: Kartik Jain (jkartik.in)</a:t>
            </a:r>
            <a:endParaRPr lang="en-US" sz="1350" dirty="0"/>
          </a:p>
          <a:p>
            <a:pPr marL="0" indent="0" algn="ctr">
              <a:lnSpc>
                <a:spcPts val="1900"/>
              </a:lnSpc>
              <a:buNone/>
            </a:pPr>
            <a:r>
              <a:rPr lang="en-US" sz="1350" dirty="0">
                <a:solidFill>
                  <a:srgbClr val="9A968D"/>
                </a:solidFill>
                <a:latin typeface="Arial" pitchFamily="34" charset="0"/>
                <a:ea typeface="Arial" pitchFamily="34" charset="-122"/>
                <a:cs typeface="Arial" pitchFamily="34" charset="-120"/>
              </a:rPr>
              <a:t>Track: HackForge '26 Advanced Track</a:t>
            </a:r>
            <a:endParaRPr lang="en-US" sz="1350" dirty="0"/>
          </a:p>
        </p:txBody>
      </p:sp>
      <p:sp>
        <p:nvSpPr>
          <p:cNvPr id="28" name="Text 24"/>
          <p:cNvSpPr txBox="1"/>
          <p:nvPr/>
        </p:nvSpPr>
        <p:spPr>
          <a:xfrm>
            <a:off x="10899648" y="9006840"/>
            <a:ext cx="6931152" cy="320040"/>
          </a:xfrm>
          <a:prstGeom prst="rect">
            <a:avLst/>
          </a:prstGeom>
          <a:noFill/>
          <a:ln/>
        </p:spPr>
        <p:txBody>
          <a:bodyPr wrap="square" lIns="0" tIns="0" rIns="0" bIns="0" rtlCol="0" anchor="ctr"/>
          <a:lstStyle/>
          <a:p>
            <a:pPr marL="0" indent="0" algn="ctr">
              <a:buNone/>
            </a:pPr>
            <a:r>
              <a:rPr lang="en-US" sz="1500" b="1" kern="0" spc="200" dirty="0">
                <a:solidFill>
                  <a:srgbClr val="8AA68D"/>
                </a:solidFill>
                <a:latin typeface="Arial" pitchFamily="34" charset="0"/>
                <a:ea typeface="Arial" pitchFamily="34" charset="-122"/>
                <a:cs typeface="Arial" pitchFamily="34" charset="-120"/>
              </a:rPr>
              <a:t>THANK YOU  •  QUESTIONS &amp; ANSWERS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4580</Words>
  <Application>Microsoft Office PowerPoint</Application>
  <PresentationFormat>Custom</PresentationFormat>
  <Paragraphs>280</Paragraphs>
  <Slides>9</Slides>
  <Notes>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9</vt:i4>
      </vt:variant>
    </vt:vector>
  </HeadingPairs>
  <TitlesOfParts>
    <vt:vector size="11"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Kartik Jain</cp:lastModifiedBy>
  <cp:revision>4</cp:revision>
  <dcterms:created xsi:type="dcterms:W3CDTF">2026-10-18T05:43:07Z</dcterms:created>
  <dcterms:modified xsi:type="dcterms:W3CDTF">2026-10-18T05:51:14Z</dcterms:modified>
</cp:coreProperties>
</file>